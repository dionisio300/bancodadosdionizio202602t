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8405A9-D57C-47C8-87A2-B04A01637A0E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4C3488-545D-4487-8FB0-D2BE2B1DBC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9407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i="0" dirty="0">
                <a:solidFill>
                  <a:srgbClr val="003366"/>
                </a:solidFill>
                <a:latin typeface="Noto Sans"/>
              </a:rPr>
              <a:t>Respostas esperadas: inconsistência por redundância; independência física; controle de concorrência.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C3488-545D-4487-8FB0-D2BE2B1DBCC8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3814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542287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23999" y="6784848"/>
            <a:ext cx="1542287" cy="731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047999" y="6784848"/>
            <a:ext cx="1542287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1999" y="6784848"/>
            <a:ext cx="1542287" cy="7315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5999" y="6784848"/>
            <a:ext cx="1542287" cy="731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19999" y="6784848"/>
            <a:ext cx="1542287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3999" y="6784848"/>
            <a:ext cx="1542287" cy="7315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667999" y="6784848"/>
            <a:ext cx="1542287" cy="73152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65960"/>
            <a:ext cx="9601200" cy="7772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003366"/>
                </a:solidFill>
                <a:latin typeface="Noto Sans"/>
              </a:rPr>
              <a:t>BANCO DE DADOS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273552"/>
            <a:ext cx="8321040" cy="5943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 i="0">
                <a:solidFill>
                  <a:srgbClr val="0099FF"/>
                </a:solidFill>
                <a:latin typeface="Noto Sans"/>
              </a:rPr>
              <a:t>Aula 2 — Sistemas de Banco de Dados e SGBDs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4709160"/>
            <a:ext cx="3794760" cy="3657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202020"/>
                </a:solidFill>
                <a:latin typeface="Noto Sans"/>
              </a:rPr>
              <a:t>Prof. Ms. Dionizio Porfírio de Assis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1138428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Noto Sans"/>
              </a:rPr>
              <a:t>Sistemas de Banco de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338560" cy="51206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dirty="0">
                <a:solidFill>
                  <a:srgbClr val="202020"/>
                </a:solidFill>
                <a:latin typeface="Noto Sans"/>
              </a:rPr>
              <a:t>Do histórico </a:t>
            </a:r>
            <a:r>
              <a:rPr sz="2400" b="1" i="0" dirty="0" err="1">
                <a:solidFill>
                  <a:srgbClr val="202020"/>
                </a:solidFill>
                <a:latin typeface="Noto Sans"/>
              </a:rPr>
              <a:t>ao</a:t>
            </a:r>
            <a:r>
              <a:rPr sz="2400" b="1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2400" b="1" i="0" dirty="0" err="1">
                <a:solidFill>
                  <a:srgbClr val="202020"/>
                </a:solidFill>
                <a:latin typeface="Noto Sans"/>
              </a:rPr>
              <a:t>problema</a:t>
            </a:r>
            <a:r>
              <a:rPr sz="2400" b="1" i="0" dirty="0">
                <a:solidFill>
                  <a:srgbClr val="202020"/>
                </a:solidFill>
                <a:latin typeface="Noto Sans"/>
              </a:rPr>
              <a:t> dos </a:t>
            </a:r>
            <a:r>
              <a:rPr sz="2400" b="1" i="0" dirty="0" err="1">
                <a:solidFill>
                  <a:srgbClr val="202020"/>
                </a:solidFill>
                <a:latin typeface="Noto Sans"/>
              </a:rPr>
              <a:t>arquivos</a:t>
            </a:r>
            <a:endParaRPr sz="2400" b="1" i="0" dirty="0">
              <a:solidFill>
                <a:srgbClr val="202020"/>
              </a:solidFill>
              <a:latin typeface="Noto San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542287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84848"/>
            <a:ext cx="1542287" cy="731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84848"/>
            <a:ext cx="1542287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84848"/>
            <a:ext cx="1542287" cy="7315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84848"/>
            <a:ext cx="1542287" cy="731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84848"/>
            <a:ext cx="1542287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84848"/>
            <a:ext cx="1542287" cy="7315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84848"/>
            <a:ext cx="1542287" cy="73152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1938528"/>
            <a:ext cx="6400800" cy="3030573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1800">
                <a:solidFill>
                  <a:srgbClr val="202020"/>
                </a:solidFill>
                <a:latin typeface="Noto Sans"/>
              </a:defRPr>
            </a:pPr>
            <a:r>
              <a:rPr dirty="0"/>
              <a:t>Na aula anterior, </a:t>
            </a:r>
            <a:r>
              <a:rPr dirty="0" err="1"/>
              <a:t>percorremos</a:t>
            </a:r>
            <a:r>
              <a:rPr dirty="0"/>
              <a:t> a </a:t>
            </a:r>
            <a:r>
              <a:rPr dirty="0" err="1"/>
              <a:t>evolução</a:t>
            </a:r>
            <a:r>
              <a:rPr dirty="0"/>
              <a:t> do </a:t>
            </a:r>
            <a:r>
              <a:rPr dirty="0" err="1"/>
              <a:t>armazenamento</a:t>
            </a:r>
            <a:r>
              <a:rPr dirty="0"/>
              <a:t> de dados, o </a:t>
            </a:r>
            <a:r>
              <a:rPr dirty="0" err="1"/>
              <a:t>surgimento</a:t>
            </a:r>
            <a:r>
              <a:rPr dirty="0"/>
              <a:t> do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relacional</a:t>
            </a:r>
            <a:r>
              <a:rPr dirty="0"/>
              <a:t> e </a:t>
            </a:r>
            <a:r>
              <a:rPr dirty="0" err="1"/>
              <a:t>alguns</a:t>
            </a:r>
            <a:r>
              <a:rPr dirty="0"/>
              <a:t> dos </a:t>
            </a:r>
            <a:r>
              <a:rPr dirty="0" err="1"/>
              <a:t>principais</a:t>
            </a:r>
            <a:r>
              <a:rPr dirty="0"/>
              <a:t> SGBDs. Agora o </a:t>
            </a:r>
            <a:r>
              <a:rPr dirty="0" err="1"/>
              <a:t>foco</a:t>
            </a:r>
            <a:r>
              <a:rPr dirty="0"/>
              <a:t> </a:t>
            </a:r>
            <a:r>
              <a:rPr dirty="0" err="1"/>
              <a:t>deixa</a:t>
            </a:r>
            <a:r>
              <a:rPr dirty="0"/>
              <a:t> de ser </a:t>
            </a:r>
            <a:r>
              <a:rPr dirty="0" err="1"/>
              <a:t>apenas</a:t>
            </a:r>
            <a:r>
              <a:rPr dirty="0"/>
              <a:t> histórico e </a:t>
            </a:r>
            <a:r>
              <a:rPr dirty="0" err="1"/>
              <a:t>passa</a:t>
            </a:r>
            <a:r>
              <a:rPr dirty="0"/>
              <a:t> a ser </a:t>
            </a:r>
            <a:r>
              <a:rPr dirty="0" err="1"/>
              <a:t>arquitetural</a:t>
            </a:r>
            <a:r>
              <a:rPr dirty="0"/>
              <a:t>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800">
                <a:solidFill>
                  <a:srgbClr val="202020"/>
                </a:solidFill>
                <a:latin typeface="Noto Sans"/>
              </a:defRPr>
            </a:pPr>
            <a:r>
              <a:rPr dirty="0"/>
              <a:t>A </a:t>
            </a:r>
            <a:r>
              <a:rPr dirty="0" err="1"/>
              <a:t>questão</a:t>
            </a:r>
            <a:r>
              <a:rPr dirty="0"/>
              <a:t> central é </a:t>
            </a:r>
            <a:r>
              <a:rPr dirty="0" err="1"/>
              <a:t>entender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programas</a:t>
            </a:r>
            <a:r>
              <a:rPr dirty="0"/>
              <a:t> </a:t>
            </a:r>
            <a:r>
              <a:rPr dirty="0" err="1"/>
              <a:t>deixaram</a:t>
            </a:r>
            <a:r>
              <a:rPr dirty="0"/>
              <a:t> de </a:t>
            </a:r>
            <a:r>
              <a:rPr dirty="0" err="1"/>
              <a:t>acessar</a:t>
            </a:r>
            <a:r>
              <a:rPr dirty="0"/>
              <a:t> e </a:t>
            </a:r>
            <a:r>
              <a:rPr dirty="0" err="1"/>
              <a:t>gerenciar</a:t>
            </a:r>
            <a:r>
              <a:rPr dirty="0"/>
              <a:t> </a:t>
            </a:r>
            <a:r>
              <a:rPr dirty="0" err="1"/>
              <a:t>diretamente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arquivos</a:t>
            </a:r>
            <a:r>
              <a:rPr dirty="0"/>
              <a:t> de dados e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surgiu</a:t>
            </a:r>
            <a:r>
              <a:rPr dirty="0"/>
              <a:t> um software </a:t>
            </a:r>
            <a:r>
              <a:rPr dirty="0" err="1"/>
              <a:t>intermediário</a:t>
            </a:r>
            <a:r>
              <a:rPr dirty="0"/>
              <a:t> </a:t>
            </a:r>
            <a:r>
              <a:rPr dirty="0" err="1"/>
              <a:t>especializado</a:t>
            </a:r>
            <a:r>
              <a:rPr dirty="0"/>
              <a:t> </a:t>
            </a:r>
            <a:r>
              <a:rPr dirty="0" err="1"/>
              <a:t>nessa</a:t>
            </a:r>
            <a:r>
              <a:rPr dirty="0"/>
              <a:t> </a:t>
            </a:r>
            <a:r>
              <a:rPr dirty="0" err="1"/>
              <a:t>tarefa</a:t>
            </a:r>
            <a:r>
              <a:rPr dirty="0"/>
              <a:t>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800">
                <a:solidFill>
                  <a:srgbClr val="202020"/>
                </a:solidFill>
                <a:latin typeface="Noto Sans"/>
              </a:defRPr>
            </a:pPr>
            <a:r>
              <a:rPr dirty="0"/>
              <a:t>• </a:t>
            </a:r>
            <a:r>
              <a:rPr lang="pt-BR" dirty="0"/>
              <a:t>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ganhamos</a:t>
            </a:r>
            <a:r>
              <a:rPr dirty="0"/>
              <a:t> </a:t>
            </a:r>
            <a:r>
              <a:rPr dirty="0" err="1"/>
              <a:t>quando</a:t>
            </a:r>
            <a:r>
              <a:rPr dirty="0"/>
              <a:t> </a:t>
            </a:r>
            <a:r>
              <a:rPr dirty="0" err="1"/>
              <a:t>separamos</a:t>
            </a:r>
            <a:r>
              <a:rPr dirty="0"/>
              <a:t> a </a:t>
            </a:r>
            <a:r>
              <a:rPr dirty="0" err="1"/>
              <a:t>lógica</a:t>
            </a:r>
            <a:r>
              <a:rPr dirty="0"/>
              <a:t> da </a:t>
            </a:r>
            <a:r>
              <a:rPr dirty="0" err="1"/>
              <a:t>aplicação</a:t>
            </a:r>
            <a:r>
              <a:rPr dirty="0"/>
              <a:t> da </a:t>
            </a:r>
            <a:r>
              <a:rPr dirty="0" err="1"/>
              <a:t>gerência</a:t>
            </a:r>
            <a:r>
              <a:rPr dirty="0"/>
              <a:t> dos dados?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2148840"/>
            <a:ext cx="4343400" cy="2148840"/>
          </a:xfrm>
          <a:prstGeom prst="roundRect">
            <a:avLst/>
          </a:prstGeom>
          <a:solidFill>
            <a:srgbClr val="E9F6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51192" y="2276856"/>
            <a:ext cx="4014215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366"/>
                </a:solidFill>
                <a:latin typeface="Noto Sans"/>
              </a:rPr>
              <a:t>Ideia central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51193" y="2679192"/>
            <a:ext cx="3892430" cy="12834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20" b="0" i="0" dirty="0">
                <a:solidFill>
                  <a:srgbClr val="202020"/>
                </a:solidFill>
                <a:latin typeface="Noto Sans"/>
              </a:rPr>
              <a:t>O SGBD surge para </a:t>
            </a:r>
            <a:r>
              <a:rPr sz="1620" b="0" i="0" dirty="0" err="1">
                <a:solidFill>
                  <a:srgbClr val="202020"/>
                </a:solidFill>
                <a:latin typeface="Noto Sans"/>
              </a:rPr>
              <a:t>distribuir</a:t>
            </a:r>
            <a:r>
              <a:rPr sz="162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620" b="0" i="0" dirty="0" err="1">
                <a:solidFill>
                  <a:srgbClr val="202020"/>
                </a:solidFill>
                <a:latin typeface="Noto Sans"/>
              </a:rPr>
              <a:t>responsabilidades</a:t>
            </a:r>
            <a:r>
              <a:rPr sz="1620" b="0" i="0" dirty="0">
                <a:solidFill>
                  <a:srgbClr val="202020"/>
                </a:solidFill>
                <a:latin typeface="Noto Sans"/>
              </a:rPr>
              <a:t>: a </a:t>
            </a:r>
            <a:r>
              <a:rPr sz="1620" b="0" i="0" dirty="0" err="1">
                <a:solidFill>
                  <a:srgbClr val="202020"/>
                </a:solidFill>
                <a:latin typeface="Noto Sans"/>
              </a:rPr>
              <a:t>aplicação</a:t>
            </a:r>
            <a:r>
              <a:rPr sz="1620" b="0" i="0" dirty="0">
                <a:solidFill>
                  <a:srgbClr val="202020"/>
                </a:solidFill>
                <a:latin typeface="Noto Sans"/>
              </a:rPr>
              <a:t> resolve o </a:t>
            </a:r>
            <a:r>
              <a:rPr sz="1620" b="0" i="0" dirty="0" err="1">
                <a:solidFill>
                  <a:srgbClr val="202020"/>
                </a:solidFill>
                <a:latin typeface="Noto Sans"/>
              </a:rPr>
              <a:t>problema</a:t>
            </a:r>
            <a:r>
              <a:rPr sz="1620" b="0" i="0" dirty="0">
                <a:solidFill>
                  <a:srgbClr val="202020"/>
                </a:solidFill>
                <a:latin typeface="Noto Sans"/>
              </a:rPr>
              <a:t> do </a:t>
            </a:r>
            <a:r>
              <a:rPr sz="1620" b="0" i="0" dirty="0" err="1">
                <a:solidFill>
                  <a:srgbClr val="202020"/>
                </a:solidFill>
                <a:latin typeface="Noto Sans"/>
              </a:rPr>
              <a:t>negócio</a:t>
            </a:r>
            <a:r>
              <a:rPr sz="1620" b="0" i="0" dirty="0">
                <a:solidFill>
                  <a:srgbClr val="202020"/>
                </a:solidFill>
                <a:latin typeface="Noto Sans"/>
              </a:rPr>
              <a:t>; o SGBD </a:t>
            </a:r>
            <a:r>
              <a:rPr sz="1620" b="0" i="0" dirty="0" err="1">
                <a:solidFill>
                  <a:srgbClr val="202020"/>
                </a:solidFill>
                <a:latin typeface="Noto Sans"/>
              </a:rPr>
              <a:t>organiza</a:t>
            </a:r>
            <a:r>
              <a:rPr sz="1620" b="0" i="0" dirty="0">
                <a:solidFill>
                  <a:srgbClr val="202020"/>
                </a:solidFill>
                <a:latin typeface="Noto Sans"/>
              </a:rPr>
              <a:t>, protege, </a:t>
            </a:r>
            <a:r>
              <a:rPr sz="1620" b="0" i="0" dirty="0" err="1">
                <a:solidFill>
                  <a:srgbClr val="202020"/>
                </a:solidFill>
                <a:latin typeface="Noto Sans"/>
              </a:rPr>
              <a:t>compartilha</a:t>
            </a:r>
            <a:r>
              <a:rPr sz="1620" b="0" i="0" dirty="0">
                <a:solidFill>
                  <a:srgbClr val="202020"/>
                </a:solidFill>
                <a:latin typeface="Noto Sans"/>
              </a:rPr>
              <a:t> e </a:t>
            </a:r>
            <a:r>
              <a:rPr sz="1620" b="0" i="0" dirty="0" err="1">
                <a:solidFill>
                  <a:srgbClr val="202020"/>
                </a:solidFill>
                <a:latin typeface="Noto Sans"/>
              </a:rPr>
              <a:t>controla</a:t>
            </a:r>
            <a:r>
              <a:rPr sz="1620" b="0" i="0" dirty="0">
                <a:solidFill>
                  <a:srgbClr val="202020"/>
                </a:solidFill>
                <a:latin typeface="Noto Sans"/>
              </a:rPr>
              <a:t> o </a:t>
            </a:r>
            <a:r>
              <a:rPr sz="1620" b="0" i="0" dirty="0" err="1">
                <a:solidFill>
                  <a:srgbClr val="202020"/>
                </a:solidFill>
                <a:latin typeface="Noto Sans"/>
              </a:rPr>
              <a:t>acesso</a:t>
            </a:r>
            <a:r>
              <a:rPr sz="162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620" b="0" i="0" dirty="0" err="1">
                <a:solidFill>
                  <a:srgbClr val="202020"/>
                </a:solidFill>
                <a:latin typeface="Noto Sans"/>
              </a:rPr>
              <a:t>aos</a:t>
            </a:r>
            <a:r>
              <a:rPr sz="1620" b="0" i="0" dirty="0">
                <a:solidFill>
                  <a:srgbClr val="202020"/>
                </a:solidFill>
                <a:latin typeface="Noto Sans"/>
              </a:rPr>
              <a:t> dados.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1138428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Noto Sans"/>
              </a:rPr>
              <a:t>Sistemas de Banco de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338560" cy="51206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dirty="0">
                <a:solidFill>
                  <a:srgbClr val="202020"/>
                </a:solidFill>
                <a:latin typeface="Noto Sans"/>
              </a:rPr>
              <a:t>Por </a:t>
            </a:r>
            <a:r>
              <a:rPr sz="2400" b="1" i="0" dirty="0" err="1">
                <a:solidFill>
                  <a:srgbClr val="202020"/>
                </a:solidFill>
                <a:latin typeface="Noto Sans"/>
              </a:rPr>
              <a:t>que</a:t>
            </a:r>
            <a:r>
              <a:rPr sz="2400" b="1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2400" b="1" i="0" dirty="0" err="1">
                <a:solidFill>
                  <a:srgbClr val="202020"/>
                </a:solidFill>
                <a:latin typeface="Noto Sans"/>
              </a:rPr>
              <a:t>os</a:t>
            </a:r>
            <a:r>
              <a:rPr sz="2400" b="1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2400" b="1" i="0" dirty="0" err="1">
                <a:solidFill>
                  <a:srgbClr val="202020"/>
                </a:solidFill>
                <a:latin typeface="Noto Sans"/>
              </a:rPr>
              <a:t>sistemas</a:t>
            </a:r>
            <a:r>
              <a:rPr sz="2400" b="1" i="0" dirty="0">
                <a:solidFill>
                  <a:srgbClr val="202020"/>
                </a:solidFill>
                <a:latin typeface="Noto Sans"/>
              </a:rPr>
              <a:t> de </a:t>
            </a:r>
            <a:r>
              <a:rPr sz="2400" b="1" i="0" dirty="0" err="1">
                <a:solidFill>
                  <a:srgbClr val="202020"/>
                </a:solidFill>
                <a:latin typeface="Noto Sans"/>
              </a:rPr>
              <a:t>arquivos</a:t>
            </a:r>
            <a:r>
              <a:rPr sz="2400" b="1" i="0" dirty="0">
                <a:solidFill>
                  <a:srgbClr val="202020"/>
                </a:solidFill>
                <a:latin typeface="Noto Sans"/>
              </a:rPr>
              <a:t> se </a:t>
            </a:r>
            <a:r>
              <a:rPr sz="2400" b="1" i="0" dirty="0" err="1">
                <a:solidFill>
                  <a:srgbClr val="202020"/>
                </a:solidFill>
                <a:latin typeface="Noto Sans"/>
              </a:rPr>
              <a:t>tornaram</a:t>
            </a:r>
            <a:r>
              <a:rPr sz="2400" b="1" i="0" dirty="0">
                <a:solidFill>
                  <a:srgbClr val="202020"/>
                </a:solidFill>
                <a:latin typeface="Noto Sans"/>
              </a:rPr>
              <a:t> um </a:t>
            </a:r>
            <a:r>
              <a:rPr sz="2400" b="1" i="0" dirty="0" err="1">
                <a:solidFill>
                  <a:srgbClr val="202020"/>
                </a:solidFill>
                <a:latin typeface="Noto Sans"/>
              </a:rPr>
              <a:t>problema</a:t>
            </a:r>
            <a:r>
              <a:rPr sz="2400" b="1" i="0" dirty="0">
                <a:solidFill>
                  <a:srgbClr val="202020"/>
                </a:solidFill>
                <a:latin typeface="Noto Sans"/>
              </a:rPr>
              <a:t>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542287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84848"/>
            <a:ext cx="1542287" cy="731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84848"/>
            <a:ext cx="1542287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84848"/>
            <a:ext cx="1542287" cy="7315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84848"/>
            <a:ext cx="1542287" cy="731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84848"/>
            <a:ext cx="1542287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84848"/>
            <a:ext cx="1542287" cy="7315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84848"/>
            <a:ext cx="1542287" cy="73152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6311" y="1901952"/>
            <a:ext cx="6961726" cy="340978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1739">
                <a:solidFill>
                  <a:srgbClr val="202020"/>
                </a:solidFill>
                <a:latin typeface="Noto Sans"/>
              </a:defRPr>
            </a:pPr>
            <a:r>
              <a:rPr dirty="0"/>
              <a:t>Em um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baseado</a:t>
            </a:r>
            <a:r>
              <a:rPr dirty="0"/>
              <a:t> </a:t>
            </a:r>
            <a:r>
              <a:rPr dirty="0" err="1"/>
              <a:t>apenas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arquivos</a:t>
            </a:r>
            <a:r>
              <a:rPr dirty="0"/>
              <a:t>,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programa</a:t>
            </a:r>
            <a:r>
              <a:rPr dirty="0"/>
              <a:t> </a:t>
            </a:r>
            <a:r>
              <a:rPr dirty="0" err="1"/>
              <a:t>precisa</a:t>
            </a:r>
            <a:r>
              <a:rPr dirty="0"/>
              <a:t> saber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localizar</a:t>
            </a:r>
            <a:r>
              <a:rPr dirty="0"/>
              <a:t>, </a:t>
            </a:r>
            <a:r>
              <a:rPr dirty="0" err="1"/>
              <a:t>abrir</a:t>
            </a:r>
            <a:r>
              <a:rPr dirty="0"/>
              <a:t>, </a:t>
            </a:r>
            <a:r>
              <a:rPr dirty="0" err="1"/>
              <a:t>interpretar</a:t>
            </a:r>
            <a:r>
              <a:rPr dirty="0"/>
              <a:t>, </a:t>
            </a:r>
            <a:r>
              <a:rPr dirty="0" err="1"/>
              <a:t>alterar</a:t>
            </a:r>
            <a:r>
              <a:rPr dirty="0"/>
              <a:t> e </a:t>
            </a:r>
            <a:r>
              <a:rPr dirty="0" err="1"/>
              <a:t>gravar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dados. A </a:t>
            </a:r>
            <a:r>
              <a:rPr dirty="0" err="1"/>
              <a:t>lógica</a:t>
            </a:r>
            <a:r>
              <a:rPr dirty="0"/>
              <a:t> de </a:t>
            </a:r>
            <a:r>
              <a:rPr dirty="0" err="1"/>
              <a:t>acesso</a:t>
            </a:r>
            <a:r>
              <a:rPr dirty="0"/>
              <a:t> </a:t>
            </a:r>
            <a:r>
              <a:rPr dirty="0" err="1"/>
              <a:t>fica</a:t>
            </a:r>
            <a:r>
              <a:rPr dirty="0"/>
              <a:t> </a:t>
            </a:r>
            <a:r>
              <a:rPr dirty="0" err="1"/>
              <a:t>espalhada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diferentes</a:t>
            </a:r>
            <a:r>
              <a:rPr dirty="0"/>
              <a:t> </a:t>
            </a:r>
            <a:r>
              <a:rPr dirty="0" err="1"/>
              <a:t>aplicações</a:t>
            </a:r>
            <a:r>
              <a:rPr dirty="0"/>
              <a:t>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739">
                <a:solidFill>
                  <a:srgbClr val="202020"/>
                </a:solidFill>
                <a:latin typeface="Noto Sans"/>
              </a:defRPr>
            </a:pPr>
            <a:r>
              <a:rPr dirty="0"/>
              <a:t>• A </a:t>
            </a:r>
            <a:r>
              <a:rPr dirty="0" err="1"/>
              <a:t>mesma</a:t>
            </a:r>
            <a:r>
              <a:rPr dirty="0"/>
              <a:t> </a:t>
            </a:r>
            <a:r>
              <a:rPr dirty="0" err="1"/>
              <a:t>rotina</a:t>
            </a:r>
            <a:r>
              <a:rPr dirty="0"/>
              <a:t> de </a:t>
            </a:r>
            <a:r>
              <a:rPr dirty="0" err="1"/>
              <a:t>gerência</a:t>
            </a:r>
            <a:r>
              <a:rPr dirty="0"/>
              <a:t> de </a:t>
            </a:r>
            <a:r>
              <a:rPr dirty="0" err="1"/>
              <a:t>arquivos</a:t>
            </a:r>
            <a:r>
              <a:rPr dirty="0"/>
              <a:t> </a:t>
            </a:r>
            <a:r>
              <a:rPr dirty="0" err="1"/>
              <a:t>pode</a:t>
            </a:r>
            <a:r>
              <a:rPr dirty="0"/>
              <a:t> ser </a:t>
            </a:r>
            <a:r>
              <a:rPr dirty="0" err="1"/>
              <a:t>repetida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vários</a:t>
            </a:r>
            <a:r>
              <a:rPr dirty="0"/>
              <a:t> </a:t>
            </a:r>
            <a:r>
              <a:rPr dirty="0" err="1"/>
              <a:t>programas</a:t>
            </a:r>
            <a:r>
              <a:rPr dirty="0"/>
              <a:t>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739">
                <a:solidFill>
                  <a:srgbClr val="202020"/>
                </a:solidFill>
                <a:latin typeface="Noto Sans"/>
              </a:defRPr>
            </a:pPr>
            <a:r>
              <a:rPr dirty="0"/>
              <a:t>• </a:t>
            </a:r>
            <a:r>
              <a:rPr dirty="0" err="1"/>
              <a:t>Alterações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estrutura</a:t>
            </a:r>
            <a:r>
              <a:rPr dirty="0"/>
              <a:t> do </a:t>
            </a:r>
            <a:r>
              <a:rPr dirty="0" err="1"/>
              <a:t>arquivo</a:t>
            </a:r>
            <a:r>
              <a:rPr dirty="0"/>
              <a:t> </a:t>
            </a:r>
            <a:r>
              <a:rPr dirty="0" err="1"/>
              <a:t>podem</a:t>
            </a:r>
            <a:r>
              <a:rPr dirty="0"/>
              <a:t> </a:t>
            </a:r>
            <a:r>
              <a:rPr dirty="0" err="1"/>
              <a:t>exigir</a:t>
            </a:r>
            <a:r>
              <a:rPr dirty="0"/>
              <a:t> </a:t>
            </a:r>
            <a:r>
              <a:rPr dirty="0" err="1"/>
              <a:t>mudanças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diversas</a:t>
            </a:r>
            <a:r>
              <a:rPr dirty="0"/>
              <a:t> </a:t>
            </a:r>
            <a:r>
              <a:rPr dirty="0" err="1"/>
              <a:t>aplicações</a:t>
            </a:r>
            <a:r>
              <a:rPr dirty="0"/>
              <a:t>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739">
                <a:solidFill>
                  <a:srgbClr val="202020"/>
                </a:solidFill>
                <a:latin typeface="Noto Sans"/>
              </a:defRPr>
            </a:pPr>
            <a:r>
              <a:rPr dirty="0"/>
              <a:t>• </a:t>
            </a:r>
            <a:r>
              <a:rPr dirty="0" err="1"/>
              <a:t>Cópias</a:t>
            </a:r>
            <a:r>
              <a:rPr dirty="0"/>
              <a:t> </a:t>
            </a:r>
            <a:r>
              <a:rPr dirty="0" err="1"/>
              <a:t>independentes</a:t>
            </a:r>
            <a:r>
              <a:rPr dirty="0"/>
              <a:t> dos </a:t>
            </a:r>
            <a:r>
              <a:rPr dirty="0" err="1"/>
              <a:t>mesmos</a:t>
            </a:r>
            <a:r>
              <a:rPr dirty="0"/>
              <a:t> dados </a:t>
            </a:r>
            <a:r>
              <a:rPr dirty="0" err="1"/>
              <a:t>favorecem</a:t>
            </a:r>
            <a:r>
              <a:rPr dirty="0"/>
              <a:t> </a:t>
            </a:r>
            <a:r>
              <a:rPr dirty="0" err="1"/>
              <a:t>redundância</a:t>
            </a:r>
            <a:r>
              <a:rPr dirty="0"/>
              <a:t> e </a:t>
            </a:r>
            <a:r>
              <a:rPr dirty="0" err="1"/>
              <a:t>inconsistência</a:t>
            </a:r>
            <a:r>
              <a:rPr dirty="0"/>
              <a:t>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739">
                <a:solidFill>
                  <a:srgbClr val="202020"/>
                </a:solidFill>
                <a:latin typeface="Noto Sans"/>
              </a:defRPr>
            </a:pPr>
            <a:r>
              <a:rPr dirty="0"/>
              <a:t>• </a:t>
            </a:r>
            <a:r>
              <a:rPr dirty="0" err="1"/>
              <a:t>Compartilhamento</a:t>
            </a:r>
            <a:r>
              <a:rPr dirty="0"/>
              <a:t>, </a:t>
            </a:r>
            <a:r>
              <a:rPr dirty="0" err="1"/>
              <a:t>segurança</a:t>
            </a:r>
            <a:r>
              <a:rPr dirty="0"/>
              <a:t> e </a:t>
            </a:r>
            <a:r>
              <a:rPr dirty="0" err="1"/>
              <a:t>acesso</a:t>
            </a:r>
            <a:r>
              <a:rPr dirty="0"/>
              <a:t> </a:t>
            </a:r>
            <a:r>
              <a:rPr dirty="0" err="1"/>
              <a:t>simultâneo</a:t>
            </a:r>
            <a:r>
              <a:rPr dirty="0"/>
              <a:t> </a:t>
            </a:r>
            <a:r>
              <a:rPr dirty="0" err="1"/>
              <a:t>tornam</a:t>
            </a:r>
            <a:r>
              <a:rPr dirty="0"/>
              <a:t>-se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difíceis</a:t>
            </a:r>
            <a:r>
              <a:rPr dirty="0"/>
              <a:t> de </a:t>
            </a:r>
            <a:r>
              <a:rPr dirty="0" err="1"/>
              <a:t>coordenar</a:t>
            </a:r>
            <a:r>
              <a:rPr dirty="0"/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1993391"/>
            <a:ext cx="4160520" cy="3610995"/>
          </a:xfrm>
          <a:prstGeom prst="roundRect">
            <a:avLst>
              <a:gd name="adj" fmla="val 7682"/>
            </a:avLst>
          </a:prstGeom>
          <a:solidFill>
            <a:srgbClr val="FFF8E8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42631" y="2121408"/>
            <a:ext cx="3831335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366"/>
                </a:solidFill>
                <a:latin typeface="Noto Sans"/>
              </a:rPr>
              <a:t>Exemplo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2631" y="2523744"/>
            <a:ext cx="3748155" cy="28992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 dirty="0">
                <a:solidFill>
                  <a:srgbClr val="202020"/>
                </a:solidFill>
                <a:latin typeface="Noto Sans"/>
              </a:rPr>
              <a:t>Um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sistema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possui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três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programas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: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vendas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,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financeiro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e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suporte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. Cada um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mantém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seu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próprio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arquivo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de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clientes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. Quando um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endereço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muda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, qual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arquivo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representa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a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informação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correta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?</a:t>
            </a:r>
            <a:br>
              <a:rPr dirty="0"/>
            </a:br>
            <a:br>
              <a:rPr dirty="0"/>
            </a:br>
            <a:r>
              <a:rPr dirty="0"/>
              <a:t>O </a:t>
            </a:r>
            <a:r>
              <a:rPr dirty="0" err="1"/>
              <a:t>problema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é </a:t>
            </a:r>
            <a:r>
              <a:rPr dirty="0" err="1"/>
              <a:t>apenas</a:t>
            </a:r>
            <a:r>
              <a:rPr dirty="0"/>
              <a:t> “</a:t>
            </a:r>
            <a:r>
              <a:rPr dirty="0" err="1"/>
              <a:t>guardar</a:t>
            </a:r>
            <a:r>
              <a:rPr dirty="0"/>
              <a:t> dados”, mas </a:t>
            </a:r>
            <a:r>
              <a:rPr dirty="0" err="1"/>
              <a:t>garantir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trabalhem</a:t>
            </a:r>
            <a:r>
              <a:rPr dirty="0"/>
              <a:t> com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visão</a:t>
            </a:r>
            <a:r>
              <a:rPr dirty="0"/>
              <a:t> </a:t>
            </a:r>
            <a:r>
              <a:rPr dirty="0" err="1"/>
              <a:t>coerente</a:t>
            </a:r>
            <a:r>
              <a:rPr dirty="0"/>
              <a:t> deles.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1138428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Noto Sans"/>
              </a:rPr>
              <a:t>Sistemas de Banco de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338560" cy="51206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02020"/>
                </a:solidFill>
                <a:latin typeface="Noto Sans"/>
              </a:rPr>
              <a:t>Da gerência de arquivos ao SGBD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542287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84848"/>
            <a:ext cx="1542287" cy="731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84848"/>
            <a:ext cx="1542287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84848"/>
            <a:ext cx="1542287" cy="7315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84848"/>
            <a:ext cx="1542287" cy="731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84848"/>
            <a:ext cx="1542287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84848"/>
            <a:ext cx="1542287" cy="7315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84848"/>
            <a:ext cx="1542287" cy="73152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6041" y="1849349"/>
            <a:ext cx="11043101" cy="152759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1780">
                <a:solidFill>
                  <a:srgbClr val="202020"/>
                </a:solidFill>
                <a:latin typeface="Noto Sans"/>
              </a:defRPr>
            </a:pPr>
            <a:r>
              <a:rPr dirty="0" err="1"/>
              <a:t>Os</a:t>
            </a:r>
            <a:r>
              <a:rPr dirty="0"/>
              <a:t> Sistemas de Banco de Dados </a:t>
            </a:r>
            <a:r>
              <a:rPr dirty="0" err="1"/>
              <a:t>surgiram</a:t>
            </a:r>
            <a:r>
              <a:rPr dirty="0"/>
              <a:t> para </a:t>
            </a:r>
            <a:r>
              <a:rPr dirty="0" err="1"/>
              <a:t>retirar</a:t>
            </a:r>
            <a:r>
              <a:rPr dirty="0"/>
              <a:t> dos </a:t>
            </a:r>
            <a:r>
              <a:rPr dirty="0" err="1"/>
              <a:t>programas</a:t>
            </a:r>
            <a:r>
              <a:rPr dirty="0"/>
              <a:t> de </a:t>
            </a:r>
            <a:r>
              <a:rPr dirty="0" err="1"/>
              <a:t>aplicação</a:t>
            </a:r>
            <a:r>
              <a:rPr dirty="0"/>
              <a:t> a </a:t>
            </a:r>
            <a:r>
              <a:rPr dirty="0" err="1"/>
              <a:t>responsabilidade</a:t>
            </a:r>
            <a:r>
              <a:rPr dirty="0"/>
              <a:t> de </a:t>
            </a:r>
            <a:r>
              <a:rPr dirty="0" err="1"/>
              <a:t>gerenciar</a:t>
            </a:r>
            <a:r>
              <a:rPr dirty="0"/>
              <a:t> </a:t>
            </a:r>
            <a:r>
              <a:rPr dirty="0" err="1"/>
              <a:t>diretamente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arquivos</a:t>
            </a:r>
            <a:r>
              <a:rPr dirty="0"/>
              <a:t>. Essa </a:t>
            </a:r>
            <a:r>
              <a:rPr dirty="0" err="1"/>
              <a:t>tarefa</a:t>
            </a:r>
            <a:r>
              <a:rPr dirty="0"/>
              <a:t> </a:t>
            </a:r>
            <a:r>
              <a:rPr dirty="0" err="1"/>
              <a:t>passa</a:t>
            </a:r>
            <a:r>
              <a:rPr dirty="0"/>
              <a:t> a ser </a:t>
            </a:r>
            <a:r>
              <a:rPr dirty="0" err="1"/>
              <a:t>delegada</a:t>
            </a:r>
            <a:r>
              <a:rPr dirty="0"/>
              <a:t> a um software </a:t>
            </a:r>
            <a:r>
              <a:rPr dirty="0" err="1"/>
              <a:t>intermediário</a:t>
            </a:r>
            <a:r>
              <a:rPr dirty="0"/>
              <a:t>: o Sistema </a:t>
            </a:r>
            <a:r>
              <a:rPr dirty="0" err="1"/>
              <a:t>Gerenciador</a:t>
            </a:r>
            <a:r>
              <a:rPr dirty="0"/>
              <a:t> de Banco de Dados.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780">
                <a:solidFill>
                  <a:srgbClr val="202020"/>
                </a:solidFill>
                <a:latin typeface="Noto Sans"/>
              </a:defRPr>
            </a:pPr>
            <a:r>
              <a:rPr dirty="0"/>
              <a:t>A </a:t>
            </a:r>
            <a:r>
              <a:rPr dirty="0" err="1"/>
              <a:t>consequência</a:t>
            </a:r>
            <a:r>
              <a:rPr dirty="0"/>
              <a:t> é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separação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clara</a:t>
            </a:r>
            <a:r>
              <a:rPr dirty="0"/>
              <a:t> de </a:t>
            </a:r>
            <a:r>
              <a:rPr dirty="0" err="1"/>
              <a:t>responsabilidades</a:t>
            </a:r>
            <a:r>
              <a:rPr dirty="0"/>
              <a:t> e a </a:t>
            </a:r>
            <a:r>
              <a:rPr dirty="0" err="1"/>
              <a:t>chamada</a:t>
            </a:r>
            <a:r>
              <a:rPr dirty="0"/>
              <a:t> </a:t>
            </a:r>
            <a:r>
              <a:rPr dirty="0" err="1"/>
              <a:t>independência</a:t>
            </a:r>
            <a:r>
              <a:rPr dirty="0"/>
              <a:t> entre dados e </a:t>
            </a:r>
            <a:r>
              <a:rPr dirty="0" err="1"/>
              <a:t>programas</a:t>
            </a:r>
            <a:r>
              <a:rPr dirty="0"/>
              <a:t>.</a:t>
            </a: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FBF2C037-C433-2B9F-959D-FB8CB9CE88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784" b="13421"/>
          <a:stretch>
            <a:fillRect/>
          </a:stretch>
        </p:blipFill>
        <p:spPr>
          <a:xfrm>
            <a:off x="2234184" y="3431234"/>
            <a:ext cx="7638287" cy="32438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1138428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Noto Sans"/>
              </a:rPr>
              <a:t>Sistemas de Banco de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338560" cy="51206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02020"/>
                </a:solidFill>
                <a:latin typeface="Noto Sans"/>
              </a:rPr>
              <a:t>O que é um Sistema de Banco de Dados (SBD)?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542287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84848"/>
            <a:ext cx="1542287" cy="731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84848"/>
            <a:ext cx="1542287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84848"/>
            <a:ext cx="1542287" cy="7315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84848"/>
            <a:ext cx="1542287" cy="731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84848"/>
            <a:ext cx="1542287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84848"/>
            <a:ext cx="1542287" cy="7315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84848"/>
            <a:ext cx="1542287" cy="73152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1938528"/>
            <a:ext cx="11102094" cy="1247521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1770">
                <a:solidFill>
                  <a:srgbClr val="202020"/>
                </a:solidFill>
                <a:latin typeface="Noto Sans"/>
              </a:defRPr>
            </a:pPr>
            <a:r>
              <a:rPr dirty="0"/>
              <a:t>Um Sistema de Banco de Dados é o </a:t>
            </a:r>
            <a:r>
              <a:rPr dirty="0" err="1"/>
              <a:t>ambiente</a:t>
            </a:r>
            <a:r>
              <a:rPr dirty="0"/>
              <a:t> </a:t>
            </a:r>
            <a:r>
              <a:rPr dirty="0" err="1"/>
              <a:t>completo</a:t>
            </a:r>
            <a:r>
              <a:rPr dirty="0"/>
              <a:t> </a:t>
            </a:r>
            <a:r>
              <a:rPr dirty="0" err="1"/>
              <a:t>utilizado</a:t>
            </a:r>
            <a:r>
              <a:rPr dirty="0"/>
              <a:t> para </a:t>
            </a:r>
            <a:r>
              <a:rPr dirty="0" err="1"/>
              <a:t>armazenar</a:t>
            </a:r>
            <a:r>
              <a:rPr dirty="0"/>
              <a:t>, </a:t>
            </a:r>
            <a:r>
              <a:rPr dirty="0" err="1"/>
              <a:t>organizar</a:t>
            </a:r>
            <a:r>
              <a:rPr dirty="0"/>
              <a:t>, </a:t>
            </a:r>
            <a:r>
              <a:rPr dirty="0" err="1"/>
              <a:t>consultar</a:t>
            </a:r>
            <a:r>
              <a:rPr dirty="0"/>
              <a:t> e </a:t>
            </a:r>
            <a:r>
              <a:rPr dirty="0" err="1"/>
              <a:t>manter</a:t>
            </a:r>
            <a:r>
              <a:rPr dirty="0"/>
              <a:t> dados de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aplicação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organização</a:t>
            </a:r>
            <a:r>
              <a:rPr dirty="0"/>
              <a:t>. Ele </a:t>
            </a:r>
            <a:r>
              <a:rPr dirty="0" err="1"/>
              <a:t>não</a:t>
            </a:r>
            <a:r>
              <a:rPr dirty="0"/>
              <a:t> se resume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programa</a:t>
            </a:r>
            <a:r>
              <a:rPr dirty="0"/>
              <a:t> </a:t>
            </a:r>
            <a:r>
              <a:rPr dirty="0" err="1"/>
              <a:t>gerenciador</a:t>
            </a:r>
            <a:r>
              <a:rPr dirty="0"/>
              <a:t>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770">
                <a:solidFill>
                  <a:srgbClr val="202020"/>
                </a:solidFill>
                <a:latin typeface="Noto Sans"/>
              </a:defRPr>
            </a:pPr>
            <a:r>
              <a:rPr dirty="0"/>
              <a:t>A </a:t>
            </a:r>
            <a:r>
              <a:rPr dirty="0" err="1"/>
              <a:t>fronteira</a:t>
            </a:r>
            <a:r>
              <a:rPr dirty="0"/>
              <a:t> do SBD </a:t>
            </a:r>
            <a:r>
              <a:rPr dirty="0" err="1"/>
              <a:t>inclui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usuários</a:t>
            </a:r>
            <a:r>
              <a:rPr dirty="0"/>
              <a:t>, as </a:t>
            </a:r>
            <a:r>
              <a:rPr dirty="0" err="1"/>
              <a:t>aplicações</a:t>
            </a:r>
            <a:r>
              <a:rPr dirty="0"/>
              <a:t>, o SGBD, o </a:t>
            </a:r>
            <a:r>
              <a:rPr dirty="0" err="1"/>
              <a:t>catálogo</a:t>
            </a:r>
            <a:r>
              <a:rPr dirty="0"/>
              <a:t> de </a:t>
            </a:r>
            <a:r>
              <a:rPr dirty="0" err="1"/>
              <a:t>metadados</a:t>
            </a:r>
            <a:r>
              <a:rPr dirty="0"/>
              <a:t> e o </a:t>
            </a:r>
            <a:r>
              <a:rPr dirty="0" err="1"/>
              <a:t>conteúdo</a:t>
            </a:r>
            <a:r>
              <a:rPr dirty="0"/>
              <a:t> </a:t>
            </a:r>
            <a:r>
              <a:rPr dirty="0" err="1"/>
              <a:t>efetivamente</a:t>
            </a:r>
            <a:r>
              <a:rPr dirty="0"/>
              <a:t> </a:t>
            </a:r>
            <a:r>
              <a:rPr dirty="0" err="1"/>
              <a:t>armazenado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</a:t>
            </a:r>
            <a:r>
              <a:rPr dirty="0" err="1"/>
              <a:t>bancos</a:t>
            </a:r>
            <a:r>
              <a:rPr dirty="0"/>
              <a:t> de dados.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106" y="3458400"/>
            <a:ext cx="10652760" cy="960120"/>
          </a:xfrm>
          <a:prstGeom prst="roundRect">
            <a:avLst/>
          </a:prstGeom>
          <a:solidFill>
            <a:srgbClr val="E9F6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4032" y="3847020"/>
            <a:ext cx="10323576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366"/>
                </a:solidFill>
                <a:latin typeface="Noto Sans"/>
              </a:rPr>
              <a:t>SBD = Usuários + Aplicações + SGBD + Catálogo/Metadados + Banco(s) de Dados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54" y="4969067"/>
            <a:ext cx="10864154" cy="5447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 i="0" dirty="0">
                <a:solidFill>
                  <a:srgbClr val="003366"/>
                </a:solidFill>
                <a:latin typeface="Noto Sans"/>
              </a:rPr>
              <a:t>Pensar </a:t>
            </a:r>
            <a:r>
              <a:rPr sz="1650" b="1" i="0" dirty="0" err="1">
                <a:solidFill>
                  <a:srgbClr val="003366"/>
                </a:solidFill>
                <a:latin typeface="Noto Sans"/>
              </a:rPr>
              <a:t>em</a:t>
            </a:r>
            <a:r>
              <a:rPr sz="1650" b="1" i="0" dirty="0">
                <a:solidFill>
                  <a:srgbClr val="003366"/>
                </a:solidFill>
                <a:latin typeface="Noto Sans"/>
              </a:rPr>
              <a:t> SBD é </a:t>
            </a:r>
            <a:r>
              <a:rPr sz="1650" b="1" i="0" dirty="0" err="1">
                <a:solidFill>
                  <a:srgbClr val="003366"/>
                </a:solidFill>
                <a:latin typeface="Noto Sans"/>
              </a:rPr>
              <a:t>pensar</a:t>
            </a:r>
            <a:r>
              <a:rPr sz="1650" b="1" i="0" dirty="0">
                <a:solidFill>
                  <a:srgbClr val="003366"/>
                </a:solidFill>
                <a:latin typeface="Noto Sans"/>
              </a:rPr>
              <a:t> no </a:t>
            </a:r>
            <a:r>
              <a:rPr sz="1650" b="1" i="0" dirty="0" err="1">
                <a:solidFill>
                  <a:srgbClr val="003366"/>
                </a:solidFill>
                <a:latin typeface="Noto Sans"/>
              </a:rPr>
              <a:t>sistema</a:t>
            </a:r>
            <a:r>
              <a:rPr sz="1650" b="1" i="0" dirty="0">
                <a:solidFill>
                  <a:srgbClr val="003366"/>
                </a:solidFill>
                <a:latin typeface="Noto Sans"/>
              </a:rPr>
              <a:t> </a:t>
            </a:r>
            <a:r>
              <a:rPr sz="1650" b="1" i="0" dirty="0" err="1">
                <a:solidFill>
                  <a:srgbClr val="003366"/>
                </a:solidFill>
                <a:latin typeface="Noto Sans"/>
              </a:rPr>
              <a:t>inteiro</a:t>
            </a:r>
            <a:r>
              <a:rPr sz="1650" b="1" i="0" dirty="0">
                <a:solidFill>
                  <a:srgbClr val="003366"/>
                </a:solidFill>
                <a:latin typeface="Noto Sans"/>
              </a:rPr>
              <a:t>; </a:t>
            </a:r>
            <a:r>
              <a:rPr sz="1650" b="1" i="0" dirty="0" err="1">
                <a:solidFill>
                  <a:srgbClr val="003366"/>
                </a:solidFill>
                <a:latin typeface="Noto Sans"/>
              </a:rPr>
              <a:t>pensar</a:t>
            </a:r>
            <a:r>
              <a:rPr sz="1650" b="1" i="0" dirty="0">
                <a:solidFill>
                  <a:srgbClr val="003366"/>
                </a:solidFill>
                <a:latin typeface="Noto Sans"/>
              </a:rPr>
              <a:t> </a:t>
            </a:r>
            <a:r>
              <a:rPr sz="1650" b="1" i="0" dirty="0" err="1">
                <a:solidFill>
                  <a:srgbClr val="003366"/>
                </a:solidFill>
                <a:latin typeface="Noto Sans"/>
              </a:rPr>
              <a:t>em</a:t>
            </a:r>
            <a:r>
              <a:rPr sz="1650" b="1" i="0" dirty="0">
                <a:solidFill>
                  <a:srgbClr val="003366"/>
                </a:solidFill>
                <a:latin typeface="Noto Sans"/>
              </a:rPr>
              <a:t> SGBD é </a:t>
            </a:r>
            <a:r>
              <a:rPr sz="1650" b="1" i="0" dirty="0" err="1">
                <a:solidFill>
                  <a:srgbClr val="003366"/>
                </a:solidFill>
                <a:latin typeface="Noto Sans"/>
              </a:rPr>
              <a:t>pensar</a:t>
            </a:r>
            <a:r>
              <a:rPr sz="1650" b="1" i="0" dirty="0">
                <a:solidFill>
                  <a:srgbClr val="003366"/>
                </a:solidFill>
                <a:latin typeface="Noto Sans"/>
              </a:rPr>
              <a:t> no software </a:t>
            </a:r>
            <a:r>
              <a:rPr sz="1650" b="1" i="0" dirty="0" err="1">
                <a:solidFill>
                  <a:srgbClr val="003366"/>
                </a:solidFill>
                <a:latin typeface="Noto Sans"/>
              </a:rPr>
              <a:t>que</a:t>
            </a:r>
            <a:r>
              <a:rPr sz="1650" b="1" i="0" dirty="0">
                <a:solidFill>
                  <a:srgbClr val="003366"/>
                </a:solidFill>
                <a:latin typeface="Noto Sans"/>
              </a:rPr>
              <a:t> </a:t>
            </a:r>
            <a:r>
              <a:rPr sz="1650" b="1" i="0" dirty="0" err="1">
                <a:solidFill>
                  <a:srgbClr val="003366"/>
                </a:solidFill>
                <a:latin typeface="Noto Sans"/>
              </a:rPr>
              <a:t>gerencia</a:t>
            </a:r>
            <a:r>
              <a:rPr sz="1650" b="1" i="0" dirty="0">
                <a:solidFill>
                  <a:srgbClr val="003366"/>
                </a:solidFill>
                <a:latin typeface="Noto Sans"/>
              </a:rPr>
              <a:t> </a:t>
            </a:r>
            <a:r>
              <a:rPr sz="1650" b="1" i="0" dirty="0" err="1">
                <a:solidFill>
                  <a:srgbClr val="003366"/>
                </a:solidFill>
                <a:latin typeface="Noto Sans"/>
              </a:rPr>
              <a:t>os</a:t>
            </a:r>
            <a:r>
              <a:rPr sz="1650" b="1" i="0" dirty="0">
                <a:solidFill>
                  <a:srgbClr val="003366"/>
                </a:solidFill>
                <a:latin typeface="Noto Sans"/>
              </a:rPr>
              <a:t> dados.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1138428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Noto Sans"/>
              </a:rPr>
              <a:t>Sistemas de Banco de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338560" cy="51206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dirty="0">
                <a:solidFill>
                  <a:srgbClr val="202020"/>
                </a:solidFill>
                <a:latin typeface="Noto Sans"/>
              </a:rPr>
              <a:t>SBD × SGBD — </a:t>
            </a:r>
            <a:r>
              <a:rPr sz="2400" b="1" i="0" dirty="0" err="1">
                <a:solidFill>
                  <a:srgbClr val="202020"/>
                </a:solidFill>
                <a:latin typeface="Noto Sans"/>
              </a:rPr>
              <a:t>não</a:t>
            </a:r>
            <a:r>
              <a:rPr sz="2400" b="1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2400" b="1" i="0" dirty="0" err="1">
                <a:solidFill>
                  <a:srgbClr val="202020"/>
                </a:solidFill>
                <a:latin typeface="Noto Sans"/>
              </a:rPr>
              <a:t>são</a:t>
            </a:r>
            <a:r>
              <a:rPr sz="2400" b="1" i="0" dirty="0">
                <a:solidFill>
                  <a:srgbClr val="202020"/>
                </a:solidFill>
                <a:latin typeface="Noto Sans"/>
              </a:rPr>
              <a:t> a </a:t>
            </a:r>
            <a:r>
              <a:rPr sz="2400" b="1" i="0" dirty="0" err="1">
                <a:solidFill>
                  <a:srgbClr val="202020"/>
                </a:solidFill>
                <a:latin typeface="Noto Sans"/>
              </a:rPr>
              <a:t>mesma</a:t>
            </a:r>
            <a:r>
              <a:rPr sz="2400" b="1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2400" b="1" i="0" dirty="0" err="1">
                <a:solidFill>
                  <a:srgbClr val="202020"/>
                </a:solidFill>
                <a:latin typeface="Noto Sans"/>
              </a:rPr>
              <a:t>coisa</a:t>
            </a:r>
            <a:endParaRPr sz="2400" b="1" i="0" dirty="0">
              <a:solidFill>
                <a:srgbClr val="202020"/>
              </a:solidFill>
              <a:latin typeface="Noto San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542287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84848"/>
            <a:ext cx="1542287" cy="731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84848"/>
            <a:ext cx="1542287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84848"/>
            <a:ext cx="1542287" cy="7315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84848"/>
            <a:ext cx="1542287" cy="731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84848"/>
            <a:ext cx="1542287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84848"/>
            <a:ext cx="1542287" cy="7315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84848"/>
            <a:ext cx="1542287" cy="73152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1965960"/>
          <a:ext cx="11155679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620" b="1">
                          <a:solidFill>
                            <a:srgbClr val="FFFFFF"/>
                          </a:solidFill>
                          <a:latin typeface="Noto Sans"/>
                        </a:rPr>
                        <a:t>Conceito</a:t>
                      </a:r>
                    </a:p>
                  </a:txBody>
                  <a:tcPr marL="73152" marR="73152" marT="36576" marB="36576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20" b="1">
                          <a:solidFill>
                            <a:srgbClr val="FFFFFF"/>
                          </a:solidFill>
                          <a:latin typeface="Noto Sans"/>
                        </a:rPr>
                        <a:t>O que representa</a:t>
                      </a:r>
                    </a:p>
                  </a:txBody>
                  <a:tcPr marL="73152" marR="73152" marT="36576" marB="36576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20" b="1">
                          <a:solidFill>
                            <a:srgbClr val="FFFFFF"/>
                          </a:solidFill>
                          <a:latin typeface="Noto Sans"/>
                        </a:rPr>
                        <a:t>Exemplo</a:t>
                      </a:r>
                    </a:p>
                  </a:txBody>
                  <a:tcPr marL="73152" marR="73152" marT="36576" marB="36576"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620">
                          <a:solidFill>
                            <a:srgbClr val="202020"/>
                          </a:solidFill>
                          <a:latin typeface="Noto Sans"/>
                        </a:rPr>
                        <a:t>SBD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20" dirty="0" err="1">
                          <a:solidFill>
                            <a:srgbClr val="202020"/>
                          </a:solidFill>
                          <a:latin typeface="Noto Sans"/>
                        </a:rPr>
                        <a:t>Ambiente</a:t>
                      </a:r>
                      <a:r>
                        <a:rPr sz="1620" dirty="0">
                          <a:solidFill>
                            <a:srgbClr val="202020"/>
                          </a:solidFill>
                          <a:latin typeface="Noto Sans"/>
                        </a:rPr>
                        <a:t> </a:t>
                      </a:r>
                      <a:r>
                        <a:rPr sz="1620" dirty="0" err="1">
                          <a:solidFill>
                            <a:srgbClr val="202020"/>
                          </a:solidFill>
                          <a:latin typeface="Noto Sans"/>
                        </a:rPr>
                        <a:t>completo</a:t>
                      </a:r>
                      <a:r>
                        <a:rPr sz="1620" dirty="0">
                          <a:solidFill>
                            <a:srgbClr val="202020"/>
                          </a:solidFill>
                          <a:latin typeface="Noto Sans"/>
                        </a:rPr>
                        <a:t> </a:t>
                      </a:r>
                      <a:r>
                        <a:rPr sz="1620" dirty="0" err="1">
                          <a:solidFill>
                            <a:srgbClr val="202020"/>
                          </a:solidFill>
                          <a:latin typeface="Noto Sans"/>
                        </a:rPr>
                        <a:t>formado</a:t>
                      </a:r>
                      <a:r>
                        <a:rPr sz="1620" dirty="0">
                          <a:solidFill>
                            <a:srgbClr val="202020"/>
                          </a:solidFill>
                          <a:latin typeface="Noto Sans"/>
                        </a:rPr>
                        <a:t> </a:t>
                      </a:r>
                      <a:r>
                        <a:rPr sz="1620" dirty="0" err="1">
                          <a:solidFill>
                            <a:srgbClr val="202020"/>
                          </a:solidFill>
                          <a:latin typeface="Noto Sans"/>
                        </a:rPr>
                        <a:t>por</a:t>
                      </a:r>
                      <a:r>
                        <a:rPr sz="1620" dirty="0">
                          <a:solidFill>
                            <a:srgbClr val="202020"/>
                          </a:solidFill>
                          <a:latin typeface="Noto Sans"/>
                        </a:rPr>
                        <a:t> </a:t>
                      </a:r>
                      <a:r>
                        <a:rPr sz="1620" dirty="0" err="1">
                          <a:solidFill>
                            <a:srgbClr val="202020"/>
                          </a:solidFill>
                          <a:latin typeface="Noto Sans"/>
                        </a:rPr>
                        <a:t>usuários</a:t>
                      </a:r>
                      <a:r>
                        <a:rPr sz="1620" dirty="0">
                          <a:solidFill>
                            <a:srgbClr val="202020"/>
                          </a:solidFill>
                          <a:latin typeface="Noto Sans"/>
                        </a:rPr>
                        <a:t>, </a:t>
                      </a:r>
                      <a:r>
                        <a:rPr sz="1620" dirty="0" err="1">
                          <a:solidFill>
                            <a:srgbClr val="202020"/>
                          </a:solidFill>
                          <a:latin typeface="Noto Sans"/>
                        </a:rPr>
                        <a:t>aplicações</a:t>
                      </a:r>
                      <a:r>
                        <a:rPr sz="1620" dirty="0">
                          <a:solidFill>
                            <a:srgbClr val="202020"/>
                          </a:solidFill>
                          <a:latin typeface="Noto Sans"/>
                        </a:rPr>
                        <a:t>, SGBD, </a:t>
                      </a:r>
                      <a:r>
                        <a:rPr sz="1620" dirty="0" err="1">
                          <a:solidFill>
                            <a:srgbClr val="202020"/>
                          </a:solidFill>
                          <a:latin typeface="Noto Sans"/>
                        </a:rPr>
                        <a:t>metadados</a:t>
                      </a:r>
                      <a:r>
                        <a:rPr sz="1620" dirty="0">
                          <a:solidFill>
                            <a:srgbClr val="202020"/>
                          </a:solidFill>
                          <a:latin typeface="Noto Sans"/>
                        </a:rPr>
                        <a:t> e dados.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20">
                          <a:solidFill>
                            <a:srgbClr val="202020"/>
                          </a:solidFill>
                          <a:latin typeface="Noto Sans"/>
                        </a:rPr>
                        <a:t>Sistema acadêmico completo de uma universidade.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620">
                          <a:solidFill>
                            <a:srgbClr val="202020"/>
                          </a:solidFill>
                          <a:latin typeface="Noto Sans"/>
                        </a:rPr>
                        <a:t>SGBD</a:t>
                      </a:r>
                    </a:p>
                  </a:txBody>
                  <a:tcPr marL="73152" marR="73152" marT="36576" marB="36576"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20">
                          <a:solidFill>
                            <a:srgbClr val="202020"/>
                          </a:solidFill>
                          <a:latin typeface="Noto Sans"/>
                        </a:rPr>
                        <a:t>Software intermediário responsável por gerenciar um ou mais bancos de dados.</a:t>
                      </a:r>
                    </a:p>
                  </a:txBody>
                  <a:tcPr marL="73152" marR="73152" marT="36576" marB="36576"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20" dirty="0">
                          <a:solidFill>
                            <a:srgbClr val="202020"/>
                          </a:solidFill>
                          <a:latin typeface="Noto Sans"/>
                        </a:rPr>
                        <a:t>PostgreSQL, Oracle, MySQL, SQL Server.</a:t>
                      </a:r>
                    </a:p>
                  </a:txBody>
                  <a:tcPr marL="73152" marR="73152" marT="36576" marB="36576">
                    <a:solidFill>
                      <a:srgbClr val="F5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747251" y="4617720"/>
            <a:ext cx="10707329" cy="1188720"/>
          </a:xfrm>
          <a:prstGeom prst="roundRect">
            <a:avLst/>
          </a:prstGeom>
          <a:solidFill>
            <a:srgbClr val="F8FB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24712" y="4745736"/>
            <a:ext cx="9912096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366"/>
                </a:solidFill>
                <a:latin typeface="Noto Sans"/>
              </a:rPr>
              <a:t>Exemplo rápido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" y="5148072"/>
            <a:ext cx="9827991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202020"/>
                </a:solidFill>
                <a:latin typeface="Noto Sans"/>
              </a:rPr>
              <a:t>O portal acadêmico é uma aplicação. O PostgreSQL pode ser o SGBD. As tabelas de alunos, disciplinas e matrículas compõem o banco de dados. Usuários + aplicação + SGBD + dados formam o SBD.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1138428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Noto Sans"/>
              </a:rPr>
              <a:t>Sistemas de Banco de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338560" cy="51206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02020"/>
                </a:solidFill>
                <a:latin typeface="Noto Sans"/>
              </a:rPr>
              <a:t>O papel do SGBD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542287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84848"/>
            <a:ext cx="1542287" cy="731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84848"/>
            <a:ext cx="1542287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84848"/>
            <a:ext cx="1542287" cy="7315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84848"/>
            <a:ext cx="1542287" cy="731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84848"/>
            <a:ext cx="1542287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84848"/>
            <a:ext cx="1542287" cy="7315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84848"/>
            <a:ext cx="1542287" cy="73152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1901952"/>
            <a:ext cx="6629400" cy="42519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1720">
                <a:solidFill>
                  <a:srgbClr val="202020"/>
                </a:solidFill>
                <a:latin typeface="Noto Sans"/>
              </a:defRPr>
            </a:pPr>
            <a:r>
              <a:rPr dirty="0"/>
              <a:t>O SGBD </a:t>
            </a:r>
            <a:r>
              <a:rPr dirty="0" err="1"/>
              <a:t>funciona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camada</a:t>
            </a:r>
            <a:r>
              <a:rPr dirty="0"/>
              <a:t> </a:t>
            </a:r>
            <a:r>
              <a:rPr dirty="0" err="1"/>
              <a:t>intermediária</a:t>
            </a:r>
            <a:r>
              <a:rPr dirty="0"/>
              <a:t> entre quem </a:t>
            </a:r>
            <a:r>
              <a:rPr dirty="0" err="1"/>
              <a:t>deseja</a:t>
            </a:r>
            <a:r>
              <a:rPr dirty="0"/>
              <a:t> </a:t>
            </a:r>
            <a:r>
              <a:rPr dirty="0" err="1"/>
              <a:t>utilizar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dados e a forma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eles</a:t>
            </a:r>
            <a:r>
              <a:rPr dirty="0"/>
              <a:t> </a:t>
            </a:r>
            <a:r>
              <a:rPr dirty="0" err="1"/>
              <a:t>estão</a:t>
            </a:r>
            <a:r>
              <a:rPr dirty="0"/>
              <a:t> </a:t>
            </a:r>
            <a:r>
              <a:rPr dirty="0" err="1"/>
              <a:t>fisicamente</a:t>
            </a:r>
            <a:r>
              <a:rPr dirty="0"/>
              <a:t> </a:t>
            </a:r>
            <a:r>
              <a:rPr dirty="0" err="1"/>
              <a:t>armazenados</a:t>
            </a:r>
            <a:r>
              <a:rPr dirty="0"/>
              <a:t>. A </a:t>
            </a:r>
            <a:r>
              <a:rPr dirty="0" err="1"/>
              <a:t>aplicação</a:t>
            </a:r>
            <a:r>
              <a:rPr dirty="0"/>
              <a:t> </a:t>
            </a:r>
            <a:r>
              <a:rPr dirty="0" err="1"/>
              <a:t>solicita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operação</a:t>
            </a:r>
            <a:r>
              <a:rPr dirty="0"/>
              <a:t>; o SGBD </a:t>
            </a:r>
            <a:r>
              <a:rPr dirty="0" err="1"/>
              <a:t>interpreta</a:t>
            </a:r>
            <a:r>
              <a:rPr dirty="0"/>
              <a:t>, </a:t>
            </a:r>
            <a:r>
              <a:rPr dirty="0" err="1"/>
              <a:t>valida</a:t>
            </a:r>
            <a:r>
              <a:rPr dirty="0"/>
              <a:t>, </a:t>
            </a:r>
            <a:r>
              <a:rPr dirty="0" err="1"/>
              <a:t>executa</a:t>
            </a:r>
            <a:r>
              <a:rPr dirty="0"/>
              <a:t> e </a:t>
            </a:r>
            <a:r>
              <a:rPr dirty="0" err="1"/>
              <a:t>controla</a:t>
            </a:r>
            <a:r>
              <a:rPr dirty="0"/>
              <a:t> </a:t>
            </a:r>
            <a:r>
              <a:rPr dirty="0" err="1"/>
              <a:t>essa</a:t>
            </a:r>
            <a:r>
              <a:rPr dirty="0"/>
              <a:t> </a:t>
            </a:r>
            <a:r>
              <a:rPr dirty="0" err="1"/>
              <a:t>operação</a:t>
            </a:r>
            <a:r>
              <a:rPr dirty="0"/>
              <a:t>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720">
                <a:solidFill>
                  <a:srgbClr val="202020"/>
                </a:solidFill>
                <a:latin typeface="Noto Sans"/>
              </a:defRPr>
            </a:pPr>
            <a:r>
              <a:rPr dirty="0"/>
              <a:t>• </a:t>
            </a:r>
            <a:r>
              <a:rPr dirty="0" err="1"/>
              <a:t>Definir</a:t>
            </a:r>
            <a:r>
              <a:rPr dirty="0"/>
              <a:t> e </a:t>
            </a:r>
            <a:r>
              <a:rPr dirty="0" err="1"/>
              <a:t>manter</a:t>
            </a:r>
            <a:r>
              <a:rPr dirty="0"/>
              <a:t> </a:t>
            </a:r>
            <a:r>
              <a:rPr dirty="0" err="1"/>
              <a:t>estruturas</a:t>
            </a:r>
            <a:r>
              <a:rPr dirty="0"/>
              <a:t> de dados.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720">
                <a:solidFill>
                  <a:srgbClr val="202020"/>
                </a:solidFill>
                <a:latin typeface="Noto Sans"/>
              </a:defRPr>
            </a:pPr>
            <a:r>
              <a:rPr dirty="0"/>
              <a:t>• </a:t>
            </a:r>
            <a:r>
              <a:rPr dirty="0" err="1"/>
              <a:t>Consultar</a:t>
            </a:r>
            <a:r>
              <a:rPr dirty="0"/>
              <a:t>, </a:t>
            </a:r>
            <a:r>
              <a:rPr dirty="0" err="1"/>
              <a:t>inserir</a:t>
            </a:r>
            <a:r>
              <a:rPr dirty="0"/>
              <a:t>, </a:t>
            </a:r>
            <a:r>
              <a:rPr dirty="0" err="1"/>
              <a:t>alterar</a:t>
            </a:r>
            <a:r>
              <a:rPr dirty="0"/>
              <a:t> e remover </a:t>
            </a:r>
            <a:r>
              <a:rPr dirty="0" err="1"/>
              <a:t>informações</a:t>
            </a:r>
            <a:r>
              <a:rPr dirty="0"/>
              <a:t>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720">
                <a:solidFill>
                  <a:srgbClr val="202020"/>
                </a:solidFill>
                <a:latin typeface="Noto Sans"/>
              </a:defRPr>
            </a:pPr>
            <a:r>
              <a:rPr dirty="0"/>
              <a:t>• </a:t>
            </a:r>
            <a:r>
              <a:rPr dirty="0" err="1"/>
              <a:t>Aplicar</a:t>
            </a:r>
            <a:r>
              <a:rPr dirty="0"/>
              <a:t> </a:t>
            </a:r>
            <a:r>
              <a:rPr dirty="0" err="1"/>
              <a:t>regras</a:t>
            </a:r>
            <a:r>
              <a:rPr dirty="0"/>
              <a:t> de </a:t>
            </a:r>
            <a:r>
              <a:rPr dirty="0" err="1"/>
              <a:t>integridade</a:t>
            </a:r>
            <a:r>
              <a:rPr dirty="0"/>
              <a:t> e </a:t>
            </a:r>
            <a:r>
              <a:rPr dirty="0" err="1"/>
              <a:t>permissões</a:t>
            </a:r>
            <a:r>
              <a:rPr dirty="0"/>
              <a:t> de </a:t>
            </a:r>
            <a:r>
              <a:rPr dirty="0" err="1"/>
              <a:t>acesso</a:t>
            </a:r>
            <a:r>
              <a:rPr dirty="0"/>
              <a:t>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720">
                <a:solidFill>
                  <a:srgbClr val="202020"/>
                </a:solidFill>
                <a:latin typeface="Noto Sans"/>
              </a:defRPr>
            </a:pPr>
            <a:r>
              <a:rPr dirty="0"/>
              <a:t>• </a:t>
            </a:r>
            <a:r>
              <a:rPr dirty="0" err="1"/>
              <a:t>Coordenar</a:t>
            </a:r>
            <a:r>
              <a:rPr dirty="0"/>
              <a:t> </a:t>
            </a:r>
            <a:r>
              <a:rPr dirty="0" err="1"/>
              <a:t>acessos</a:t>
            </a:r>
            <a:r>
              <a:rPr dirty="0"/>
              <a:t> </a:t>
            </a:r>
            <a:r>
              <a:rPr dirty="0" err="1"/>
              <a:t>simultâneos</a:t>
            </a:r>
            <a:r>
              <a:rPr dirty="0"/>
              <a:t> e </a:t>
            </a:r>
            <a:r>
              <a:rPr dirty="0" err="1"/>
              <a:t>transações</a:t>
            </a:r>
            <a:r>
              <a:rPr dirty="0"/>
              <a:t>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720">
                <a:solidFill>
                  <a:srgbClr val="202020"/>
                </a:solidFill>
                <a:latin typeface="Noto Sans"/>
              </a:defRPr>
            </a:pPr>
            <a:r>
              <a:rPr dirty="0"/>
              <a:t>• Auxiliar </a:t>
            </a:r>
            <a:r>
              <a:rPr dirty="0" err="1"/>
              <a:t>em</a:t>
            </a:r>
            <a:r>
              <a:rPr dirty="0"/>
              <a:t> backup, </a:t>
            </a:r>
            <a:r>
              <a:rPr dirty="0" err="1"/>
              <a:t>recuperação</a:t>
            </a:r>
            <a:r>
              <a:rPr dirty="0"/>
              <a:t> e </a:t>
            </a:r>
            <a:r>
              <a:rPr dirty="0" err="1"/>
              <a:t>administração</a:t>
            </a:r>
            <a:r>
              <a:rPr dirty="0"/>
              <a:t> do </a:t>
            </a:r>
            <a:r>
              <a:rPr dirty="0" err="1"/>
              <a:t>armazenamento</a:t>
            </a:r>
            <a:r>
              <a:rPr dirty="0"/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2057400"/>
            <a:ext cx="3840480" cy="3108960"/>
          </a:xfrm>
          <a:prstGeom prst="roundRect">
            <a:avLst/>
          </a:prstGeom>
          <a:solidFill>
            <a:srgbClr val="E9F6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16952" y="2185416"/>
            <a:ext cx="3511296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366"/>
                </a:solidFill>
                <a:latin typeface="Noto Sans"/>
              </a:rPr>
              <a:t>Pense assim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6952" y="2587752"/>
            <a:ext cx="3511296" cy="15327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20" b="0" i="0" dirty="0">
                <a:solidFill>
                  <a:srgbClr val="202020"/>
                </a:solidFill>
                <a:latin typeface="Noto Sans"/>
              </a:rPr>
              <a:t>A </a:t>
            </a:r>
            <a:r>
              <a:rPr sz="1620" b="0" i="0" dirty="0" err="1">
                <a:solidFill>
                  <a:srgbClr val="202020"/>
                </a:solidFill>
                <a:latin typeface="Noto Sans"/>
              </a:rPr>
              <a:t>aplicação</a:t>
            </a:r>
            <a:r>
              <a:rPr sz="162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620" b="0" i="0" dirty="0" err="1">
                <a:solidFill>
                  <a:srgbClr val="202020"/>
                </a:solidFill>
                <a:latin typeface="Noto Sans"/>
              </a:rPr>
              <a:t>diz</a:t>
            </a:r>
            <a:r>
              <a:rPr sz="1620" b="0" i="0" dirty="0">
                <a:solidFill>
                  <a:srgbClr val="202020"/>
                </a:solidFill>
                <a:latin typeface="Noto Sans"/>
              </a:rPr>
              <a:t> O QUE </a:t>
            </a:r>
            <a:r>
              <a:rPr sz="1620" b="0" i="0" dirty="0" err="1">
                <a:solidFill>
                  <a:srgbClr val="202020"/>
                </a:solidFill>
                <a:latin typeface="Noto Sans"/>
              </a:rPr>
              <a:t>precisa</a:t>
            </a:r>
            <a:r>
              <a:rPr sz="162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620" b="0" i="0" dirty="0" err="1">
                <a:solidFill>
                  <a:srgbClr val="202020"/>
                </a:solidFill>
                <a:latin typeface="Noto Sans"/>
              </a:rPr>
              <a:t>fazer</a:t>
            </a:r>
            <a:r>
              <a:rPr sz="1620" b="0" i="0" dirty="0">
                <a:solidFill>
                  <a:srgbClr val="202020"/>
                </a:solidFill>
                <a:latin typeface="Noto Sans"/>
              </a:rPr>
              <a:t> com </a:t>
            </a:r>
            <a:r>
              <a:rPr sz="1620" b="0" i="0" dirty="0" err="1">
                <a:solidFill>
                  <a:srgbClr val="202020"/>
                </a:solidFill>
                <a:latin typeface="Noto Sans"/>
              </a:rPr>
              <a:t>os</a:t>
            </a:r>
            <a:r>
              <a:rPr sz="1620" b="0" i="0" dirty="0">
                <a:solidFill>
                  <a:srgbClr val="202020"/>
                </a:solidFill>
                <a:latin typeface="Noto Sans"/>
              </a:rPr>
              <a:t> dados. O SGBD decide COMO </a:t>
            </a:r>
            <a:r>
              <a:rPr sz="1620" b="0" i="0" dirty="0" err="1">
                <a:solidFill>
                  <a:srgbClr val="202020"/>
                </a:solidFill>
                <a:latin typeface="Noto Sans"/>
              </a:rPr>
              <a:t>executar</a:t>
            </a:r>
            <a:r>
              <a:rPr sz="1620" b="0" i="0" dirty="0">
                <a:solidFill>
                  <a:srgbClr val="202020"/>
                </a:solidFill>
                <a:latin typeface="Noto Sans"/>
              </a:rPr>
              <a:t> a </a:t>
            </a:r>
            <a:r>
              <a:rPr sz="1620" b="0" i="0" dirty="0" err="1">
                <a:solidFill>
                  <a:srgbClr val="202020"/>
                </a:solidFill>
                <a:latin typeface="Noto Sans"/>
              </a:rPr>
              <a:t>operação</a:t>
            </a:r>
            <a:r>
              <a:rPr sz="1620" b="0" i="0" dirty="0">
                <a:solidFill>
                  <a:srgbClr val="202020"/>
                </a:solidFill>
                <a:latin typeface="Noto Sans"/>
              </a:rPr>
              <a:t> com </a:t>
            </a:r>
            <a:r>
              <a:rPr sz="1620" b="0" i="0" dirty="0" err="1">
                <a:solidFill>
                  <a:srgbClr val="202020"/>
                </a:solidFill>
                <a:latin typeface="Noto Sans"/>
              </a:rPr>
              <a:t>segurança</a:t>
            </a:r>
            <a:r>
              <a:rPr sz="1620" b="0" i="0" dirty="0">
                <a:solidFill>
                  <a:srgbClr val="202020"/>
                </a:solidFill>
                <a:latin typeface="Noto Sans"/>
              </a:rPr>
              <a:t> e </a:t>
            </a:r>
            <a:r>
              <a:rPr sz="1620" b="0" i="0" dirty="0" err="1">
                <a:solidFill>
                  <a:srgbClr val="202020"/>
                </a:solidFill>
                <a:latin typeface="Noto Sans"/>
              </a:rPr>
              <a:t>consistência</a:t>
            </a:r>
            <a:r>
              <a:rPr sz="1620" b="0" i="0" dirty="0">
                <a:solidFill>
                  <a:srgbClr val="202020"/>
                </a:solidFill>
                <a:latin typeface="Noto Sans"/>
              </a:rPr>
              <a:t>, </a:t>
            </a:r>
            <a:r>
              <a:rPr sz="1620" b="0" i="0" dirty="0" err="1">
                <a:solidFill>
                  <a:srgbClr val="202020"/>
                </a:solidFill>
                <a:latin typeface="Noto Sans"/>
              </a:rPr>
              <a:t>respeitando</a:t>
            </a:r>
            <a:r>
              <a:rPr sz="1620" b="0" i="0" dirty="0">
                <a:solidFill>
                  <a:srgbClr val="202020"/>
                </a:solidFill>
                <a:latin typeface="Noto Sans"/>
              </a:rPr>
              <a:t> as </a:t>
            </a:r>
            <a:r>
              <a:rPr sz="1620" b="0" i="0" dirty="0" err="1">
                <a:solidFill>
                  <a:srgbClr val="202020"/>
                </a:solidFill>
                <a:latin typeface="Noto Sans"/>
              </a:rPr>
              <a:t>estruturas</a:t>
            </a:r>
            <a:r>
              <a:rPr sz="1620" b="0" i="0" dirty="0">
                <a:solidFill>
                  <a:srgbClr val="202020"/>
                </a:solidFill>
                <a:latin typeface="Noto Sans"/>
              </a:rPr>
              <a:t> e </a:t>
            </a:r>
            <a:r>
              <a:rPr sz="1620" b="0" i="0" dirty="0" err="1">
                <a:solidFill>
                  <a:srgbClr val="202020"/>
                </a:solidFill>
                <a:latin typeface="Noto Sans"/>
              </a:rPr>
              <a:t>regras</a:t>
            </a:r>
            <a:r>
              <a:rPr sz="162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620" b="0" i="0" dirty="0" err="1">
                <a:solidFill>
                  <a:srgbClr val="202020"/>
                </a:solidFill>
                <a:latin typeface="Noto Sans"/>
              </a:rPr>
              <a:t>definidas</a:t>
            </a:r>
            <a:r>
              <a:rPr sz="1620" b="0" i="0" dirty="0">
                <a:solidFill>
                  <a:srgbClr val="202020"/>
                </a:solidFill>
                <a:latin typeface="Noto Sans"/>
              </a:rPr>
              <a:t> no banco.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1138428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Noto Sans"/>
              </a:rPr>
              <a:t>Sistemas de Banco de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338560" cy="51206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02020"/>
                </a:solidFill>
                <a:latin typeface="Noto Sans"/>
              </a:rPr>
              <a:t>Independência entre dados e programas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542287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84848"/>
            <a:ext cx="1542287" cy="731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84848"/>
            <a:ext cx="1542287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84848"/>
            <a:ext cx="1542287" cy="7315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84848"/>
            <a:ext cx="1542287" cy="731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84848"/>
            <a:ext cx="1542287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84848"/>
            <a:ext cx="1542287" cy="7315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84848"/>
            <a:ext cx="1542287" cy="73152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1920240"/>
            <a:ext cx="10972800" cy="57554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0" i="0" dirty="0">
                <a:solidFill>
                  <a:srgbClr val="202020"/>
                </a:solidFill>
                <a:latin typeface="Noto Sans"/>
              </a:rPr>
              <a:t>Nos </a:t>
            </a:r>
            <a:r>
              <a:rPr sz="1750" b="0" i="0" dirty="0" err="1">
                <a:solidFill>
                  <a:srgbClr val="202020"/>
                </a:solidFill>
                <a:latin typeface="Noto Sans"/>
              </a:rPr>
              <a:t>sistemas</a:t>
            </a:r>
            <a:r>
              <a:rPr sz="1750" b="0" i="0" dirty="0">
                <a:solidFill>
                  <a:srgbClr val="202020"/>
                </a:solidFill>
                <a:latin typeface="Noto Sans"/>
              </a:rPr>
              <a:t> de </a:t>
            </a:r>
            <a:r>
              <a:rPr sz="1750" b="0" i="0" dirty="0" err="1">
                <a:solidFill>
                  <a:srgbClr val="202020"/>
                </a:solidFill>
                <a:latin typeface="Noto Sans"/>
              </a:rPr>
              <a:t>arquivos</a:t>
            </a:r>
            <a:r>
              <a:rPr sz="1750" b="0" i="0" dirty="0">
                <a:solidFill>
                  <a:srgbClr val="202020"/>
                </a:solidFill>
                <a:latin typeface="Noto Sans"/>
              </a:rPr>
              <a:t>, a </a:t>
            </a:r>
            <a:r>
              <a:rPr sz="1750" b="0" i="0" dirty="0" err="1">
                <a:solidFill>
                  <a:srgbClr val="202020"/>
                </a:solidFill>
                <a:latin typeface="Noto Sans"/>
              </a:rPr>
              <a:t>aplicação</a:t>
            </a:r>
            <a:r>
              <a:rPr sz="175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50" b="0" i="0" dirty="0" err="1">
                <a:solidFill>
                  <a:srgbClr val="202020"/>
                </a:solidFill>
                <a:latin typeface="Noto Sans"/>
              </a:rPr>
              <a:t>conhece</a:t>
            </a:r>
            <a:r>
              <a:rPr sz="175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50" b="0" i="0" dirty="0" err="1">
                <a:solidFill>
                  <a:srgbClr val="202020"/>
                </a:solidFill>
                <a:latin typeface="Noto Sans"/>
              </a:rPr>
              <a:t>detalhes</a:t>
            </a:r>
            <a:r>
              <a:rPr sz="1750" b="0" i="0" dirty="0">
                <a:solidFill>
                  <a:srgbClr val="202020"/>
                </a:solidFill>
                <a:latin typeface="Noto Sans"/>
              </a:rPr>
              <a:t> de </a:t>
            </a:r>
            <a:r>
              <a:rPr sz="1750" b="0" i="0" dirty="0" err="1">
                <a:solidFill>
                  <a:srgbClr val="202020"/>
                </a:solidFill>
                <a:latin typeface="Noto Sans"/>
              </a:rPr>
              <a:t>organização</a:t>
            </a:r>
            <a:r>
              <a:rPr sz="1750" b="0" i="0" dirty="0">
                <a:solidFill>
                  <a:srgbClr val="202020"/>
                </a:solidFill>
                <a:latin typeface="Noto Sans"/>
              </a:rPr>
              <a:t> e </a:t>
            </a:r>
            <a:r>
              <a:rPr sz="1750" b="0" i="0" dirty="0" err="1">
                <a:solidFill>
                  <a:srgbClr val="202020"/>
                </a:solidFill>
                <a:latin typeface="Noto Sans"/>
              </a:rPr>
              <a:t>acesso</a:t>
            </a:r>
            <a:r>
              <a:rPr sz="175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50" b="0" i="0" dirty="0" err="1">
                <a:solidFill>
                  <a:srgbClr val="202020"/>
                </a:solidFill>
                <a:latin typeface="Noto Sans"/>
              </a:rPr>
              <a:t>aos</a:t>
            </a:r>
            <a:r>
              <a:rPr sz="1750" b="0" i="0" dirty="0">
                <a:solidFill>
                  <a:srgbClr val="202020"/>
                </a:solidFill>
                <a:latin typeface="Noto Sans"/>
              </a:rPr>
              <a:t> dados. Em um SBD, </a:t>
            </a:r>
            <a:r>
              <a:rPr sz="1750" b="0" i="0" dirty="0" err="1">
                <a:solidFill>
                  <a:srgbClr val="202020"/>
                </a:solidFill>
                <a:latin typeface="Noto Sans"/>
              </a:rPr>
              <a:t>parte</a:t>
            </a:r>
            <a:r>
              <a:rPr sz="175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50" b="0" i="0" dirty="0" err="1">
                <a:solidFill>
                  <a:srgbClr val="202020"/>
                </a:solidFill>
                <a:latin typeface="Noto Sans"/>
              </a:rPr>
              <a:t>desses</a:t>
            </a:r>
            <a:r>
              <a:rPr sz="175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50" b="0" i="0" dirty="0" err="1">
                <a:solidFill>
                  <a:srgbClr val="202020"/>
                </a:solidFill>
                <a:latin typeface="Noto Sans"/>
              </a:rPr>
              <a:t>detalhes</a:t>
            </a:r>
            <a:r>
              <a:rPr sz="1750" b="0" i="0" dirty="0">
                <a:solidFill>
                  <a:srgbClr val="202020"/>
                </a:solidFill>
                <a:latin typeface="Noto Sans"/>
              </a:rPr>
              <a:t> é </a:t>
            </a:r>
            <a:r>
              <a:rPr sz="1750" b="0" i="0" dirty="0" err="1">
                <a:solidFill>
                  <a:srgbClr val="202020"/>
                </a:solidFill>
                <a:latin typeface="Noto Sans"/>
              </a:rPr>
              <a:t>escondida</a:t>
            </a:r>
            <a:r>
              <a:rPr sz="175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50" b="0" i="0" dirty="0" err="1">
                <a:solidFill>
                  <a:srgbClr val="202020"/>
                </a:solidFill>
                <a:latin typeface="Noto Sans"/>
              </a:rPr>
              <a:t>pelo</a:t>
            </a:r>
            <a:r>
              <a:rPr sz="1750" b="0" i="0" dirty="0">
                <a:solidFill>
                  <a:srgbClr val="202020"/>
                </a:solidFill>
                <a:latin typeface="Noto Sans"/>
              </a:rPr>
              <a:t> SGBD.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788920"/>
            <a:ext cx="5074920" cy="2423160"/>
          </a:xfrm>
          <a:prstGeom prst="roundRect">
            <a:avLst/>
          </a:prstGeom>
          <a:solidFill>
            <a:srgbClr val="FFF2F2"/>
          </a:solidFill>
          <a:ln w="1524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2916936"/>
            <a:ext cx="4745736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366"/>
                </a:solidFill>
                <a:latin typeface="Noto Sans"/>
              </a:rPr>
              <a:t>Sistema de arquivos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319272"/>
            <a:ext cx="4745736" cy="111722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20" b="0" i="0" dirty="0" err="1">
                <a:solidFill>
                  <a:srgbClr val="202020"/>
                </a:solidFill>
                <a:latin typeface="Noto Sans"/>
              </a:rPr>
              <a:t>Aplicação</a:t>
            </a:r>
            <a:r>
              <a:rPr sz="1620" b="0" i="0" dirty="0">
                <a:solidFill>
                  <a:srgbClr val="202020"/>
                </a:solidFill>
                <a:latin typeface="Noto Sans"/>
              </a:rPr>
              <a:t> ↔ </a:t>
            </a:r>
            <a:r>
              <a:rPr sz="1620" b="0" i="0" dirty="0" err="1">
                <a:solidFill>
                  <a:srgbClr val="202020"/>
                </a:solidFill>
                <a:latin typeface="Noto Sans"/>
              </a:rPr>
              <a:t>Arquivo</a:t>
            </a:r>
            <a:br>
              <a:rPr dirty="0"/>
            </a:br>
            <a:br>
              <a:rPr dirty="0"/>
            </a:br>
            <a:r>
              <a:rPr dirty="0" err="1"/>
              <a:t>Mudança</a:t>
            </a:r>
            <a:r>
              <a:rPr dirty="0"/>
              <a:t> no </a:t>
            </a:r>
            <a:r>
              <a:rPr dirty="0" err="1"/>
              <a:t>formato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organização</a:t>
            </a:r>
            <a:r>
              <a:rPr dirty="0"/>
              <a:t> do </a:t>
            </a:r>
            <a:r>
              <a:rPr dirty="0" err="1"/>
              <a:t>arquivo</a:t>
            </a:r>
            <a:r>
              <a:rPr dirty="0"/>
              <a:t> </a:t>
            </a:r>
            <a:r>
              <a:rPr dirty="0" err="1"/>
              <a:t>pode</a:t>
            </a:r>
            <a:r>
              <a:rPr dirty="0"/>
              <a:t> </a:t>
            </a:r>
            <a:r>
              <a:rPr dirty="0" err="1"/>
              <a:t>exigir</a:t>
            </a:r>
            <a:r>
              <a:rPr dirty="0"/>
              <a:t> </a:t>
            </a:r>
            <a:r>
              <a:rPr dirty="0" err="1"/>
              <a:t>alteração</a:t>
            </a:r>
            <a:r>
              <a:rPr dirty="0"/>
              <a:t> no </a:t>
            </a:r>
            <a:r>
              <a:rPr dirty="0" err="1"/>
              <a:t>código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o </a:t>
            </a:r>
            <a:r>
              <a:rPr dirty="0" err="1"/>
              <a:t>acessa</a:t>
            </a:r>
            <a:r>
              <a:rPr dirty="0"/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788920"/>
            <a:ext cx="5074920" cy="2423160"/>
          </a:xfrm>
          <a:prstGeom prst="roundRect">
            <a:avLst/>
          </a:prstGeom>
          <a:solidFill>
            <a:srgbClr val="E9F6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65392" y="2916936"/>
            <a:ext cx="4745736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dirty="0">
                <a:solidFill>
                  <a:srgbClr val="003366"/>
                </a:solidFill>
                <a:latin typeface="Noto Sans"/>
              </a:rPr>
              <a:t>Sistema de banco de dados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3319272"/>
            <a:ext cx="4668665" cy="111722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20" b="0" i="0" dirty="0" err="1">
                <a:solidFill>
                  <a:srgbClr val="202020"/>
                </a:solidFill>
                <a:latin typeface="Noto Sans"/>
              </a:rPr>
              <a:t>Aplicação</a:t>
            </a:r>
            <a:r>
              <a:rPr sz="1620" b="0" i="0" dirty="0">
                <a:solidFill>
                  <a:srgbClr val="202020"/>
                </a:solidFill>
                <a:latin typeface="Noto Sans"/>
              </a:rPr>
              <a:t> ↔ SGBD ↔ Banco de Dados</a:t>
            </a:r>
            <a:br>
              <a:rPr dirty="0"/>
            </a:br>
            <a:br>
              <a:rPr dirty="0"/>
            </a:br>
            <a:r>
              <a:rPr dirty="0"/>
              <a:t>O SGBD </a:t>
            </a:r>
            <a:r>
              <a:rPr dirty="0" err="1"/>
              <a:t>absorve</a:t>
            </a:r>
            <a:r>
              <a:rPr dirty="0"/>
              <a:t> </a:t>
            </a:r>
            <a:r>
              <a:rPr dirty="0" err="1"/>
              <a:t>detalhes</a:t>
            </a:r>
            <a:r>
              <a:rPr dirty="0"/>
              <a:t> de </a:t>
            </a:r>
            <a:r>
              <a:rPr dirty="0" err="1"/>
              <a:t>armazenamento</a:t>
            </a:r>
            <a:r>
              <a:rPr dirty="0"/>
              <a:t> e </a:t>
            </a:r>
            <a:r>
              <a:rPr dirty="0" err="1"/>
              <a:t>fornece</a:t>
            </a:r>
            <a:r>
              <a:rPr dirty="0"/>
              <a:t> interfaces </a:t>
            </a:r>
            <a:r>
              <a:rPr dirty="0" err="1"/>
              <a:t>estáveis</a:t>
            </a:r>
            <a:r>
              <a:rPr dirty="0"/>
              <a:t> para as </a:t>
            </a:r>
            <a:r>
              <a:rPr dirty="0" err="1"/>
              <a:t>aplicações</a:t>
            </a:r>
            <a:r>
              <a:rPr dirty="0"/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486400"/>
            <a:ext cx="10469880" cy="4572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 i="0">
                <a:solidFill>
                  <a:srgbClr val="003366"/>
                </a:solidFill>
                <a:latin typeface="Noto Sans"/>
              </a:rPr>
              <a:t>Essa separação é uma das diferenças fundamentais entre SBDs e sistemas de arquivos.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1138428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Noto Sans"/>
              </a:rPr>
              <a:t>Sistemas de Banco de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338560" cy="51206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02020"/>
                </a:solidFill>
                <a:latin typeface="Noto Sans"/>
              </a:rPr>
              <a:t>Arquitetura de três esquemas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542287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84848"/>
            <a:ext cx="1542287" cy="731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84848"/>
            <a:ext cx="1542287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84848"/>
            <a:ext cx="1542287" cy="7315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84848"/>
            <a:ext cx="1542287" cy="731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84848"/>
            <a:ext cx="1542287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84848"/>
            <a:ext cx="1542287" cy="7315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84848"/>
            <a:ext cx="1542287" cy="73152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1874519"/>
            <a:ext cx="11064240" cy="5663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0" b="0" i="0" dirty="0">
                <a:solidFill>
                  <a:srgbClr val="202020"/>
                </a:solidFill>
                <a:latin typeface="Noto Sans"/>
              </a:rPr>
              <a:t>A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arquitetura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ANSI/SPARC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separa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a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visão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dos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usuários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da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estrutura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lógica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e do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armazenamento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físico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,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dando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suporte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à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independência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de dados.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971800"/>
            <a:ext cx="3200400" cy="1325880"/>
          </a:xfrm>
          <a:prstGeom prst="roundRect">
            <a:avLst/>
          </a:prstGeom>
          <a:solidFill>
            <a:srgbClr val="F0F7FF"/>
          </a:solidFill>
          <a:ln w="1778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dirty="0">
                <a:solidFill>
                  <a:schemeClr val="tx1"/>
                </a:solidFill>
                <a:latin typeface="Noto Sans"/>
              </a:rPr>
              <a:t>NÍVEL EXTERNO</a:t>
            </a:r>
            <a:br>
              <a:rPr dirty="0">
                <a:solidFill>
                  <a:schemeClr val="tx1"/>
                </a:solidFill>
              </a:rPr>
            </a:br>
            <a:r>
              <a:rPr dirty="0" err="1">
                <a:solidFill>
                  <a:schemeClr val="tx1"/>
                </a:solidFill>
              </a:rPr>
              <a:t>Visões</a:t>
            </a:r>
            <a:r>
              <a:rPr dirty="0">
                <a:solidFill>
                  <a:schemeClr val="tx1"/>
                </a:solidFill>
              </a:rPr>
              <a:t> de </a:t>
            </a:r>
            <a:r>
              <a:rPr dirty="0" err="1">
                <a:solidFill>
                  <a:schemeClr val="tx1"/>
                </a:solidFill>
              </a:rPr>
              <a:t>usuários</a:t>
            </a:r>
            <a:r>
              <a:rPr dirty="0">
                <a:solidFill>
                  <a:schemeClr val="tx1"/>
                </a:solidFill>
              </a:rPr>
              <a:t> e </a:t>
            </a:r>
            <a:r>
              <a:rPr dirty="0" err="1">
                <a:solidFill>
                  <a:schemeClr val="tx1"/>
                </a:solidFill>
              </a:rPr>
              <a:t>aplicações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480560" y="2971800"/>
            <a:ext cx="3200400" cy="1325880"/>
          </a:xfrm>
          <a:prstGeom prst="roundRect">
            <a:avLst/>
          </a:prstGeom>
          <a:solidFill>
            <a:srgbClr val="F7F4FF"/>
          </a:solidFill>
          <a:ln w="17780">
            <a:solidFill>
              <a:srgbClr val="735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dirty="0">
                <a:solidFill>
                  <a:schemeClr val="tx1"/>
                </a:solidFill>
                <a:latin typeface="Noto Sans"/>
              </a:rPr>
              <a:t>NÍVEL CONCEITUAL</a:t>
            </a:r>
            <a:br>
              <a:rPr dirty="0">
                <a:solidFill>
                  <a:schemeClr val="tx1"/>
                </a:solidFill>
              </a:rPr>
            </a:br>
            <a:r>
              <a:rPr dirty="0" err="1">
                <a:solidFill>
                  <a:schemeClr val="tx1"/>
                </a:solidFill>
              </a:rPr>
              <a:t>Estrutura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lógica</a:t>
            </a:r>
            <a:r>
              <a:rPr dirty="0">
                <a:solidFill>
                  <a:schemeClr val="tx1"/>
                </a:solidFill>
              </a:rPr>
              <a:t> do banco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2971800"/>
            <a:ext cx="3200400" cy="1325880"/>
          </a:xfrm>
          <a:prstGeom prst="roundRect">
            <a:avLst/>
          </a:prstGeom>
          <a:solidFill>
            <a:srgbClr val="F7FBF3"/>
          </a:solidFill>
          <a:ln w="17780">
            <a:solidFill>
              <a:srgbClr val="31A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chemeClr val="tx1"/>
                </a:solidFill>
                <a:latin typeface="Noto Sans"/>
              </a:rPr>
              <a:t>NÍVEL INTERNO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Armazenamento físico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822191" y="3639312"/>
            <a:ext cx="594361" cy="0"/>
          </a:xfrm>
          <a:prstGeom prst="line">
            <a:avLst/>
          </a:prstGeom>
          <a:ln w="31750">
            <a:solidFill>
              <a:srgbClr val="00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708392" y="3639312"/>
            <a:ext cx="594360" cy="0"/>
          </a:xfrm>
          <a:prstGeom prst="line">
            <a:avLst/>
          </a:prstGeom>
          <a:ln w="31750">
            <a:solidFill>
              <a:srgbClr val="00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5840" y="4892040"/>
            <a:ext cx="10195560" cy="5486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 i="0">
                <a:solidFill>
                  <a:srgbClr val="003366"/>
                </a:solidFill>
                <a:latin typeface="Noto Sans"/>
              </a:rPr>
              <a:t>USUÁRIO / APLICAÇÃO  →  VISÃO EXTERNA  →  ESQUEMA LÓGICO  →  ARQUIVOS / DISCO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1138428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Noto Sans"/>
              </a:rPr>
              <a:t>Sistemas de Banco de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338560" cy="51206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02020"/>
                </a:solidFill>
                <a:latin typeface="Noto Sans"/>
              </a:rPr>
              <a:t>Independência lógica e independência física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542287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84848"/>
            <a:ext cx="1542287" cy="731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84848"/>
            <a:ext cx="1542287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84848"/>
            <a:ext cx="1542287" cy="7315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84848"/>
            <a:ext cx="1542287" cy="731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84848"/>
            <a:ext cx="1542287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84848"/>
            <a:ext cx="1542287" cy="7315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84848"/>
            <a:ext cx="1542287" cy="73152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85800" y="1965960"/>
            <a:ext cx="5349240" cy="3474720"/>
          </a:xfrm>
          <a:prstGeom prst="roundRect">
            <a:avLst/>
          </a:prstGeom>
          <a:solidFill>
            <a:srgbClr val="E9F6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" y="2093976"/>
            <a:ext cx="5020055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dirty="0" err="1">
                <a:solidFill>
                  <a:srgbClr val="003366"/>
                </a:solidFill>
                <a:latin typeface="Noto Sans"/>
              </a:rPr>
              <a:t>Independência</a:t>
            </a:r>
            <a:r>
              <a:rPr sz="1700" b="1" i="0" dirty="0">
                <a:solidFill>
                  <a:srgbClr val="003366"/>
                </a:solidFill>
                <a:latin typeface="Noto Sans"/>
              </a:rPr>
              <a:t> </a:t>
            </a:r>
            <a:r>
              <a:rPr sz="1700" b="1" i="0" dirty="0" err="1">
                <a:solidFill>
                  <a:srgbClr val="003366"/>
                </a:solidFill>
                <a:latin typeface="Noto Sans"/>
              </a:rPr>
              <a:t>lógica</a:t>
            </a:r>
            <a:r>
              <a:rPr sz="1700" b="1" i="0" dirty="0">
                <a:solidFill>
                  <a:srgbClr val="003366"/>
                </a:solidFill>
                <a:latin typeface="Noto Sans"/>
              </a:rPr>
              <a:t> de dados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2496312"/>
            <a:ext cx="5020055" cy="188359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 dirty="0" err="1">
                <a:solidFill>
                  <a:srgbClr val="202020"/>
                </a:solidFill>
                <a:latin typeface="Noto Sans"/>
              </a:rPr>
              <a:t>Capacidade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de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alterar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o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esquema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conceitual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lógico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sem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obrigar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mudanças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nas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visões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externas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das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aplicações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.</a:t>
            </a:r>
            <a:br>
              <a:rPr dirty="0"/>
            </a:br>
            <a:br>
              <a:rPr dirty="0"/>
            </a:br>
            <a:r>
              <a:rPr dirty="0" err="1"/>
              <a:t>Exemplo</a:t>
            </a:r>
            <a:r>
              <a:rPr dirty="0"/>
              <a:t>: </a:t>
            </a:r>
            <a:r>
              <a:rPr dirty="0" err="1"/>
              <a:t>acrescentar</a:t>
            </a:r>
            <a:r>
              <a:rPr dirty="0"/>
              <a:t> um novo </a:t>
            </a:r>
            <a:r>
              <a:rPr dirty="0" err="1"/>
              <a:t>atributo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alterar</a:t>
            </a:r>
            <a:r>
              <a:rPr dirty="0"/>
              <a:t> as </a:t>
            </a:r>
            <a:r>
              <a:rPr dirty="0" err="1"/>
              <a:t>telas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consultas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utilizam</a:t>
            </a:r>
            <a:r>
              <a:rPr dirty="0"/>
              <a:t> esse </a:t>
            </a:r>
            <a:r>
              <a:rPr dirty="0" err="1"/>
              <a:t>atributo</a:t>
            </a:r>
            <a:r>
              <a:rPr dirty="0"/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965960"/>
            <a:ext cx="5257800" cy="3474720"/>
          </a:xfrm>
          <a:prstGeom prst="roundRect">
            <a:avLst/>
          </a:prstGeom>
          <a:solidFill>
            <a:srgbClr val="F7FBF3"/>
          </a:solidFill>
          <a:ln w="15240">
            <a:solidFill>
              <a:srgbClr val="31A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28231" y="2093976"/>
            <a:ext cx="4928616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dirty="0" err="1">
                <a:solidFill>
                  <a:srgbClr val="003366"/>
                </a:solidFill>
                <a:latin typeface="Noto Sans"/>
              </a:rPr>
              <a:t>Independência</a:t>
            </a:r>
            <a:r>
              <a:rPr sz="1700" b="1" i="0" dirty="0">
                <a:solidFill>
                  <a:srgbClr val="003366"/>
                </a:solidFill>
                <a:latin typeface="Noto Sans"/>
              </a:rPr>
              <a:t> </a:t>
            </a:r>
            <a:r>
              <a:rPr sz="1700" b="1" i="0" dirty="0" err="1">
                <a:solidFill>
                  <a:srgbClr val="003366"/>
                </a:solidFill>
                <a:latin typeface="Noto Sans"/>
              </a:rPr>
              <a:t>física</a:t>
            </a:r>
            <a:r>
              <a:rPr sz="1700" b="1" i="0" dirty="0">
                <a:solidFill>
                  <a:srgbClr val="003366"/>
                </a:solidFill>
                <a:latin typeface="Noto Sans"/>
              </a:rPr>
              <a:t> de dados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2496312"/>
            <a:ext cx="4675198" cy="188359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 dirty="0" err="1">
                <a:solidFill>
                  <a:srgbClr val="202020"/>
                </a:solidFill>
                <a:latin typeface="Noto Sans"/>
              </a:rPr>
              <a:t>Capacidade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de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alterar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a forma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como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os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dados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são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armazenados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sem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modificar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a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estrutura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lógica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percebida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pelas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aplicações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.</a:t>
            </a:r>
            <a:br>
              <a:rPr dirty="0"/>
            </a:br>
            <a:br>
              <a:rPr dirty="0"/>
            </a:br>
            <a:r>
              <a:rPr dirty="0" err="1"/>
              <a:t>Exemplo</a:t>
            </a:r>
            <a:r>
              <a:rPr dirty="0"/>
              <a:t>: </a:t>
            </a:r>
            <a:r>
              <a:rPr dirty="0" err="1"/>
              <a:t>reorganizar</a:t>
            </a:r>
            <a:r>
              <a:rPr dirty="0"/>
              <a:t> </a:t>
            </a:r>
            <a:r>
              <a:rPr dirty="0" err="1"/>
              <a:t>arquivos</a:t>
            </a:r>
            <a:r>
              <a:rPr dirty="0"/>
              <a:t>, </a:t>
            </a:r>
            <a:r>
              <a:rPr dirty="0" err="1"/>
              <a:t>alterar</a:t>
            </a:r>
            <a:r>
              <a:rPr dirty="0"/>
              <a:t> </a:t>
            </a:r>
            <a:r>
              <a:rPr dirty="0" err="1"/>
              <a:t>estruturas</a:t>
            </a:r>
            <a:r>
              <a:rPr dirty="0"/>
              <a:t> de </a:t>
            </a:r>
            <a:r>
              <a:rPr dirty="0" err="1"/>
              <a:t>armazenamento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criar</a:t>
            </a:r>
            <a:r>
              <a:rPr dirty="0"/>
              <a:t> um </a:t>
            </a:r>
            <a:r>
              <a:rPr dirty="0" err="1"/>
              <a:t>índice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mudar o </a:t>
            </a:r>
            <a:r>
              <a:rPr dirty="0" err="1"/>
              <a:t>código</a:t>
            </a:r>
            <a:r>
              <a:rPr dirty="0"/>
              <a:t> da </a:t>
            </a:r>
            <a:r>
              <a:rPr dirty="0" err="1"/>
              <a:t>aplicação</a:t>
            </a:r>
            <a:r>
              <a:rPr dirty="0"/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715000"/>
            <a:ext cx="1042416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20" b="1" i="0" dirty="0">
                <a:solidFill>
                  <a:srgbClr val="003366"/>
                </a:solidFill>
                <a:latin typeface="Noto Sans"/>
              </a:rPr>
              <a:t>Em ambos </a:t>
            </a:r>
            <a:r>
              <a:rPr sz="1620" b="1" i="0" dirty="0" err="1">
                <a:solidFill>
                  <a:srgbClr val="003366"/>
                </a:solidFill>
                <a:latin typeface="Noto Sans"/>
              </a:rPr>
              <a:t>os</a:t>
            </a:r>
            <a:r>
              <a:rPr sz="1620" b="1" i="0" dirty="0">
                <a:solidFill>
                  <a:srgbClr val="003366"/>
                </a:solidFill>
                <a:latin typeface="Noto Sans"/>
              </a:rPr>
              <a:t> </a:t>
            </a:r>
            <a:r>
              <a:rPr sz="1620" b="1" i="0" dirty="0" err="1">
                <a:solidFill>
                  <a:srgbClr val="003366"/>
                </a:solidFill>
                <a:latin typeface="Noto Sans"/>
              </a:rPr>
              <a:t>casos</a:t>
            </a:r>
            <a:r>
              <a:rPr sz="1620" b="1" i="0" dirty="0">
                <a:solidFill>
                  <a:srgbClr val="003366"/>
                </a:solidFill>
                <a:latin typeface="Noto Sans"/>
              </a:rPr>
              <a:t>, a meta é </a:t>
            </a:r>
            <a:r>
              <a:rPr sz="1620" b="1" i="0" dirty="0" err="1">
                <a:solidFill>
                  <a:srgbClr val="003366"/>
                </a:solidFill>
                <a:latin typeface="Noto Sans"/>
              </a:rPr>
              <a:t>reduzir</a:t>
            </a:r>
            <a:r>
              <a:rPr sz="1620" b="1" i="0" dirty="0">
                <a:solidFill>
                  <a:srgbClr val="003366"/>
                </a:solidFill>
                <a:latin typeface="Noto Sans"/>
              </a:rPr>
              <a:t> o </a:t>
            </a:r>
            <a:r>
              <a:rPr sz="1620" b="1" i="0" dirty="0" err="1">
                <a:solidFill>
                  <a:srgbClr val="003366"/>
                </a:solidFill>
                <a:latin typeface="Noto Sans"/>
              </a:rPr>
              <a:t>impacto</a:t>
            </a:r>
            <a:r>
              <a:rPr sz="1620" b="1" i="0" dirty="0">
                <a:solidFill>
                  <a:srgbClr val="003366"/>
                </a:solidFill>
                <a:latin typeface="Noto Sans"/>
              </a:rPr>
              <a:t> de </a:t>
            </a:r>
            <a:r>
              <a:rPr sz="1620" b="1" i="0" dirty="0" err="1">
                <a:solidFill>
                  <a:srgbClr val="003366"/>
                </a:solidFill>
                <a:latin typeface="Noto Sans"/>
              </a:rPr>
              <a:t>mudanças</a:t>
            </a:r>
            <a:r>
              <a:rPr sz="1620" b="1" i="0" dirty="0">
                <a:solidFill>
                  <a:srgbClr val="003366"/>
                </a:solidFill>
                <a:latin typeface="Noto Sans"/>
              </a:rPr>
              <a:t> </a:t>
            </a:r>
            <a:r>
              <a:rPr sz="1620" b="1" i="0" dirty="0" err="1">
                <a:solidFill>
                  <a:srgbClr val="003366"/>
                </a:solidFill>
                <a:latin typeface="Noto Sans"/>
              </a:rPr>
              <a:t>internas</a:t>
            </a:r>
            <a:r>
              <a:rPr sz="1620" b="1" i="0" dirty="0">
                <a:solidFill>
                  <a:srgbClr val="003366"/>
                </a:solidFill>
                <a:latin typeface="Noto Sans"/>
              </a:rPr>
              <a:t> </a:t>
            </a:r>
            <a:r>
              <a:rPr sz="1620" b="1" i="0" dirty="0" err="1">
                <a:solidFill>
                  <a:srgbClr val="003366"/>
                </a:solidFill>
                <a:latin typeface="Noto Sans"/>
              </a:rPr>
              <a:t>sobre</a:t>
            </a:r>
            <a:r>
              <a:rPr sz="1620" b="1" i="0" dirty="0">
                <a:solidFill>
                  <a:srgbClr val="003366"/>
                </a:solidFill>
                <a:latin typeface="Noto Sans"/>
              </a:rPr>
              <a:t> quem </a:t>
            </a:r>
            <a:r>
              <a:rPr sz="1620" b="1" i="0" dirty="0" err="1">
                <a:solidFill>
                  <a:srgbClr val="003366"/>
                </a:solidFill>
                <a:latin typeface="Noto Sans"/>
              </a:rPr>
              <a:t>consome</a:t>
            </a:r>
            <a:r>
              <a:rPr sz="1620" b="1" i="0" dirty="0">
                <a:solidFill>
                  <a:srgbClr val="003366"/>
                </a:solidFill>
                <a:latin typeface="Noto Sans"/>
              </a:rPr>
              <a:t> </a:t>
            </a:r>
            <a:r>
              <a:rPr sz="1620" b="1" i="0" dirty="0" err="1">
                <a:solidFill>
                  <a:srgbClr val="003366"/>
                </a:solidFill>
                <a:latin typeface="Noto Sans"/>
              </a:rPr>
              <a:t>os</a:t>
            </a:r>
            <a:r>
              <a:rPr sz="1620" b="1" i="0" dirty="0">
                <a:solidFill>
                  <a:srgbClr val="003366"/>
                </a:solidFill>
                <a:latin typeface="Noto Sans"/>
              </a:rPr>
              <a:t> dados.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1138428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Noto Sans"/>
              </a:rPr>
              <a:t>Sistemas de Banco de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338560" cy="51206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02020"/>
                </a:solidFill>
                <a:latin typeface="Noto Sans"/>
              </a:rPr>
              <a:t>Natureza autocontida: o SBD também descreve seus dados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542287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84848"/>
            <a:ext cx="1542287" cy="731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84848"/>
            <a:ext cx="1542287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84848"/>
            <a:ext cx="1542287" cy="7315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84848"/>
            <a:ext cx="1542287" cy="731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84848"/>
            <a:ext cx="1542287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84848"/>
            <a:ext cx="1542287" cy="7315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84848"/>
            <a:ext cx="1542287" cy="73152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1938528"/>
            <a:ext cx="6400800" cy="26517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1739">
                <a:solidFill>
                  <a:srgbClr val="202020"/>
                </a:solidFill>
                <a:latin typeface="Noto Sans"/>
              </a:defRPr>
            </a:pPr>
            <a:r>
              <a:rPr dirty="0"/>
              <a:t>Um SBD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armazena</a:t>
            </a:r>
            <a:r>
              <a:rPr dirty="0"/>
              <a:t> </a:t>
            </a:r>
            <a:r>
              <a:rPr dirty="0" err="1"/>
              <a:t>apenas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valores</a:t>
            </a:r>
            <a:r>
              <a:rPr dirty="0"/>
              <a:t> </a:t>
            </a:r>
            <a:r>
              <a:rPr dirty="0" err="1"/>
              <a:t>utilizados</a:t>
            </a:r>
            <a:r>
              <a:rPr dirty="0"/>
              <a:t> </a:t>
            </a:r>
            <a:r>
              <a:rPr dirty="0" err="1"/>
              <a:t>pelas</a:t>
            </a:r>
            <a:r>
              <a:rPr dirty="0"/>
              <a:t> </a:t>
            </a:r>
            <a:r>
              <a:rPr dirty="0" err="1"/>
              <a:t>aplicações</a:t>
            </a:r>
            <a:r>
              <a:rPr dirty="0"/>
              <a:t>. Ele </a:t>
            </a:r>
            <a:r>
              <a:rPr dirty="0" err="1"/>
              <a:t>também</a:t>
            </a:r>
            <a:r>
              <a:rPr dirty="0"/>
              <a:t> </a:t>
            </a:r>
            <a:r>
              <a:rPr dirty="0" err="1"/>
              <a:t>mantém</a:t>
            </a:r>
            <a:r>
              <a:rPr dirty="0"/>
              <a:t> a </a:t>
            </a:r>
            <a:r>
              <a:rPr dirty="0" err="1"/>
              <a:t>descrição</a:t>
            </a:r>
            <a:r>
              <a:rPr dirty="0"/>
              <a:t> de </a:t>
            </a:r>
            <a:r>
              <a:rPr dirty="0" err="1"/>
              <a:t>suas</a:t>
            </a:r>
            <a:r>
              <a:rPr dirty="0"/>
              <a:t> </a:t>
            </a:r>
            <a:r>
              <a:rPr dirty="0" err="1"/>
              <a:t>próprias</a:t>
            </a:r>
            <a:r>
              <a:rPr dirty="0"/>
              <a:t> </a:t>
            </a:r>
            <a:r>
              <a:rPr dirty="0" err="1"/>
              <a:t>estruturas</a:t>
            </a:r>
            <a:r>
              <a:rPr dirty="0"/>
              <a:t> e </a:t>
            </a:r>
            <a:r>
              <a:rPr dirty="0" err="1"/>
              <a:t>restrições</a:t>
            </a:r>
            <a:r>
              <a:rPr dirty="0"/>
              <a:t>. Essa </a:t>
            </a:r>
            <a:r>
              <a:rPr dirty="0" err="1"/>
              <a:t>característica</a:t>
            </a:r>
            <a:r>
              <a:rPr dirty="0"/>
              <a:t> é </a:t>
            </a:r>
            <a:r>
              <a:rPr dirty="0" err="1"/>
              <a:t>chamada</a:t>
            </a:r>
            <a:r>
              <a:rPr dirty="0"/>
              <a:t> de </a:t>
            </a:r>
            <a:r>
              <a:rPr dirty="0" err="1"/>
              <a:t>natureza</a:t>
            </a:r>
            <a:r>
              <a:rPr dirty="0"/>
              <a:t> </a:t>
            </a:r>
            <a:r>
              <a:rPr dirty="0" err="1"/>
              <a:t>autocontida</a:t>
            </a:r>
            <a:r>
              <a:rPr dirty="0"/>
              <a:t>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739">
                <a:solidFill>
                  <a:srgbClr val="202020"/>
                </a:solidFill>
                <a:latin typeface="Noto Sans"/>
              </a:defRPr>
            </a:pPr>
            <a:r>
              <a:rPr dirty="0"/>
              <a:t>A </a:t>
            </a:r>
            <a:r>
              <a:rPr dirty="0" err="1"/>
              <a:t>descrição</a:t>
            </a:r>
            <a:r>
              <a:rPr dirty="0"/>
              <a:t> é </a:t>
            </a:r>
            <a:r>
              <a:rPr dirty="0" err="1"/>
              <a:t>armazenada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um </a:t>
            </a:r>
            <a:r>
              <a:rPr dirty="0" err="1"/>
              <a:t>catálogo</a:t>
            </a:r>
            <a:r>
              <a:rPr dirty="0"/>
              <a:t> do </a:t>
            </a:r>
            <a:r>
              <a:rPr dirty="0" err="1"/>
              <a:t>sistema</a:t>
            </a:r>
            <a:r>
              <a:rPr dirty="0"/>
              <a:t>, </a:t>
            </a:r>
            <a:r>
              <a:rPr dirty="0" err="1"/>
              <a:t>também</a:t>
            </a:r>
            <a:r>
              <a:rPr dirty="0"/>
              <a:t> </a:t>
            </a:r>
            <a:r>
              <a:rPr dirty="0" err="1"/>
              <a:t>chamado</a:t>
            </a:r>
            <a:r>
              <a:rPr dirty="0"/>
              <a:t> de </a:t>
            </a:r>
            <a:r>
              <a:rPr dirty="0" err="1"/>
              <a:t>dicionário</a:t>
            </a:r>
            <a:r>
              <a:rPr dirty="0"/>
              <a:t> de dados. É </a:t>
            </a:r>
            <a:r>
              <a:rPr dirty="0" err="1"/>
              <a:t>nele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o SGBD </a:t>
            </a:r>
            <a:r>
              <a:rPr dirty="0" err="1"/>
              <a:t>encontra</a:t>
            </a:r>
            <a:r>
              <a:rPr dirty="0"/>
              <a:t> </a:t>
            </a:r>
            <a:r>
              <a:rPr dirty="0" err="1"/>
              <a:t>informações</a:t>
            </a:r>
            <a:r>
              <a:rPr dirty="0"/>
              <a:t> </a:t>
            </a:r>
            <a:r>
              <a:rPr dirty="0" err="1"/>
              <a:t>necessárias</a:t>
            </a:r>
            <a:r>
              <a:rPr dirty="0"/>
              <a:t> para </a:t>
            </a:r>
            <a:r>
              <a:rPr dirty="0" err="1"/>
              <a:t>interpretar</a:t>
            </a:r>
            <a:r>
              <a:rPr dirty="0"/>
              <a:t> e </a:t>
            </a:r>
            <a:r>
              <a:rPr dirty="0" err="1"/>
              <a:t>validar</a:t>
            </a:r>
            <a:r>
              <a:rPr dirty="0"/>
              <a:t> as </a:t>
            </a:r>
            <a:r>
              <a:rPr dirty="0" err="1"/>
              <a:t>operações</a:t>
            </a:r>
            <a:r>
              <a:rPr dirty="0"/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2057400"/>
            <a:ext cx="4160520" cy="2926080"/>
          </a:xfrm>
          <a:prstGeom prst="roundRect">
            <a:avLst/>
          </a:prstGeom>
          <a:solidFill>
            <a:srgbClr val="E9F6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42631" y="2185416"/>
            <a:ext cx="3831335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366"/>
                </a:solidFill>
                <a:latin typeface="Noto Sans"/>
              </a:rPr>
              <a:t>Metadados = dados sobre dados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2631" y="2587752"/>
            <a:ext cx="3740701" cy="127573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10" b="0" i="0">
                <a:solidFill>
                  <a:srgbClr val="202020"/>
                </a:solidFill>
                <a:latin typeface="Noto Sans"/>
              </a:rPr>
              <a:t>Exemplos: nome das tabelas, nomes das colunas, tipos de dados, tamanhos, restrições, relacionamentos, objetos e permissões.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1138428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Noto Sans"/>
              </a:rPr>
              <a:t>Sistemas de Banco de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338560" cy="51206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02020"/>
                </a:solidFill>
                <a:latin typeface="Noto Sans"/>
              </a:rPr>
              <a:t>Metadados na prática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542287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84848"/>
            <a:ext cx="1542287" cy="731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84848"/>
            <a:ext cx="1542287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84848"/>
            <a:ext cx="1542287" cy="7315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84848"/>
            <a:ext cx="1542287" cy="731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84848"/>
            <a:ext cx="1542287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84848"/>
            <a:ext cx="1542287" cy="7315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84848"/>
            <a:ext cx="1542287" cy="73152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1874519"/>
            <a:ext cx="10972800" cy="6217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30" b="0" i="0" dirty="0">
                <a:solidFill>
                  <a:srgbClr val="202020"/>
                </a:solidFill>
                <a:latin typeface="Noto Sans"/>
              </a:rPr>
              <a:t>O valor </a:t>
            </a:r>
            <a:r>
              <a:rPr sz="1730" b="0" i="0" dirty="0" err="1">
                <a:solidFill>
                  <a:srgbClr val="202020"/>
                </a:solidFill>
                <a:latin typeface="Noto Sans"/>
              </a:rPr>
              <a:t>armazenado</a:t>
            </a:r>
            <a:r>
              <a:rPr sz="1730" b="0" i="0" dirty="0">
                <a:solidFill>
                  <a:srgbClr val="202020"/>
                </a:solidFill>
                <a:latin typeface="Noto Sans"/>
              </a:rPr>
              <a:t> é o dado. A </a:t>
            </a:r>
            <a:r>
              <a:rPr sz="1730" b="0" i="0" dirty="0" err="1">
                <a:solidFill>
                  <a:srgbClr val="202020"/>
                </a:solidFill>
                <a:latin typeface="Noto Sans"/>
              </a:rPr>
              <a:t>definição</a:t>
            </a:r>
            <a:r>
              <a:rPr sz="173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30" b="0" i="0" dirty="0" err="1">
                <a:solidFill>
                  <a:srgbClr val="202020"/>
                </a:solidFill>
                <a:latin typeface="Noto Sans"/>
              </a:rPr>
              <a:t>que</a:t>
            </a:r>
            <a:r>
              <a:rPr sz="173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30" b="0" i="0" dirty="0" err="1">
                <a:solidFill>
                  <a:srgbClr val="202020"/>
                </a:solidFill>
                <a:latin typeface="Noto Sans"/>
              </a:rPr>
              <a:t>explica</a:t>
            </a:r>
            <a:r>
              <a:rPr sz="173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30" b="0" i="0" dirty="0" err="1">
                <a:solidFill>
                  <a:srgbClr val="202020"/>
                </a:solidFill>
                <a:latin typeface="Noto Sans"/>
              </a:rPr>
              <a:t>como</a:t>
            </a:r>
            <a:r>
              <a:rPr sz="173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30" b="0" i="0" dirty="0" err="1">
                <a:solidFill>
                  <a:srgbClr val="202020"/>
                </a:solidFill>
                <a:latin typeface="Noto Sans"/>
              </a:rPr>
              <a:t>aquele</a:t>
            </a:r>
            <a:r>
              <a:rPr sz="1730" b="0" i="0" dirty="0">
                <a:solidFill>
                  <a:srgbClr val="202020"/>
                </a:solidFill>
                <a:latin typeface="Noto Sans"/>
              </a:rPr>
              <a:t> valor </a:t>
            </a:r>
            <a:r>
              <a:rPr sz="1730" b="0" i="0" dirty="0" err="1">
                <a:solidFill>
                  <a:srgbClr val="202020"/>
                </a:solidFill>
                <a:latin typeface="Noto Sans"/>
              </a:rPr>
              <a:t>deve</a:t>
            </a:r>
            <a:r>
              <a:rPr sz="1730" b="0" i="0" dirty="0">
                <a:solidFill>
                  <a:srgbClr val="202020"/>
                </a:solidFill>
                <a:latin typeface="Noto Sans"/>
              </a:rPr>
              <a:t> ser </a:t>
            </a:r>
            <a:r>
              <a:rPr sz="1730" b="0" i="0" dirty="0" err="1">
                <a:solidFill>
                  <a:srgbClr val="202020"/>
                </a:solidFill>
                <a:latin typeface="Noto Sans"/>
              </a:rPr>
              <a:t>interpretado</a:t>
            </a:r>
            <a:r>
              <a:rPr sz="1730" b="0" i="0" dirty="0">
                <a:solidFill>
                  <a:srgbClr val="202020"/>
                </a:solidFill>
                <a:latin typeface="Noto Sans"/>
              </a:rPr>
              <a:t> é </a:t>
            </a:r>
            <a:r>
              <a:rPr sz="1730" b="0" i="0" dirty="0" err="1">
                <a:solidFill>
                  <a:srgbClr val="202020"/>
                </a:solidFill>
                <a:latin typeface="Noto Sans"/>
              </a:rPr>
              <a:t>metadado</a:t>
            </a:r>
            <a:r>
              <a:rPr sz="1730" b="0" i="0" dirty="0">
                <a:solidFill>
                  <a:srgbClr val="202020"/>
                </a:solidFill>
                <a:latin typeface="Noto Sans"/>
              </a:rPr>
              <a:t>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914400" y="2697480"/>
          <a:ext cx="1037843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93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91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Noto Sans"/>
                        </a:rPr>
                        <a:t>Dado armazenado</a:t>
                      </a:r>
                    </a:p>
                  </a:txBody>
                  <a:tcPr marL="73152" marR="73152" marT="36576" marB="36576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dirty="0" err="1">
                          <a:solidFill>
                            <a:srgbClr val="FFFFFF"/>
                          </a:solidFill>
                          <a:latin typeface="Noto Sans"/>
                        </a:rPr>
                        <a:t>Metadado</a:t>
                      </a:r>
                      <a:r>
                        <a:rPr sz="1650" b="1" dirty="0">
                          <a:solidFill>
                            <a:srgbClr val="FFFFFF"/>
                          </a:solidFill>
                          <a:latin typeface="Noto Sans"/>
                        </a:rPr>
                        <a:t> </a:t>
                      </a:r>
                      <a:r>
                        <a:rPr sz="1650" b="1" dirty="0" err="1">
                          <a:solidFill>
                            <a:srgbClr val="FFFFFF"/>
                          </a:solidFill>
                          <a:latin typeface="Noto Sans"/>
                        </a:rPr>
                        <a:t>que</a:t>
                      </a:r>
                      <a:r>
                        <a:rPr sz="1650" b="1" dirty="0">
                          <a:solidFill>
                            <a:srgbClr val="FFFFFF"/>
                          </a:solidFill>
                          <a:latin typeface="Noto Sans"/>
                        </a:rPr>
                        <a:t> o </a:t>
                      </a:r>
                      <a:r>
                        <a:rPr sz="1650" b="1" dirty="0" err="1">
                          <a:solidFill>
                            <a:srgbClr val="FFFFFF"/>
                          </a:solidFill>
                          <a:latin typeface="Noto Sans"/>
                        </a:rPr>
                        <a:t>descreve</a:t>
                      </a:r>
                      <a:endParaRPr sz="1650" b="1" dirty="0">
                        <a:solidFill>
                          <a:srgbClr val="FFFFFF"/>
                        </a:solidFill>
                        <a:latin typeface="Noto Sans"/>
                      </a:endParaRPr>
                    </a:p>
                  </a:txBody>
                  <a:tcPr marL="73152" marR="73152" marT="36576" marB="36576"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202020"/>
                          </a:solidFill>
                          <a:latin typeface="Noto Sans"/>
                        </a:rPr>
                        <a:t>João da Silva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202020"/>
                          </a:solidFill>
                          <a:latin typeface="Noto Sans"/>
                        </a:rPr>
                        <a:t>nome VARCHAR(100) NOT NULL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202020"/>
                          </a:solidFill>
                          <a:latin typeface="Noto Sans"/>
                        </a:rPr>
                        <a:t>18/08/2026</a:t>
                      </a:r>
                    </a:p>
                  </a:txBody>
                  <a:tcPr marL="73152" marR="73152" marT="36576" marB="36576"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202020"/>
                          </a:solidFill>
                          <a:latin typeface="Noto Sans"/>
                        </a:rPr>
                        <a:t>data_matricula DATE</a:t>
                      </a:r>
                    </a:p>
                  </a:txBody>
                  <a:tcPr marL="73152" marR="73152" marT="36576" marB="36576">
                    <a:solidFill>
                      <a:srgbClr val="F5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202020"/>
                          </a:solidFill>
                          <a:latin typeface="Noto Sans"/>
                        </a:rPr>
                        <a:t>3500,00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202020"/>
                          </a:solidFill>
                          <a:latin typeface="Noto Sans"/>
                        </a:rPr>
                        <a:t>salario NUMERIC(10,2)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650" dirty="0">
                          <a:solidFill>
                            <a:srgbClr val="202020"/>
                          </a:solidFill>
                          <a:latin typeface="Noto Sans"/>
                        </a:rPr>
                        <a:t>42</a:t>
                      </a:r>
                    </a:p>
                  </a:txBody>
                  <a:tcPr marL="73152" marR="73152" marT="36576" marB="36576"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dirty="0" err="1">
                          <a:solidFill>
                            <a:srgbClr val="202020"/>
                          </a:solidFill>
                          <a:latin typeface="Noto Sans"/>
                        </a:rPr>
                        <a:t>id_aluno</a:t>
                      </a:r>
                      <a:r>
                        <a:rPr sz="1650" dirty="0">
                          <a:solidFill>
                            <a:srgbClr val="202020"/>
                          </a:solidFill>
                          <a:latin typeface="Noto Sans"/>
                        </a:rPr>
                        <a:t> INTEGER / </a:t>
                      </a:r>
                      <a:r>
                        <a:rPr sz="1650" dirty="0" err="1">
                          <a:solidFill>
                            <a:srgbClr val="202020"/>
                          </a:solidFill>
                          <a:latin typeface="Noto Sans"/>
                        </a:rPr>
                        <a:t>chave</a:t>
                      </a:r>
                      <a:r>
                        <a:rPr sz="1650" dirty="0">
                          <a:solidFill>
                            <a:srgbClr val="202020"/>
                          </a:solidFill>
                          <a:latin typeface="Noto Sans"/>
                        </a:rPr>
                        <a:t> </a:t>
                      </a:r>
                      <a:r>
                        <a:rPr sz="1650" dirty="0" err="1">
                          <a:solidFill>
                            <a:srgbClr val="202020"/>
                          </a:solidFill>
                          <a:latin typeface="Noto Sans"/>
                        </a:rPr>
                        <a:t>identificadora</a:t>
                      </a:r>
                      <a:endParaRPr sz="1650" dirty="0">
                        <a:solidFill>
                          <a:srgbClr val="202020"/>
                        </a:solidFill>
                        <a:latin typeface="Noto Sans"/>
                      </a:endParaRPr>
                    </a:p>
                  </a:txBody>
                  <a:tcPr marL="73152" marR="73152" marT="36576" marB="36576">
                    <a:solidFill>
                      <a:srgbClr val="F5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1325880" y="5532120"/>
            <a:ext cx="9555480" cy="685800"/>
          </a:xfrm>
          <a:prstGeom prst="roundRect">
            <a:avLst/>
          </a:prstGeom>
          <a:solidFill>
            <a:srgbClr val="FFFAE8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49908" y="5577348"/>
            <a:ext cx="9226296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dirty="0" err="1">
                <a:solidFill>
                  <a:srgbClr val="003366"/>
                </a:solidFill>
                <a:latin typeface="Noto Sans"/>
              </a:rPr>
              <a:t>Pergunta</a:t>
            </a:r>
            <a:r>
              <a:rPr sz="1700" b="1" i="0" dirty="0">
                <a:solidFill>
                  <a:srgbClr val="003366"/>
                </a:solidFill>
                <a:latin typeface="Noto Sans"/>
              </a:rPr>
              <a:t> de </a:t>
            </a:r>
            <a:r>
              <a:rPr sz="1700" b="1" i="0" dirty="0" err="1">
                <a:solidFill>
                  <a:srgbClr val="003366"/>
                </a:solidFill>
                <a:latin typeface="Noto Sans"/>
              </a:rPr>
              <a:t>prova</a:t>
            </a:r>
            <a:endParaRPr sz="1700" b="1" i="0" dirty="0">
              <a:solidFill>
                <a:srgbClr val="003366"/>
              </a:solidFill>
              <a:latin typeface="Noto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75232" y="5939382"/>
            <a:ext cx="9375648" cy="2785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0" b="0" i="0" dirty="0">
                <a:solidFill>
                  <a:srgbClr val="202020"/>
                </a:solidFill>
                <a:latin typeface="Noto Sans"/>
              </a:rPr>
              <a:t>Qual </a:t>
            </a:r>
            <a:r>
              <a:rPr sz="1570" b="0" i="0" dirty="0" err="1">
                <a:solidFill>
                  <a:srgbClr val="202020"/>
                </a:solidFill>
                <a:latin typeface="Noto Sans"/>
              </a:rPr>
              <a:t>componente</a:t>
            </a:r>
            <a:r>
              <a:rPr sz="157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70" b="0" i="0" dirty="0" err="1">
                <a:solidFill>
                  <a:srgbClr val="202020"/>
                </a:solidFill>
                <a:latin typeface="Noto Sans"/>
              </a:rPr>
              <a:t>provê</a:t>
            </a:r>
            <a:r>
              <a:rPr sz="157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70" b="0" i="0" dirty="0" err="1">
                <a:solidFill>
                  <a:srgbClr val="202020"/>
                </a:solidFill>
                <a:latin typeface="Noto Sans"/>
              </a:rPr>
              <a:t>uma</a:t>
            </a:r>
            <a:r>
              <a:rPr sz="157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70" b="0" i="0" dirty="0" err="1">
                <a:solidFill>
                  <a:srgbClr val="202020"/>
                </a:solidFill>
                <a:latin typeface="Noto Sans"/>
              </a:rPr>
              <a:t>descrição</a:t>
            </a:r>
            <a:r>
              <a:rPr sz="157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70" b="0" i="0" dirty="0" err="1">
                <a:solidFill>
                  <a:srgbClr val="202020"/>
                </a:solidFill>
                <a:latin typeface="Noto Sans"/>
              </a:rPr>
              <a:t>concisa</a:t>
            </a:r>
            <a:r>
              <a:rPr sz="1570" b="0" i="0" dirty="0">
                <a:solidFill>
                  <a:srgbClr val="202020"/>
                </a:solidFill>
                <a:latin typeface="Noto Sans"/>
              </a:rPr>
              <a:t> a </a:t>
            </a:r>
            <a:r>
              <a:rPr sz="1570" b="0" i="0" dirty="0" err="1">
                <a:solidFill>
                  <a:srgbClr val="202020"/>
                </a:solidFill>
                <a:latin typeface="Noto Sans"/>
              </a:rPr>
              <a:t>respeito</a:t>
            </a:r>
            <a:r>
              <a:rPr sz="1570" b="0" i="0" dirty="0">
                <a:solidFill>
                  <a:srgbClr val="202020"/>
                </a:solidFill>
                <a:latin typeface="Noto Sans"/>
              </a:rPr>
              <a:t> dos dados?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1138428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Noto Sans"/>
              </a:rPr>
              <a:t>Sistemas de Banco de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338560" cy="51206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dirty="0" err="1">
                <a:solidFill>
                  <a:srgbClr val="202020"/>
                </a:solidFill>
                <a:latin typeface="Noto Sans"/>
              </a:rPr>
              <a:t>Esquema</a:t>
            </a:r>
            <a:r>
              <a:rPr sz="2400" b="1" i="0" dirty="0">
                <a:solidFill>
                  <a:srgbClr val="202020"/>
                </a:solidFill>
                <a:latin typeface="Noto Sans"/>
              </a:rPr>
              <a:t> × </a:t>
            </a:r>
            <a:r>
              <a:rPr sz="2400" b="1" i="0" dirty="0" err="1">
                <a:solidFill>
                  <a:srgbClr val="202020"/>
                </a:solidFill>
                <a:latin typeface="Noto Sans"/>
              </a:rPr>
              <a:t>estado</a:t>
            </a:r>
            <a:r>
              <a:rPr sz="2400" b="1" i="0" dirty="0">
                <a:solidFill>
                  <a:srgbClr val="202020"/>
                </a:solidFill>
                <a:latin typeface="Noto Sans"/>
              </a:rPr>
              <a:t> (</a:t>
            </a:r>
            <a:r>
              <a:rPr sz="2400" b="1" i="0" dirty="0" err="1">
                <a:solidFill>
                  <a:srgbClr val="202020"/>
                </a:solidFill>
                <a:latin typeface="Noto Sans"/>
              </a:rPr>
              <a:t>instância</a:t>
            </a:r>
            <a:r>
              <a:rPr sz="2400" b="1" i="0" dirty="0">
                <a:solidFill>
                  <a:srgbClr val="202020"/>
                </a:solidFill>
                <a:latin typeface="Noto Sans"/>
              </a:rPr>
              <a:t>) do banco de dados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542287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84848"/>
            <a:ext cx="1542287" cy="731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84848"/>
            <a:ext cx="1542287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84848"/>
            <a:ext cx="1542287" cy="7315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84848"/>
            <a:ext cx="1542287" cy="731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84848"/>
            <a:ext cx="1542287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84848"/>
            <a:ext cx="1542287" cy="7315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84848"/>
            <a:ext cx="1542287" cy="73152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1520" y="1965960"/>
            <a:ext cx="5212080" cy="3383280"/>
          </a:xfrm>
          <a:prstGeom prst="roundRect">
            <a:avLst/>
          </a:prstGeom>
          <a:solidFill>
            <a:srgbClr val="E9F6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2093976"/>
            <a:ext cx="4882896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366"/>
                </a:solidFill>
                <a:latin typeface="Noto Sans"/>
              </a:rPr>
              <a:t>Esquema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496312"/>
            <a:ext cx="4771158" cy="16065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 dirty="0" err="1">
                <a:solidFill>
                  <a:srgbClr val="202020"/>
                </a:solidFill>
                <a:latin typeface="Noto Sans"/>
              </a:rPr>
              <a:t>Representa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a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estrutura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definida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para o banco: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tabelas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,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colunas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,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tipos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,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restrições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e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relacionamentos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.</a:t>
            </a:r>
            <a:br>
              <a:rPr dirty="0"/>
            </a:br>
            <a:br>
              <a:rPr dirty="0"/>
            </a:br>
            <a:r>
              <a:rPr dirty="0" err="1"/>
              <a:t>Comandos</a:t>
            </a:r>
            <a:r>
              <a:rPr dirty="0"/>
              <a:t> de </a:t>
            </a:r>
            <a:r>
              <a:rPr dirty="0" err="1"/>
              <a:t>definição</a:t>
            </a:r>
            <a:r>
              <a:rPr dirty="0"/>
              <a:t> de dados, </a:t>
            </a:r>
            <a:r>
              <a:rPr dirty="0" err="1"/>
              <a:t>como</a:t>
            </a:r>
            <a:r>
              <a:rPr dirty="0"/>
              <a:t> CREATE, ALTER e DROP, </a:t>
            </a:r>
            <a:r>
              <a:rPr dirty="0" err="1"/>
              <a:t>modificam</a:t>
            </a:r>
            <a:r>
              <a:rPr dirty="0"/>
              <a:t> o </a:t>
            </a:r>
            <a:r>
              <a:rPr dirty="0" err="1"/>
              <a:t>esquema</a:t>
            </a:r>
            <a:r>
              <a:rPr dirty="0"/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965960"/>
            <a:ext cx="5212080" cy="3383280"/>
          </a:xfrm>
          <a:prstGeom prst="roundRect">
            <a:avLst/>
          </a:prstGeom>
          <a:solidFill>
            <a:srgbClr val="F7FBF3"/>
          </a:solidFill>
          <a:ln w="15240">
            <a:solidFill>
              <a:srgbClr val="31A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28231" y="2093976"/>
            <a:ext cx="4882896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366"/>
                </a:solidFill>
                <a:latin typeface="Noto Sans"/>
              </a:rPr>
              <a:t>Estado ou instância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2496312"/>
            <a:ext cx="4867657" cy="18528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 dirty="0" err="1">
                <a:solidFill>
                  <a:srgbClr val="202020"/>
                </a:solidFill>
                <a:latin typeface="Noto Sans"/>
              </a:rPr>
              <a:t>Representa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o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conteúdo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armazenado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em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determinado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momento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. Cada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inserção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,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atualização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ou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remoção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gera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um novo </a:t>
            </a:r>
            <a:r>
              <a:rPr sz="1600" b="0" i="0" dirty="0" err="1">
                <a:solidFill>
                  <a:srgbClr val="202020"/>
                </a:solidFill>
                <a:latin typeface="Noto Sans"/>
              </a:rPr>
              <a:t>estado</a:t>
            </a:r>
            <a:r>
              <a:rPr sz="1600" b="0" i="0" dirty="0">
                <a:solidFill>
                  <a:srgbClr val="202020"/>
                </a:solidFill>
                <a:latin typeface="Noto Sans"/>
              </a:rPr>
              <a:t> do banco.</a:t>
            </a:r>
            <a:br>
              <a:rPr dirty="0"/>
            </a:br>
            <a:br>
              <a:rPr dirty="0"/>
            </a:br>
            <a:r>
              <a:rPr dirty="0" err="1"/>
              <a:t>Exemplo</a:t>
            </a:r>
            <a:r>
              <a:rPr dirty="0"/>
              <a:t>: </a:t>
            </a:r>
            <a:r>
              <a:rPr dirty="0" err="1"/>
              <a:t>hoje</a:t>
            </a:r>
            <a:r>
              <a:rPr dirty="0"/>
              <a:t> a </a:t>
            </a:r>
            <a:r>
              <a:rPr dirty="0" err="1"/>
              <a:t>tabela</a:t>
            </a:r>
            <a:r>
              <a:rPr dirty="0"/>
              <a:t> ALUNO </a:t>
            </a:r>
            <a:r>
              <a:rPr dirty="0" err="1"/>
              <a:t>possui</a:t>
            </a:r>
            <a:r>
              <a:rPr dirty="0"/>
              <a:t> 500 </a:t>
            </a:r>
            <a:r>
              <a:rPr dirty="0" err="1"/>
              <a:t>registros</a:t>
            </a:r>
            <a:r>
              <a:rPr dirty="0"/>
              <a:t>; </a:t>
            </a:r>
            <a:r>
              <a:rPr dirty="0" err="1"/>
              <a:t>amanhã</a:t>
            </a:r>
            <a:r>
              <a:rPr dirty="0"/>
              <a:t> </a:t>
            </a:r>
            <a:r>
              <a:rPr dirty="0" err="1"/>
              <a:t>poderá</a:t>
            </a:r>
            <a:r>
              <a:rPr dirty="0"/>
              <a:t> </a:t>
            </a:r>
            <a:r>
              <a:rPr dirty="0" err="1"/>
              <a:t>possuir</a:t>
            </a:r>
            <a:r>
              <a:rPr dirty="0"/>
              <a:t> 507.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5623560"/>
            <a:ext cx="8183879" cy="4572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003366"/>
                </a:solidFill>
                <a:latin typeface="Noto Sans"/>
              </a:rPr>
              <a:t>Estrutura = esquema. Conteúdo atual = instância.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1138428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Noto Sans"/>
              </a:rPr>
              <a:t>Sistemas de Banco de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338560" cy="51206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02020"/>
                </a:solidFill>
                <a:latin typeface="Noto Sans"/>
              </a:rPr>
              <a:t>Principais funcionalidades de um SBD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542287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84848"/>
            <a:ext cx="1542287" cy="731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84848"/>
            <a:ext cx="1542287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84848"/>
            <a:ext cx="1542287" cy="7315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84848"/>
            <a:ext cx="1542287" cy="731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84848"/>
            <a:ext cx="1542287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84848"/>
            <a:ext cx="1542287" cy="7315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84848"/>
            <a:ext cx="1542287" cy="73152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2920" y="1965960"/>
            <a:ext cx="3337560" cy="1691640"/>
          </a:xfrm>
          <a:prstGeom prst="roundRect">
            <a:avLst/>
          </a:prstGeom>
          <a:solidFill>
            <a:srgbClr val="F8FB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" y="2093976"/>
            <a:ext cx="3008376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dirty="0">
                <a:solidFill>
                  <a:srgbClr val="003366"/>
                </a:solidFill>
                <a:latin typeface="Noto Sans"/>
              </a:rPr>
              <a:t>Controle de </a:t>
            </a:r>
            <a:r>
              <a:rPr sz="1700" b="1" i="0" dirty="0" err="1">
                <a:solidFill>
                  <a:srgbClr val="003366"/>
                </a:solidFill>
                <a:latin typeface="Noto Sans"/>
              </a:rPr>
              <a:t>redundância</a:t>
            </a:r>
            <a:endParaRPr sz="1700" b="1" i="0" dirty="0">
              <a:solidFill>
                <a:srgbClr val="003366"/>
              </a:solidFill>
              <a:latin typeface="Noto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7512" y="2496312"/>
            <a:ext cx="3008376" cy="71558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70" b="0" i="0" dirty="0">
                <a:solidFill>
                  <a:srgbClr val="202020"/>
                </a:solidFill>
                <a:latin typeface="Noto Sans"/>
              </a:rPr>
              <a:t>Evita </a:t>
            </a:r>
            <a:r>
              <a:rPr sz="1470" b="0" i="0" dirty="0" err="1">
                <a:solidFill>
                  <a:srgbClr val="202020"/>
                </a:solidFill>
                <a:latin typeface="Noto Sans"/>
              </a:rPr>
              <a:t>ou</a:t>
            </a:r>
            <a:r>
              <a:rPr sz="147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470" b="0" i="0" dirty="0" err="1">
                <a:solidFill>
                  <a:srgbClr val="202020"/>
                </a:solidFill>
                <a:latin typeface="Noto Sans"/>
              </a:rPr>
              <a:t>controla</a:t>
            </a:r>
            <a:r>
              <a:rPr sz="147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470" b="0" i="0" dirty="0" err="1">
                <a:solidFill>
                  <a:srgbClr val="202020"/>
                </a:solidFill>
                <a:latin typeface="Noto Sans"/>
              </a:rPr>
              <a:t>cópias</a:t>
            </a:r>
            <a:r>
              <a:rPr sz="147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470" b="0" i="0" dirty="0" err="1">
                <a:solidFill>
                  <a:srgbClr val="202020"/>
                </a:solidFill>
                <a:latin typeface="Noto Sans"/>
              </a:rPr>
              <a:t>desnecessárias</a:t>
            </a:r>
            <a:r>
              <a:rPr sz="1470" b="0" i="0" dirty="0">
                <a:solidFill>
                  <a:srgbClr val="202020"/>
                </a:solidFill>
                <a:latin typeface="Noto Sans"/>
              </a:rPr>
              <a:t> dos </a:t>
            </a:r>
            <a:r>
              <a:rPr sz="1470" b="0" i="0" dirty="0" err="1">
                <a:solidFill>
                  <a:srgbClr val="202020"/>
                </a:solidFill>
                <a:latin typeface="Noto Sans"/>
              </a:rPr>
              <a:t>mesmos</a:t>
            </a:r>
            <a:r>
              <a:rPr sz="1470" b="0" i="0" dirty="0">
                <a:solidFill>
                  <a:srgbClr val="202020"/>
                </a:solidFill>
                <a:latin typeface="Noto Sans"/>
              </a:rPr>
              <a:t> dados.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1965960"/>
            <a:ext cx="3337560" cy="1691640"/>
          </a:xfrm>
          <a:prstGeom prst="roundRect">
            <a:avLst/>
          </a:prstGeom>
          <a:solidFill>
            <a:srgbClr val="F8FB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25112" y="2093976"/>
            <a:ext cx="3008376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366"/>
                </a:solidFill>
                <a:latin typeface="Noto Sans"/>
              </a:rPr>
              <a:t>Integridade e consistência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2496312"/>
            <a:ext cx="3008376" cy="4893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70" b="0" i="0" dirty="0" err="1">
                <a:solidFill>
                  <a:srgbClr val="202020"/>
                </a:solidFill>
                <a:latin typeface="Noto Sans"/>
              </a:rPr>
              <a:t>Aplica</a:t>
            </a:r>
            <a:r>
              <a:rPr sz="147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470" b="0" i="0" dirty="0" err="1">
                <a:solidFill>
                  <a:srgbClr val="202020"/>
                </a:solidFill>
                <a:latin typeface="Noto Sans"/>
              </a:rPr>
              <a:t>regras</a:t>
            </a:r>
            <a:r>
              <a:rPr sz="1470" b="0" i="0" dirty="0">
                <a:solidFill>
                  <a:srgbClr val="202020"/>
                </a:solidFill>
                <a:latin typeface="Noto Sans"/>
              </a:rPr>
              <a:t> para </a:t>
            </a:r>
            <a:r>
              <a:rPr sz="1470" b="0" i="0" dirty="0" err="1">
                <a:solidFill>
                  <a:srgbClr val="202020"/>
                </a:solidFill>
                <a:latin typeface="Noto Sans"/>
              </a:rPr>
              <a:t>impedir</a:t>
            </a:r>
            <a:r>
              <a:rPr sz="147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470" b="0" i="0" dirty="0" err="1">
                <a:solidFill>
                  <a:srgbClr val="202020"/>
                </a:solidFill>
                <a:latin typeface="Noto Sans"/>
              </a:rPr>
              <a:t>estados</a:t>
            </a:r>
            <a:r>
              <a:rPr sz="147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470" b="0" i="0" dirty="0" err="1">
                <a:solidFill>
                  <a:srgbClr val="202020"/>
                </a:solidFill>
                <a:latin typeface="Noto Sans"/>
              </a:rPr>
              <a:t>inválidos</a:t>
            </a:r>
            <a:r>
              <a:rPr sz="1470" b="0" i="0" dirty="0">
                <a:solidFill>
                  <a:srgbClr val="202020"/>
                </a:solidFill>
                <a:latin typeface="Noto Sans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965960"/>
            <a:ext cx="3337560" cy="1691640"/>
          </a:xfrm>
          <a:prstGeom prst="roundRect">
            <a:avLst/>
          </a:prstGeom>
          <a:solidFill>
            <a:srgbClr val="F8FB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82712" y="2093976"/>
            <a:ext cx="3008376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366"/>
                </a:solidFill>
                <a:latin typeface="Noto Sans"/>
              </a:rPr>
              <a:t>Segurança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82712" y="2496312"/>
            <a:ext cx="3098243" cy="4893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70" b="0" i="0" dirty="0" err="1">
                <a:solidFill>
                  <a:srgbClr val="202020"/>
                </a:solidFill>
                <a:latin typeface="Noto Sans"/>
              </a:rPr>
              <a:t>Controla</a:t>
            </a:r>
            <a:r>
              <a:rPr sz="1470" b="0" i="0" dirty="0">
                <a:solidFill>
                  <a:srgbClr val="202020"/>
                </a:solidFill>
                <a:latin typeface="Noto Sans"/>
              </a:rPr>
              <a:t> quem </a:t>
            </a:r>
            <a:r>
              <a:rPr sz="1470" b="0" i="0" dirty="0" err="1">
                <a:solidFill>
                  <a:srgbClr val="202020"/>
                </a:solidFill>
                <a:latin typeface="Noto Sans"/>
              </a:rPr>
              <a:t>pode</a:t>
            </a:r>
            <a:r>
              <a:rPr sz="147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470" b="0" i="0" dirty="0" err="1">
                <a:solidFill>
                  <a:srgbClr val="202020"/>
                </a:solidFill>
                <a:latin typeface="Noto Sans"/>
              </a:rPr>
              <a:t>visualizar</a:t>
            </a:r>
            <a:r>
              <a:rPr sz="147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470" b="0" i="0" dirty="0" err="1">
                <a:solidFill>
                  <a:srgbClr val="202020"/>
                </a:solidFill>
                <a:latin typeface="Noto Sans"/>
              </a:rPr>
              <a:t>ou</a:t>
            </a:r>
            <a:r>
              <a:rPr sz="147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470" b="0" i="0" dirty="0" err="1">
                <a:solidFill>
                  <a:srgbClr val="202020"/>
                </a:solidFill>
                <a:latin typeface="Noto Sans"/>
              </a:rPr>
              <a:t>modificar</a:t>
            </a:r>
            <a:r>
              <a:rPr sz="147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470" b="0" i="0" dirty="0" err="1">
                <a:solidFill>
                  <a:srgbClr val="202020"/>
                </a:solidFill>
                <a:latin typeface="Noto Sans"/>
              </a:rPr>
              <a:t>informações</a:t>
            </a:r>
            <a:r>
              <a:rPr sz="1470" b="0" i="0" dirty="0">
                <a:solidFill>
                  <a:srgbClr val="202020"/>
                </a:solidFill>
                <a:latin typeface="Noto Sans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069080"/>
            <a:ext cx="3337560" cy="1691640"/>
          </a:xfrm>
          <a:prstGeom prst="roundRect">
            <a:avLst/>
          </a:prstGeom>
          <a:solidFill>
            <a:srgbClr val="F8FB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" y="4197096"/>
            <a:ext cx="3008376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366"/>
                </a:solidFill>
                <a:latin typeface="Noto Sans"/>
              </a:rPr>
              <a:t>Compartilhamento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" y="4599432"/>
            <a:ext cx="3008376" cy="71558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70" b="0" i="0">
                <a:solidFill>
                  <a:srgbClr val="202020"/>
                </a:solidFill>
                <a:latin typeface="Noto Sans"/>
              </a:rPr>
              <a:t>Permite acesso aos mesmos dados por múltiplos usuários e sistemas.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60520" y="4069080"/>
            <a:ext cx="3337560" cy="1691640"/>
          </a:xfrm>
          <a:prstGeom prst="roundRect">
            <a:avLst/>
          </a:prstGeom>
          <a:solidFill>
            <a:srgbClr val="F8FB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25112" y="4197096"/>
            <a:ext cx="3008376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366"/>
                </a:solidFill>
                <a:latin typeface="Noto Sans"/>
              </a:rPr>
              <a:t>Concorrência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5112" y="4599432"/>
            <a:ext cx="2921262" cy="4893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70" b="0" i="0">
                <a:solidFill>
                  <a:srgbClr val="202020"/>
                </a:solidFill>
                <a:latin typeface="Noto Sans"/>
              </a:rPr>
              <a:t>Coordena transações que ocorrem simultaneamente.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18120" y="4069080"/>
            <a:ext cx="3337560" cy="1691640"/>
          </a:xfrm>
          <a:prstGeom prst="roundRect">
            <a:avLst/>
          </a:prstGeom>
          <a:solidFill>
            <a:srgbClr val="F8FB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82712" y="4197096"/>
            <a:ext cx="3008376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366"/>
                </a:solidFill>
                <a:latin typeface="Noto Sans"/>
              </a:rPr>
              <a:t>Backup e recuperação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82712" y="4599432"/>
            <a:ext cx="2862269" cy="71558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70" b="0" i="0">
                <a:solidFill>
                  <a:srgbClr val="202020"/>
                </a:solidFill>
                <a:latin typeface="Noto Sans"/>
              </a:rPr>
              <a:t>Ajuda a restaurar o banco após falhas de hardware ou software.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1138428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Noto Sans"/>
              </a:rPr>
              <a:t>Sistemas de Banco de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338560" cy="51206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dirty="0" err="1">
                <a:solidFill>
                  <a:srgbClr val="202020"/>
                </a:solidFill>
                <a:latin typeface="Noto Sans"/>
              </a:rPr>
              <a:t>Redundância</a:t>
            </a:r>
            <a:r>
              <a:rPr sz="2400" b="1" i="0" dirty="0">
                <a:solidFill>
                  <a:srgbClr val="202020"/>
                </a:solidFill>
                <a:latin typeface="Noto Sans"/>
              </a:rPr>
              <a:t>, </a:t>
            </a:r>
            <a:r>
              <a:rPr sz="2400" b="1" i="0" dirty="0" err="1">
                <a:solidFill>
                  <a:srgbClr val="202020"/>
                </a:solidFill>
                <a:latin typeface="Noto Sans"/>
              </a:rPr>
              <a:t>inconsistência</a:t>
            </a:r>
            <a:r>
              <a:rPr sz="2400" b="1" i="0" dirty="0">
                <a:solidFill>
                  <a:srgbClr val="202020"/>
                </a:solidFill>
                <a:latin typeface="Noto Sans"/>
              </a:rPr>
              <a:t> e </a:t>
            </a:r>
            <a:r>
              <a:rPr sz="2400" b="1" i="0" dirty="0" err="1">
                <a:solidFill>
                  <a:srgbClr val="202020"/>
                </a:solidFill>
                <a:latin typeface="Noto Sans"/>
              </a:rPr>
              <a:t>integridade</a:t>
            </a:r>
            <a:endParaRPr sz="2400" b="1" i="0" dirty="0">
              <a:solidFill>
                <a:srgbClr val="202020"/>
              </a:solidFill>
              <a:latin typeface="Noto San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542287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84848"/>
            <a:ext cx="1542287" cy="731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84848"/>
            <a:ext cx="1542287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84848"/>
            <a:ext cx="1542287" cy="7315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84848"/>
            <a:ext cx="1542287" cy="731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84848"/>
            <a:ext cx="1542287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84848"/>
            <a:ext cx="1542287" cy="7315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84848"/>
            <a:ext cx="1542287" cy="73152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1901952"/>
            <a:ext cx="5989320" cy="233172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1720">
                <a:solidFill>
                  <a:srgbClr val="202020"/>
                </a:solidFill>
                <a:latin typeface="Noto Sans"/>
              </a:defRPr>
            </a:pPr>
            <a:r>
              <a:rPr dirty="0" err="1"/>
              <a:t>Redundância</a:t>
            </a:r>
            <a:r>
              <a:rPr dirty="0"/>
              <a:t> </a:t>
            </a:r>
            <a:r>
              <a:rPr dirty="0" err="1"/>
              <a:t>ocorre</a:t>
            </a:r>
            <a:r>
              <a:rPr dirty="0"/>
              <a:t> </a:t>
            </a:r>
            <a:r>
              <a:rPr dirty="0" err="1"/>
              <a:t>quando</a:t>
            </a:r>
            <a:r>
              <a:rPr dirty="0"/>
              <a:t> a </a:t>
            </a:r>
            <a:r>
              <a:rPr dirty="0" err="1"/>
              <a:t>mesma</a:t>
            </a:r>
            <a:r>
              <a:rPr dirty="0"/>
              <a:t> </a:t>
            </a:r>
            <a:r>
              <a:rPr dirty="0" err="1"/>
              <a:t>informação</a:t>
            </a:r>
            <a:r>
              <a:rPr dirty="0"/>
              <a:t> é </a:t>
            </a:r>
            <a:r>
              <a:rPr dirty="0" err="1"/>
              <a:t>mantida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vários</a:t>
            </a:r>
            <a:r>
              <a:rPr dirty="0"/>
              <a:t> </a:t>
            </a:r>
            <a:r>
              <a:rPr dirty="0" err="1"/>
              <a:t>locais</a:t>
            </a:r>
            <a:r>
              <a:rPr dirty="0"/>
              <a:t>. Ela </a:t>
            </a:r>
            <a:r>
              <a:rPr dirty="0" err="1"/>
              <a:t>pode</a:t>
            </a:r>
            <a:r>
              <a:rPr dirty="0"/>
              <a:t> </a:t>
            </a:r>
            <a:r>
              <a:rPr dirty="0" err="1"/>
              <a:t>aumentar</a:t>
            </a:r>
            <a:r>
              <a:rPr dirty="0"/>
              <a:t> </a:t>
            </a:r>
            <a:r>
              <a:rPr dirty="0" err="1"/>
              <a:t>custo</a:t>
            </a:r>
            <a:r>
              <a:rPr dirty="0"/>
              <a:t> de </a:t>
            </a:r>
            <a:r>
              <a:rPr dirty="0" err="1"/>
              <a:t>manutenção</a:t>
            </a:r>
            <a:r>
              <a:rPr dirty="0"/>
              <a:t> e </a:t>
            </a:r>
            <a:r>
              <a:rPr dirty="0" err="1"/>
              <a:t>abrir</a:t>
            </a:r>
            <a:r>
              <a:rPr dirty="0"/>
              <a:t> </a:t>
            </a:r>
            <a:r>
              <a:rPr dirty="0" err="1"/>
              <a:t>espaço</a:t>
            </a:r>
            <a:r>
              <a:rPr dirty="0"/>
              <a:t> para </a:t>
            </a:r>
            <a:r>
              <a:rPr dirty="0" err="1"/>
              <a:t>inconsistências</a:t>
            </a:r>
            <a:r>
              <a:rPr dirty="0"/>
              <a:t> </a:t>
            </a:r>
            <a:r>
              <a:rPr dirty="0" err="1"/>
              <a:t>quando</a:t>
            </a:r>
            <a:r>
              <a:rPr dirty="0"/>
              <a:t> as </a:t>
            </a:r>
            <a:r>
              <a:rPr dirty="0" err="1"/>
              <a:t>cópias</a:t>
            </a:r>
            <a:r>
              <a:rPr dirty="0"/>
              <a:t> </a:t>
            </a:r>
            <a:r>
              <a:rPr dirty="0" err="1"/>
              <a:t>deixam</a:t>
            </a:r>
            <a:r>
              <a:rPr dirty="0"/>
              <a:t> de </a:t>
            </a:r>
            <a:r>
              <a:rPr dirty="0" err="1"/>
              <a:t>representar</a:t>
            </a:r>
            <a:r>
              <a:rPr dirty="0"/>
              <a:t> o </a:t>
            </a:r>
            <a:r>
              <a:rPr dirty="0" err="1"/>
              <a:t>mesmo</a:t>
            </a:r>
            <a:r>
              <a:rPr dirty="0"/>
              <a:t> </a:t>
            </a:r>
            <a:r>
              <a:rPr dirty="0" err="1"/>
              <a:t>fato</a:t>
            </a:r>
            <a:r>
              <a:rPr dirty="0"/>
              <a:t>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720">
                <a:solidFill>
                  <a:srgbClr val="202020"/>
                </a:solidFill>
                <a:latin typeface="Noto Sans"/>
              </a:defRPr>
            </a:pPr>
            <a:r>
              <a:rPr dirty="0"/>
              <a:t>Um SGBD </a:t>
            </a:r>
            <a:r>
              <a:rPr dirty="0" err="1"/>
              <a:t>procura</a:t>
            </a:r>
            <a:r>
              <a:rPr dirty="0"/>
              <a:t> </a:t>
            </a:r>
            <a:r>
              <a:rPr dirty="0" err="1"/>
              <a:t>controlar</a:t>
            </a:r>
            <a:r>
              <a:rPr dirty="0"/>
              <a:t> a </a:t>
            </a:r>
            <a:r>
              <a:rPr dirty="0" err="1"/>
              <a:t>redundância</a:t>
            </a:r>
            <a:r>
              <a:rPr dirty="0"/>
              <a:t> e </a:t>
            </a:r>
            <a:r>
              <a:rPr dirty="0" err="1"/>
              <a:t>aplicar</a:t>
            </a:r>
            <a:r>
              <a:rPr dirty="0"/>
              <a:t> </a:t>
            </a:r>
            <a:r>
              <a:rPr dirty="0" err="1"/>
              <a:t>regras</a:t>
            </a:r>
            <a:r>
              <a:rPr dirty="0"/>
              <a:t> de </a:t>
            </a:r>
            <a:r>
              <a:rPr dirty="0" err="1"/>
              <a:t>integridade</a:t>
            </a:r>
            <a:r>
              <a:rPr dirty="0"/>
              <a:t> para </a:t>
            </a:r>
            <a:r>
              <a:rPr dirty="0" err="1"/>
              <a:t>preservar</a:t>
            </a:r>
            <a:r>
              <a:rPr dirty="0"/>
              <a:t> </a:t>
            </a:r>
            <a:r>
              <a:rPr dirty="0" err="1"/>
              <a:t>estados</a:t>
            </a:r>
            <a:r>
              <a:rPr dirty="0"/>
              <a:t> </a:t>
            </a:r>
            <a:r>
              <a:rPr dirty="0" err="1"/>
              <a:t>válidos</a:t>
            </a:r>
            <a:r>
              <a:rPr dirty="0"/>
              <a:t> do banco.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812280" y="1965960"/>
          <a:ext cx="47091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580" b="1">
                          <a:solidFill>
                            <a:srgbClr val="FFFFFF"/>
                          </a:solidFill>
                          <a:latin typeface="Noto Sans"/>
                        </a:rPr>
                        <a:t>Arquivo</a:t>
                      </a:r>
                    </a:p>
                  </a:txBody>
                  <a:tcPr marL="73152" marR="73152" marT="36576" marB="36576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80" b="1">
                          <a:solidFill>
                            <a:srgbClr val="FFFFFF"/>
                          </a:solidFill>
                          <a:latin typeface="Noto Sans"/>
                        </a:rPr>
                        <a:t>Endereço do cliente 102</a:t>
                      </a:r>
                    </a:p>
                  </a:txBody>
                  <a:tcPr marL="73152" marR="73152" marT="36576" marB="36576"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580">
                          <a:solidFill>
                            <a:srgbClr val="202020"/>
                          </a:solidFill>
                          <a:latin typeface="Noto Sans"/>
                        </a:rPr>
                        <a:t>Vendas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80">
                          <a:solidFill>
                            <a:srgbClr val="202020"/>
                          </a:solidFill>
                          <a:latin typeface="Noto Sans"/>
                        </a:rPr>
                        <a:t>Rua A, 120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580">
                          <a:solidFill>
                            <a:srgbClr val="202020"/>
                          </a:solidFill>
                          <a:latin typeface="Noto Sans"/>
                        </a:rPr>
                        <a:t>Financeiro</a:t>
                      </a:r>
                    </a:p>
                  </a:txBody>
                  <a:tcPr marL="73152" marR="73152" marT="36576" marB="36576"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80">
                          <a:solidFill>
                            <a:srgbClr val="202020"/>
                          </a:solidFill>
                          <a:latin typeface="Noto Sans"/>
                        </a:rPr>
                        <a:t>Rua A, 120</a:t>
                      </a:r>
                    </a:p>
                  </a:txBody>
                  <a:tcPr marL="73152" marR="73152" marT="36576" marB="36576">
                    <a:solidFill>
                      <a:srgbClr val="F5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580">
                          <a:solidFill>
                            <a:srgbClr val="202020"/>
                          </a:solidFill>
                          <a:latin typeface="Noto Sans"/>
                        </a:rPr>
                        <a:t>Suporte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80">
                          <a:solidFill>
                            <a:srgbClr val="202020"/>
                          </a:solidFill>
                          <a:latin typeface="Noto Sans"/>
                        </a:rPr>
                        <a:t>Rua B, 45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970786" y="4795192"/>
            <a:ext cx="10287000" cy="1051560"/>
          </a:xfrm>
          <a:prstGeom prst="roundRect">
            <a:avLst/>
          </a:prstGeom>
          <a:solidFill>
            <a:srgbClr val="FFFAE8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" y="4837176"/>
            <a:ext cx="9957816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366"/>
                </a:solidFill>
                <a:latin typeface="Noto Sans"/>
              </a:rPr>
              <a:t>Decisão de projeto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5239512"/>
            <a:ext cx="9957816" cy="5232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80" b="0" i="0" dirty="0">
                <a:solidFill>
                  <a:srgbClr val="202020"/>
                </a:solidFill>
                <a:latin typeface="Noto Sans"/>
              </a:rPr>
              <a:t>O </a:t>
            </a:r>
            <a:r>
              <a:rPr sz="1580" b="0" i="0" dirty="0" err="1">
                <a:solidFill>
                  <a:srgbClr val="202020"/>
                </a:solidFill>
                <a:latin typeface="Noto Sans"/>
              </a:rPr>
              <a:t>objetivo</a:t>
            </a:r>
            <a:r>
              <a:rPr sz="158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80" b="0" i="0" dirty="0" err="1">
                <a:solidFill>
                  <a:srgbClr val="202020"/>
                </a:solidFill>
                <a:latin typeface="Noto Sans"/>
              </a:rPr>
              <a:t>não</a:t>
            </a:r>
            <a:r>
              <a:rPr sz="1580" b="0" i="0" dirty="0">
                <a:solidFill>
                  <a:srgbClr val="202020"/>
                </a:solidFill>
                <a:latin typeface="Noto Sans"/>
              </a:rPr>
              <a:t> é </a:t>
            </a:r>
            <a:r>
              <a:rPr sz="1580" b="0" i="0" dirty="0" err="1">
                <a:solidFill>
                  <a:srgbClr val="202020"/>
                </a:solidFill>
                <a:latin typeface="Noto Sans"/>
              </a:rPr>
              <a:t>prometer</a:t>
            </a:r>
            <a:r>
              <a:rPr sz="1580" b="0" i="0" dirty="0">
                <a:solidFill>
                  <a:srgbClr val="202020"/>
                </a:solidFill>
                <a:latin typeface="Noto Sans"/>
              </a:rPr>
              <a:t> “zero </a:t>
            </a:r>
            <a:r>
              <a:rPr sz="1580" b="0" i="0" dirty="0" err="1">
                <a:solidFill>
                  <a:srgbClr val="202020"/>
                </a:solidFill>
                <a:latin typeface="Noto Sans"/>
              </a:rPr>
              <a:t>redundância</a:t>
            </a:r>
            <a:r>
              <a:rPr sz="1580" b="0" i="0" dirty="0">
                <a:solidFill>
                  <a:srgbClr val="202020"/>
                </a:solidFill>
                <a:latin typeface="Noto Sans"/>
              </a:rPr>
              <a:t>”, e sim </a:t>
            </a:r>
            <a:r>
              <a:rPr sz="1580" b="0" i="0" dirty="0" err="1">
                <a:solidFill>
                  <a:srgbClr val="202020"/>
                </a:solidFill>
                <a:latin typeface="Noto Sans"/>
              </a:rPr>
              <a:t>manter</a:t>
            </a:r>
            <a:r>
              <a:rPr sz="1580" b="0" i="0" dirty="0">
                <a:solidFill>
                  <a:srgbClr val="202020"/>
                </a:solidFill>
                <a:latin typeface="Noto Sans"/>
              </a:rPr>
              <a:t> a </a:t>
            </a:r>
            <a:r>
              <a:rPr sz="1580" b="0" i="0" dirty="0" err="1">
                <a:solidFill>
                  <a:srgbClr val="202020"/>
                </a:solidFill>
                <a:latin typeface="Noto Sans"/>
              </a:rPr>
              <a:t>redundância</a:t>
            </a:r>
            <a:r>
              <a:rPr sz="1580" b="0" i="0" dirty="0">
                <a:solidFill>
                  <a:srgbClr val="202020"/>
                </a:solidFill>
                <a:latin typeface="Noto Sans"/>
              </a:rPr>
              <a:t> sob </a:t>
            </a:r>
            <a:r>
              <a:rPr sz="1580" b="0" i="0" dirty="0" err="1">
                <a:solidFill>
                  <a:srgbClr val="202020"/>
                </a:solidFill>
                <a:latin typeface="Noto Sans"/>
              </a:rPr>
              <a:t>controle</a:t>
            </a:r>
            <a:r>
              <a:rPr sz="1580" b="0" i="0" dirty="0">
                <a:solidFill>
                  <a:srgbClr val="202020"/>
                </a:solidFill>
                <a:latin typeface="Noto Sans"/>
              </a:rPr>
              <a:t> e </a:t>
            </a:r>
            <a:r>
              <a:rPr sz="1580" b="0" i="0" dirty="0" err="1">
                <a:solidFill>
                  <a:srgbClr val="202020"/>
                </a:solidFill>
                <a:latin typeface="Noto Sans"/>
              </a:rPr>
              <a:t>impedir</a:t>
            </a:r>
            <a:r>
              <a:rPr sz="158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80" b="0" i="0" dirty="0" err="1">
                <a:solidFill>
                  <a:srgbClr val="202020"/>
                </a:solidFill>
                <a:latin typeface="Noto Sans"/>
              </a:rPr>
              <a:t>que</a:t>
            </a:r>
            <a:r>
              <a:rPr sz="158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80" b="0" i="0" dirty="0" err="1">
                <a:solidFill>
                  <a:srgbClr val="202020"/>
                </a:solidFill>
                <a:latin typeface="Noto Sans"/>
              </a:rPr>
              <a:t>ela</a:t>
            </a:r>
            <a:r>
              <a:rPr sz="158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80" b="0" i="0" dirty="0" err="1">
                <a:solidFill>
                  <a:srgbClr val="202020"/>
                </a:solidFill>
                <a:latin typeface="Noto Sans"/>
              </a:rPr>
              <a:t>comprometa</a:t>
            </a:r>
            <a:r>
              <a:rPr sz="1580" b="0" i="0" dirty="0">
                <a:solidFill>
                  <a:srgbClr val="202020"/>
                </a:solidFill>
                <a:latin typeface="Noto Sans"/>
              </a:rPr>
              <a:t> a </a:t>
            </a:r>
            <a:r>
              <a:rPr sz="1580" b="0" i="0" dirty="0" err="1">
                <a:solidFill>
                  <a:srgbClr val="202020"/>
                </a:solidFill>
                <a:latin typeface="Noto Sans"/>
              </a:rPr>
              <a:t>consistência</a:t>
            </a:r>
            <a:r>
              <a:rPr sz="1580" b="0" i="0" dirty="0">
                <a:solidFill>
                  <a:srgbClr val="202020"/>
                </a:solidFill>
                <a:latin typeface="Noto Sans"/>
              </a:rPr>
              <a:t> dos dados.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1138428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Noto Sans"/>
              </a:rPr>
              <a:t>Sistemas de Banco de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338560" cy="51206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02020"/>
                </a:solidFill>
                <a:latin typeface="Noto Sans"/>
              </a:rPr>
              <a:t>Segurança e controle de acesso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542287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84848"/>
            <a:ext cx="1542287" cy="731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84848"/>
            <a:ext cx="1542287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84848"/>
            <a:ext cx="1542287" cy="7315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84848"/>
            <a:ext cx="1542287" cy="731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84848"/>
            <a:ext cx="1542287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84848"/>
            <a:ext cx="1542287" cy="7315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84848"/>
            <a:ext cx="1542287" cy="73152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1901952"/>
            <a:ext cx="10762487" cy="5663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0" b="0" i="0" dirty="0">
                <a:solidFill>
                  <a:srgbClr val="202020"/>
                </a:solidFill>
                <a:latin typeface="Noto Sans"/>
              </a:rPr>
              <a:t>Nem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todo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usuário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deve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poder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executar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as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mesmas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operações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. O SGBD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pode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associar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privilégios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a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usuários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e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perfis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,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permitindo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ou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negando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ações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sobre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os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dados.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926080"/>
            <a:ext cx="3337560" cy="2057400"/>
          </a:xfrm>
          <a:prstGeom prst="roundRect">
            <a:avLst/>
          </a:prstGeom>
          <a:solidFill>
            <a:srgbClr val="E9F6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" y="3054096"/>
            <a:ext cx="3008376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366"/>
                </a:solidFill>
                <a:latin typeface="Noto Sans"/>
              </a:rPr>
              <a:t>Aluno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456432"/>
            <a:ext cx="2936832" cy="1003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0" b="0" i="0" dirty="0">
                <a:solidFill>
                  <a:srgbClr val="202020"/>
                </a:solidFill>
                <a:latin typeface="Noto Sans"/>
              </a:rPr>
              <a:t>Pode </a:t>
            </a:r>
            <a:r>
              <a:rPr sz="1570" b="0" i="0" dirty="0" err="1">
                <a:solidFill>
                  <a:srgbClr val="202020"/>
                </a:solidFill>
                <a:latin typeface="Noto Sans"/>
              </a:rPr>
              <a:t>consultar</a:t>
            </a:r>
            <a:r>
              <a:rPr sz="157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70" b="0" i="0" dirty="0" err="1">
                <a:solidFill>
                  <a:srgbClr val="202020"/>
                </a:solidFill>
                <a:latin typeface="Noto Sans"/>
              </a:rPr>
              <a:t>suas</a:t>
            </a:r>
            <a:r>
              <a:rPr sz="157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70" b="0" i="0" dirty="0" err="1">
                <a:solidFill>
                  <a:srgbClr val="202020"/>
                </a:solidFill>
                <a:latin typeface="Noto Sans"/>
              </a:rPr>
              <a:t>próprias</a:t>
            </a:r>
            <a:r>
              <a:rPr sz="157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70" b="0" i="0" dirty="0" err="1">
                <a:solidFill>
                  <a:srgbClr val="202020"/>
                </a:solidFill>
                <a:latin typeface="Noto Sans"/>
              </a:rPr>
              <a:t>notas</a:t>
            </a:r>
            <a:r>
              <a:rPr sz="1570" b="0" i="0" dirty="0">
                <a:solidFill>
                  <a:srgbClr val="202020"/>
                </a:solidFill>
                <a:latin typeface="Noto Sans"/>
              </a:rPr>
              <a:t> e dados </a:t>
            </a:r>
            <a:r>
              <a:rPr sz="1570" b="0" i="0" dirty="0" err="1">
                <a:solidFill>
                  <a:srgbClr val="202020"/>
                </a:solidFill>
                <a:latin typeface="Noto Sans"/>
              </a:rPr>
              <a:t>cadastrais</a:t>
            </a:r>
            <a:r>
              <a:rPr sz="1570" b="0" i="0" dirty="0">
                <a:solidFill>
                  <a:srgbClr val="202020"/>
                </a:solidFill>
                <a:latin typeface="Noto Sans"/>
              </a:rPr>
              <a:t>, mas </a:t>
            </a:r>
            <a:r>
              <a:rPr sz="1570" b="0" i="0" dirty="0" err="1">
                <a:solidFill>
                  <a:srgbClr val="202020"/>
                </a:solidFill>
                <a:latin typeface="Noto Sans"/>
              </a:rPr>
              <a:t>não</a:t>
            </a:r>
            <a:r>
              <a:rPr sz="157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70" b="0" i="0" dirty="0" err="1">
                <a:solidFill>
                  <a:srgbClr val="202020"/>
                </a:solidFill>
                <a:latin typeface="Noto Sans"/>
              </a:rPr>
              <a:t>deve</a:t>
            </a:r>
            <a:r>
              <a:rPr sz="157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70" b="0" i="0" dirty="0" err="1">
                <a:solidFill>
                  <a:srgbClr val="202020"/>
                </a:solidFill>
                <a:latin typeface="Noto Sans"/>
              </a:rPr>
              <a:t>alterar</a:t>
            </a:r>
            <a:r>
              <a:rPr sz="1570" b="0" i="0" dirty="0">
                <a:solidFill>
                  <a:srgbClr val="202020"/>
                </a:solidFill>
                <a:latin typeface="Noto Sans"/>
              </a:rPr>
              <a:t> a nota </a:t>
            </a:r>
            <a:r>
              <a:rPr sz="1570" b="0" i="0" dirty="0" err="1">
                <a:solidFill>
                  <a:srgbClr val="202020"/>
                </a:solidFill>
                <a:latin typeface="Noto Sans"/>
              </a:rPr>
              <a:t>lançada</a:t>
            </a:r>
            <a:r>
              <a:rPr sz="157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70" b="0" i="0" dirty="0" err="1">
                <a:solidFill>
                  <a:srgbClr val="202020"/>
                </a:solidFill>
                <a:latin typeface="Noto Sans"/>
              </a:rPr>
              <a:t>pelo</a:t>
            </a:r>
            <a:r>
              <a:rPr sz="1570" b="0" i="0" dirty="0">
                <a:solidFill>
                  <a:srgbClr val="202020"/>
                </a:solidFill>
                <a:latin typeface="Noto Sans"/>
              </a:rPr>
              <a:t> professor.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2926080"/>
            <a:ext cx="3337560" cy="2057400"/>
          </a:xfrm>
          <a:prstGeom prst="roundRect">
            <a:avLst/>
          </a:prstGeom>
          <a:solidFill>
            <a:srgbClr val="F7FBF3"/>
          </a:solidFill>
          <a:ln w="15240">
            <a:solidFill>
              <a:srgbClr val="31A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99431" y="3054096"/>
            <a:ext cx="3008376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366"/>
                </a:solidFill>
                <a:latin typeface="Noto Sans"/>
              </a:rPr>
              <a:t>Professor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1" y="3456432"/>
            <a:ext cx="2856446" cy="1003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0" b="0" i="0" dirty="0">
                <a:solidFill>
                  <a:srgbClr val="202020"/>
                </a:solidFill>
                <a:latin typeface="Noto Sans"/>
              </a:rPr>
              <a:t>Pode </a:t>
            </a:r>
            <a:r>
              <a:rPr sz="1570" b="0" i="0" dirty="0" err="1">
                <a:solidFill>
                  <a:srgbClr val="202020"/>
                </a:solidFill>
                <a:latin typeface="Noto Sans"/>
              </a:rPr>
              <a:t>consultar</a:t>
            </a:r>
            <a:r>
              <a:rPr sz="157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70" b="0" i="0" dirty="0" err="1">
                <a:solidFill>
                  <a:srgbClr val="202020"/>
                </a:solidFill>
                <a:latin typeface="Noto Sans"/>
              </a:rPr>
              <a:t>turmas</a:t>
            </a:r>
            <a:r>
              <a:rPr sz="1570" b="0" i="0" dirty="0">
                <a:solidFill>
                  <a:srgbClr val="202020"/>
                </a:solidFill>
                <a:latin typeface="Noto Sans"/>
              </a:rPr>
              <a:t> e </a:t>
            </a:r>
            <a:r>
              <a:rPr sz="1570" b="0" i="0" dirty="0" err="1">
                <a:solidFill>
                  <a:srgbClr val="202020"/>
                </a:solidFill>
                <a:latin typeface="Noto Sans"/>
              </a:rPr>
              <a:t>lançar</a:t>
            </a:r>
            <a:r>
              <a:rPr sz="157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70" b="0" i="0" dirty="0" err="1">
                <a:solidFill>
                  <a:srgbClr val="202020"/>
                </a:solidFill>
                <a:latin typeface="Noto Sans"/>
              </a:rPr>
              <a:t>avaliações</a:t>
            </a:r>
            <a:r>
              <a:rPr sz="1570" b="0" i="0" dirty="0">
                <a:solidFill>
                  <a:srgbClr val="202020"/>
                </a:solidFill>
                <a:latin typeface="Noto Sans"/>
              </a:rPr>
              <a:t>, mas </a:t>
            </a:r>
            <a:r>
              <a:rPr sz="1570" b="0" i="0" dirty="0" err="1">
                <a:solidFill>
                  <a:srgbClr val="202020"/>
                </a:solidFill>
                <a:latin typeface="Noto Sans"/>
              </a:rPr>
              <a:t>não</a:t>
            </a:r>
            <a:r>
              <a:rPr sz="157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70" b="0" i="0" dirty="0" err="1">
                <a:solidFill>
                  <a:srgbClr val="202020"/>
                </a:solidFill>
                <a:latin typeface="Noto Sans"/>
              </a:rPr>
              <a:t>precisa</a:t>
            </a:r>
            <a:r>
              <a:rPr sz="1570" b="0" i="0" dirty="0">
                <a:solidFill>
                  <a:srgbClr val="202020"/>
                </a:solidFill>
                <a:latin typeface="Noto Sans"/>
              </a:rPr>
              <a:t> ter </a:t>
            </a:r>
            <a:r>
              <a:rPr sz="1570" b="0" i="0" dirty="0" err="1">
                <a:solidFill>
                  <a:srgbClr val="202020"/>
                </a:solidFill>
                <a:latin typeface="Noto Sans"/>
              </a:rPr>
              <a:t>acesso</a:t>
            </a:r>
            <a:r>
              <a:rPr sz="157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70" b="0" i="0" dirty="0" err="1">
                <a:solidFill>
                  <a:srgbClr val="202020"/>
                </a:solidFill>
                <a:latin typeface="Noto Sans"/>
              </a:rPr>
              <a:t>irrestrito</a:t>
            </a:r>
            <a:r>
              <a:rPr sz="1570" b="0" i="0" dirty="0">
                <a:solidFill>
                  <a:srgbClr val="202020"/>
                </a:solidFill>
                <a:latin typeface="Noto Sans"/>
              </a:rPr>
              <a:t> a dados </a:t>
            </a:r>
            <a:r>
              <a:rPr sz="1570" b="0" i="0" dirty="0" err="1">
                <a:solidFill>
                  <a:srgbClr val="202020"/>
                </a:solidFill>
                <a:latin typeface="Noto Sans"/>
              </a:rPr>
              <a:t>financeiros</a:t>
            </a:r>
            <a:r>
              <a:rPr sz="1570" b="0" i="0" dirty="0">
                <a:solidFill>
                  <a:srgbClr val="202020"/>
                </a:solidFill>
                <a:latin typeface="Noto Sans"/>
              </a:rPr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2926080"/>
            <a:ext cx="3337560" cy="2057400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57031" y="3054096"/>
            <a:ext cx="3008376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366"/>
                </a:solidFill>
                <a:latin typeface="Noto Sans"/>
              </a:rPr>
              <a:t>Financeiro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3456432"/>
            <a:ext cx="2993137" cy="1003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0" b="0" i="0" dirty="0">
                <a:solidFill>
                  <a:srgbClr val="202020"/>
                </a:solidFill>
                <a:latin typeface="Noto Sans"/>
              </a:rPr>
              <a:t>Pode </a:t>
            </a:r>
            <a:r>
              <a:rPr sz="1570" b="0" i="0" dirty="0" err="1">
                <a:solidFill>
                  <a:srgbClr val="202020"/>
                </a:solidFill>
                <a:latin typeface="Noto Sans"/>
              </a:rPr>
              <a:t>consultar</a:t>
            </a:r>
            <a:r>
              <a:rPr sz="157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70" b="0" i="0" dirty="0" err="1">
                <a:solidFill>
                  <a:srgbClr val="202020"/>
                </a:solidFill>
                <a:latin typeface="Noto Sans"/>
              </a:rPr>
              <a:t>pagamentos</a:t>
            </a:r>
            <a:r>
              <a:rPr sz="1570" b="0" i="0" dirty="0">
                <a:solidFill>
                  <a:srgbClr val="202020"/>
                </a:solidFill>
                <a:latin typeface="Noto Sans"/>
              </a:rPr>
              <a:t> e </a:t>
            </a:r>
            <a:r>
              <a:rPr sz="1570" b="0" i="0" dirty="0" err="1">
                <a:solidFill>
                  <a:srgbClr val="202020"/>
                </a:solidFill>
                <a:latin typeface="Noto Sans"/>
              </a:rPr>
              <a:t>pendências</a:t>
            </a:r>
            <a:r>
              <a:rPr sz="1570" b="0" i="0" dirty="0">
                <a:solidFill>
                  <a:srgbClr val="202020"/>
                </a:solidFill>
                <a:latin typeface="Noto Sans"/>
              </a:rPr>
              <a:t>, </a:t>
            </a:r>
            <a:r>
              <a:rPr sz="1570" b="0" i="0" dirty="0" err="1">
                <a:solidFill>
                  <a:srgbClr val="202020"/>
                </a:solidFill>
                <a:latin typeface="Noto Sans"/>
              </a:rPr>
              <a:t>sem</a:t>
            </a:r>
            <a:r>
              <a:rPr sz="157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70" b="0" i="0" dirty="0" err="1">
                <a:solidFill>
                  <a:srgbClr val="202020"/>
                </a:solidFill>
                <a:latin typeface="Noto Sans"/>
              </a:rPr>
              <a:t>necessariamente</a:t>
            </a:r>
            <a:r>
              <a:rPr sz="157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70" b="0" i="0" dirty="0" err="1">
                <a:solidFill>
                  <a:srgbClr val="202020"/>
                </a:solidFill>
                <a:latin typeface="Noto Sans"/>
              </a:rPr>
              <a:t>editar</a:t>
            </a:r>
            <a:r>
              <a:rPr sz="157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70" b="0" i="0" dirty="0" err="1">
                <a:solidFill>
                  <a:srgbClr val="202020"/>
                </a:solidFill>
                <a:latin typeface="Noto Sans"/>
              </a:rPr>
              <a:t>informações</a:t>
            </a:r>
            <a:r>
              <a:rPr sz="157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70" b="0" i="0" dirty="0" err="1">
                <a:solidFill>
                  <a:srgbClr val="202020"/>
                </a:solidFill>
                <a:latin typeface="Noto Sans"/>
              </a:rPr>
              <a:t>acadêmicas</a:t>
            </a:r>
            <a:r>
              <a:rPr sz="1570" b="0" i="0" dirty="0">
                <a:solidFill>
                  <a:srgbClr val="202020"/>
                </a:solidFill>
                <a:latin typeface="Noto Sans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349240"/>
            <a:ext cx="10427208" cy="5414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39" b="1" i="0" dirty="0" err="1">
                <a:solidFill>
                  <a:srgbClr val="003366"/>
                </a:solidFill>
                <a:latin typeface="Noto Sans"/>
              </a:rPr>
              <a:t>Segurança</a:t>
            </a:r>
            <a:r>
              <a:rPr sz="1639" b="1" i="0" dirty="0">
                <a:solidFill>
                  <a:srgbClr val="003366"/>
                </a:solidFill>
                <a:latin typeface="Noto Sans"/>
              </a:rPr>
              <a:t> </a:t>
            </a:r>
            <a:r>
              <a:rPr sz="1639" b="1" i="0" dirty="0" err="1">
                <a:solidFill>
                  <a:srgbClr val="003366"/>
                </a:solidFill>
                <a:latin typeface="Noto Sans"/>
              </a:rPr>
              <a:t>em</a:t>
            </a:r>
            <a:r>
              <a:rPr sz="1639" b="1" i="0" dirty="0">
                <a:solidFill>
                  <a:srgbClr val="003366"/>
                </a:solidFill>
                <a:latin typeface="Noto Sans"/>
              </a:rPr>
              <a:t> banco de dados </a:t>
            </a:r>
            <a:r>
              <a:rPr sz="1639" b="1" i="0" dirty="0" err="1">
                <a:solidFill>
                  <a:srgbClr val="003366"/>
                </a:solidFill>
                <a:latin typeface="Noto Sans"/>
              </a:rPr>
              <a:t>envolve</a:t>
            </a:r>
            <a:r>
              <a:rPr sz="1639" b="1" i="0" dirty="0">
                <a:solidFill>
                  <a:srgbClr val="003366"/>
                </a:solidFill>
                <a:latin typeface="Noto Sans"/>
              </a:rPr>
              <a:t> </a:t>
            </a:r>
            <a:r>
              <a:rPr sz="1639" b="1" i="0" dirty="0" err="1">
                <a:solidFill>
                  <a:srgbClr val="003366"/>
                </a:solidFill>
                <a:latin typeface="Noto Sans"/>
              </a:rPr>
              <a:t>princípio</a:t>
            </a:r>
            <a:r>
              <a:rPr sz="1639" b="1" i="0" dirty="0">
                <a:solidFill>
                  <a:srgbClr val="003366"/>
                </a:solidFill>
                <a:latin typeface="Noto Sans"/>
              </a:rPr>
              <a:t> do </a:t>
            </a:r>
            <a:r>
              <a:rPr sz="1639" b="1" i="0" dirty="0" err="1">
                <a:solidFill>
                  <a:srgbClr val="003366"/>
                </a:solidFill>
                <a:latin typeface="Noto Sans"/>
              </a:rPr>
              <a:t>menor</a:t>
            </a:r>
            <a:r>
              <a:rPr sz="1639" b="1" i="0" dirty="0">
                <a:solidFill>
                  <a:srgbClr val="003366"/>
                </a:solidFill>
                <a:latin typeface="Noto Sans"/>
              </a:rPr>
              <a:t> </a:t>
            </a:r>
            <a:r>
              <a:rPr sz="1639" b="1" i="0" dirty="0" err="1">
                <a:solidFill>
                  <a:srgbClr val="003366"/>
                </a:solidFill>
                <a:latin typeface="Noto Sans"/>
              </a:rPr>
              <a:t>privilégio</a:t>
            </a:r>
            <a:r>
              <a:rPr sz="1639" b="1" i="0" dirty="0">
                <a:solidFill>
                  <a:srgbClr val="003366"/>
                </a:solidFill>
                <a:latin typeface="Noto Sans"/>
              </a:rPr>
              <a:t>: </a:t>
            </a:r>
            <a:r>
              <a:rPr sz="1639" b="1" i="0" dirty="0" err="1">
                <a:solidFill>
                  <a:srgbClr val="003366"/>
                </a:solidFill>
                <a:latin typeface="Noto Sans"/>
              </a:rPr>
              <a:t>cada</a:t>
            </a:r>
            <a:r>
              <a:rPr sz="1639" b="1" i="0" dirty="0">
                <a:solidFill>
                  <a:srgbClr val="003366"/>
                </a:solidFill>
                <a:latin typeface="Noto Sans"/>
              </a:rPr>
              <a:t> </a:t>
            </a:r>
            <a:r>
              <a:rPr sz="1639" b="1" i="0" dirty="0" err="1">
                <a:solidFill>
                  <a:srgbClr val="003366"/>
                </a:solidFill>
                <a:latin typeface="Noto Sans"/>
              </a:rPr>
              <a:t>perfil</a:t>
            </a:r>
            <a:r>
              <a:rPr sz="1639" b="1" i="0" dirty="0">
                <a:solidFill>
                  <a:srgbClr val="003366"/>
                </a:solidFill>
                <a:latin typeface="Noto Sans"/>
              </a:rPr>
              <a:t> </a:t>
            </a:r>
            <a:r>
              <a:rPr sz="1639" b="1" i="0" dirty="0" err="1">
                <a:solidFill>
                  <a:srgbClr val="003366"/>
                </a:solidFill>
                <a:latin typeface="Noto Sans"/>
              </a:rPr>
              <a:t>recebe</a:t>
            </a:r>
            <a:r>
              <a:rPr sz="1639" b="1" i="0" dirty="0">
                <a:solidFill>
                  <a:srgbClr val="003366"/>
                </a:solidFill>
                <a:latin typeface="Noto Sans"/>
              </a:rPr>
              <a:t> </a:t>
            </a:r>
            <a:r>
              <a:rPr sz="1639" b="1" i="0" dirty="0" err="1">
                <a:solidFill>
                  <a:srgbClr val="003366"/>
                </a:solidFill>
                <a:latin typeface="Noto Sans"/>
              </a:rPr>
              <a:t>apenas</a:t>
            </a:r>
            <a:r>
              <a:rPr sz="1639" b="1" i="0" dirty="0">
                <a:solidFill>
                  <a:srgbClr val="003366"/>
                </a:solidFill>
                <a:latin typeface="Noto Sans"/>
              </a:rPr>
              <a:t> o </a:t>
            </a:r>
            <a:r>
              <a:rPr sz="1639" b="1" i="0" dirty="0" err="1">
                <a:solidFill>
                  <a:srgbClr val="003366"/>
                </a:solidFill>
                <a:latin typeface="Noto Sans"/>
              </a:rPr>
              <a:t>acesso</a:t>
            </a:r>
            <a:r>
              <a:rPr sz="1639" b="1" i="0" dirty="0">
                <a:solidFill>
                  <a:srgbClr val="003366"/>
                </a:solidFill>
                <a:latin typeface="Noto Sans"/>
              </a:rPr>
              <a:t> </a:t>
            </a:r>
            <a:r>
              <a:rPr sz="1639" b="1" i="0" dirty="0" err="1">
                <a:solidFill>
                  <a:srgbClr val="003366"/>
                </a:solidFill>
                <a:latin typeface="Noto Sans"/>
              </a:rPr>
              <a:t>necessário</a:t>
            </a:r>
            <a:r>
              <a:rPr sz="1639" b="1" i="0" dirty="0">
                <a:solidFill>
                  <a:srgbClr val="003366"/>
                </a:solidFill>
                <a:latin typeface="Noto Sans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1138428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Noto Sans"/>
              </a:rPr>
              <a:t>Sistemas de Banco de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338560" cy="51206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02020"/>
                </a:solidFill>
                <a:latin typeface="Noto Sans"/>
              </a:rPr>
              <a:t>Compartilhamento e controle de concorrência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542287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84848"/>
            <a:ext cx="1542287" cy="731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84848"/>
            <a:ext cx="1542287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84848"/>
            <a:ext cx="1542287" cy="7315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84848"/>
            <a:ext cx="1542287" cy="731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84848"/>
            <a:ext cx="1542287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84848"/>
            <a:ext cx="1542287" cy="7315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84848"/>
            <a:ext cx="1542287" cy="73152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1874519"/>
            <a:ext cx="10972800" cy="5663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0" b="0" i="0" dirty="0">
                <a:solidFill>
                  <a:srgbClr val="202020"/>
                </a:solidFill>
                <a:latin typeface="Noto Sans"/>
              </a:rPr>
              <a:t>Um SBD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permite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que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vários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usuários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acessem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dados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simultaneamente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. O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desafio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é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impedir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que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operações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concorrentes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deixem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o banco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em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um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estado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incorreto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971800"/>
            <a:ext cx="2194560" cy="1051560"/>
          </a:xfrm>
          <a:prstGeom prst="roundRect">
            <a:avLst/>
          </a:prstGeom>
          <a:solidFill>
            <a:srgbClr val="F0F7FF"/>
          </a:solidFill>
          <a:ln w="1778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chemeClr val="tx1"/>
                </a:solidFill>
                <a:latin typeface="Noto Sans"/>
              </a:rPr>
              <a:t>Usuário A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COMPRA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572000"/>
            <a:ext cx="2194560" cy="1051560"/>
          </a:xfrm>
          <a:prstGeom prst="roundRect">
            <a:avLst/>
          </a:prstGeom>
          <a:solidFill>
            <a:srgbClr val="F0F7FF"/>
          </a:solidFill>
          <a:ln w="1778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chemeClr val="tx1"/>
                </a:solidFill>
                <a:latin typeface="Noto Sans"/>
              </a:rPr>
              <a:t>Usuário B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COMPRA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703320"/>
            <a:ext cx="2880360" cy="1280160"/>
          </a:xfrm>
          <a:prstGeom prst="roundRect">
            <a:avLst/>
          </a:prstGeom>
          <a:solidFill>
            <a:srgbClr val="E9F6FF"/>
          </a:solidFill>
          <a:ln w="1778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chemeClr val="tx1"/>
                </a:solidFill>
                <a:latin typeface="Noto Sans"/>
              </a:rPr>
              <a:t>SGBD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Controle de concorrência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703320"/>
            <a:ext cx="2194560" cy="1280160"/>
          </a:xfrm>
          <a:prstGeom prst="roundRect">
            <a:avLst/>
          </a:prstGeom>
          <a:solidFill>
            <a:srgbClr val="FFF8E8"/>
          </a:solidFill>
          <a:ln w="1778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chemeClr val="tx1"/>
                </a:solidFill>
                <a:latin typeface="Noto Sans"/>
              </a:rPr>
              <a:t>ESTOQUE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1 unidade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26080" y="3520440"/>
            <a:ext cx="1600200" cy="640080"/>
          </a:xfrm>
          <a:prstGeom prst="line">
            <a:avLst/>
          </a:prstGeom>
          <a:ln w="27940">
            <a:solidFill>
              <a:srgbClr val="00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926080" y="4434840"/>
            <a:ext cx="1600200" cy="640080"/>
          </a:xfrm>
          <a:prstGeom prst="line">
            <a:avLst/>
          </a:prstGeom>
          <a:ln w="27940">
            <a:solidFill>
              <a:srgbClr val="00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98079" y="4343400"/>
            <a:ext cx="1600201" cy="0"/>
          </a:xfrm>
          <a:prstGeom prst="line">
            <a:avLst/>
          </a:prstGeom>
          <a:ln w="31750">
            <a:solidFill>
              <a:srgbClr val="FF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072385" y="5623560"/>
            <a:ext cx="6007606" cy="7663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80" b="0" i="0" dirty="0">
                <a:solidFill>
                  <a:srgbClr val="202020"/>
                </a:solidFill>
                <a:latin typeface="Noto Sans"/>
              </a:rPr>
              <a:t>Sem </a:t>
            </a:r>
            <a:r>
              <a:rPr sz="1580" b="0" i="0" dirty="0" err="1">
                <a:solidFill>
                  <a:srgbClr val="202020"/>
                </a:solidFill>
                <a:latin typeface="Noto Sans"/>
              </a:rPr>
              <a:t>coordenação</a:t>
            </a:r>
            <a:r>
              <a:rPr sz="1580" b="0" i="0" dirty="0">
                <a:solidFill>
                  <a:srgbClr val="202020"/>
                </a:solidFill>
                <a:latin typeface="Noto Sans"/>
              </a:rPr>
              <a:t>, duas </a:t>
            </a:r>
            <a:r>
              <a:rPr sz="1580" b="0" i="0" dirty="0" err="1">
                <a:solidFill>
                  <a:srgbClr val="202020"/>
                </a:solidFill>
                <a:latin typeface="Noto Sans"/>
              </a:rPr>
              <a:t>operações</a:t>
            </a:r>
            <a:r>
              <a:rPr sz="158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80" b="0" i="0" dirty="0" err="1">
                <a:solidFill>
                  <a:srgbClr val="202020"/>
                </a:solidFill>
                <a:latin typeface="Noto Sans"/>
              </a:rPr>
              <a:t>podem</a:t>
            </a:r>
            <a:r>
              <a:rPr sz="158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80" b="0" i="0" dirty="0" err="1">
                <a:solidFill>
                  <a:srgbClr val="202020"/>
                </a:solidFill>
                <a:latin typeface="Noto Sans"/>
              </a:rPr>
              <a:t>ler</a:t>
            </a:r>
            <a:r>
              <a:rPr sz="1580" b="0" i="0" dirty="0">
                <a:solidFill>
                  <a:srgbClr val="202020"/>
                </a:solidFill>
                <a:latin typeface="Noto Sans"/>
              </a:rPr>
              <a:t> o </a:t>
            </a:r>
            <a:r>
              <a:rPr sz="1580" b="0" i="0" dirty="0" err="1">
                <a:solidFill>
                  <a:srgbClr val="202020"/>
                </a:solidFill>
                <a:latin typeface="Noto Sans"/>
              </a:rPr>
              <a:t>mesmo</a:t>
            </a:r>
            <a:r>
              <a:rPr sz="158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80" b="0" i="0" dirty="0" err="1">
                <a:solidFill>
                  <a:srgbClr val="202020"/>
                </a:solidFill>
                <a:latin typeface="Noto Sans"/>
              </a:rPr>
              <a:t>estado</a:t>
            </a:r>
            <a:r>
              <a:rPr sz="1580" b="0" i="0" dirty="0">
                <a:solidFill>
                  <a:srgbClr val="202020"/>
                </a:solidFill>
                <a:latin typeface="Noto Sans"/>
              </a:rPr>
              <a:t> e </a:t>
            </a:r>
            <a:r>
              <a:rPr sz="1580" b="0" i="0" dirty="0" err="1">
                <a:solidFill>
                  <a:srgbClr val="202020"/>
                </a:solidFill>
                <a:latin typeface="Noto Sans"/>
              </a:rPr>
              <a:t>tentar</a:t>
            </a:r>
            <a:r>
              <a:rPr sz="158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80" b="0" i="0" dirty="0" err="1">
                <a:solidFill>
                  <a:srgbClr val="202020"/>
                </a:solidFill>
                <a:latin typeface="Noto Sans"/>
              </a:rPr>
              <a:t>consumir</a:t>
            </a:r>
            <a:r>
              <a:rPr sz="1580" b="0" i="0" dirty="0">
                <a:solidFill>
                  <a:srgbClr val="202020"/>
                </a:solidFill>
                <a:latin typeface="Noto Sans"/>
              </a:rPr>
              <a:t> a </a:t>
            </a:r>
            <a:r>
              <a:rPr sz="1580" b="0" i="0" dirty="0" err="1">
                <a:solidFill>
                  <a:srgbClr val="202020"/>
                </a:solidFill>
                <a:latin typeface="Noto Sans"/>
              </a:rPr>
              <a:t>última</a:t>
            </a:r>
            <a:r>
              <a:rPr sz="158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80" b="0" i="0" dirty="0" err="1">
                <a:solidFill>
                  <a:srgbClr val="202020"/>
                </a:solidFill>
                <a:latin typeface="Noto Sans"/>
              </a:rPr>
              <a:t>unidade</a:t>
            </a:r>
            <a:r>
              <a:rPr sz="1580" b="0" i="0" dirty="0">
                <a:solidFill>
                  <a:srgbClr val="202020"/>
                </a:solidFill>
                <a:latin typeface="Noto Sans"/>
              </a:rPr>
              <a:t>. O SGBD </a:t>
            </a:r>
            <a:r>
              <a:rPr sz="1580" b="0" i="0" dirty="0" err="1">
                <a:solidFill>
                  <a:srgbClr val="202020"/>
                </a:solidFill>
                <a:latin typeface="Noto Sans"/>
              </a:rPr>
              <a:t>precisa</a:t>
            </a:r>
            <a:r>
              <a:rPr sz="158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80" b="0" i="0" dirty="0" err="1">
                <a:solidFill>
                  <a:srgbClr val="202020"/>
                </a:solidFill>
                <a:latin typeface="Noto Sans"/>
              </a:rPr>
              <a:t>serializar</a:t>
            </a:r>
            <a:r>
              <a:rPr sz="158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80" b="0" i="0" dirty="0" err="1">
                <a:solidFill>
                  <a:srgbClr val="202020"/>
                </a:solidFill>
                <a:latin typeface="Noto Sans"/>
              </a:rPr>
              <a:t>ou</a:t>
            </a:r>
            <a:r>
              <a:rPr sz="158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80" b="0" i="0" dirty="0" err="1">
                <a:solidFill>
                  <a:srgbClr val="202020"/>
                </a:solidFill>
                <a:latin typeface="Noto Sans"/>
              </a:rPr>
              <a:t>isolar</a:t>
            </a:r>
            <a:r>
              <a:rPr sz="158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80" b="0" i="0" dirty="0" err="1">
                <a:solidFill>
                  <a:srgbClr val="202020"/>
                </a:solidFill>
                <a:latin typeface="Noto Sans"/>
              </a:rPr>
              <a:t>corretamente</a:t>
            </a:r>
            <a:r>
              <a:rPr sz="158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80" b="0" i="0" dirty="0" err="1">
                <a:solidFill>
                  <a:srgbClr val="202020"/>
                </a:solidFill>
                <a:latin typeface="Noto Sans"/>
              </a:rPr>
              <a:t>essas</a:t>
            </a:r>
            <a:r>
              <a:rPr sz="158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80" b="0" i="0" dirty="0" err="1">
                <a:solidFill>
                  <a:srgbClr val="202020"/>
                </a:solidFill>
                <a:latin typeface="Noto Sans"/>
              </a:rPr>
              <a:t>transações</a:t>
            </a:r>
            <a:r>
              <a:rPr sz="1580" b="0" i="0" dirty="0">
                <a:solidFill>
                  <a:srgbClr val="202020"/>
                </a:solidFill>
                <a:latin typeface="Noto Sans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1138428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Noto Sans"/>
              </a:rPr>
              <a:t>Sistemas de Banco de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338560" cy="51206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02020"/>
                </a:solidFill>
                <a:latin typeface="Noto Sans"/>
              </a:rPr>
              <a:t>Backup e recuperação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542287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84848"/>
            <a:ext cx="1542287" cy="731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84848"/>
            <a:ext cx="1542287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84848"/>
            <a:ext cx="1542287" cy="7315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84848"/>
            <a:ext cx="1542287" cy="731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84848"/>
            <a:ext cx="1542287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84848"/>
            <a:ext cx="1542287" cy="7315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84848"/>
            <a:ext cx="1542287" cy="73152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1938528"/>
            <a:ext cx="10627196" cy="1216743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1720">
                <a:solidFill>
                  <a:srgbClr val="202020"/>
                </a:solidFill>
                <a:latin typeface="Noto Sans"/>
              </a:defRPr>
            </a:pPr>
            <a:r>
              <a:t>Falhas de hardware, software, energia ou operação humana podem interromper o funcionamento do banco. Por isso, o SGBD deve oferecer mecanismos de cópia de segurança e restauração.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720">
                <a:solidFill>
                  <a:srgbClr val="202020"/>
                </a:solidFill>
                <a:latin typeface="Noto Sans"/>
              </a:defRPr>
            </a:pPr>
            <a:r>
              <a:t>Backup é a cópia utilizada como proteção. Recovery é o processo de reconstruir ou restaurar o banco para um estado consistente após a falha.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27F1210C-482F-F1FC-E702-35BFA11F92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40" t="21804" r="4435" b="25852"/>
          <a:stretch>
            <a:fillRect/>
          </a:stretch>
        </p:blipFill>
        <p:spPr>
          <a:xfrm>
            <a:off x="1258528" y="3544136"/>
            <a:ext cx="8829369" cy="285184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1138428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Noto Sans"/>
              </a:rPr>
              <a:t>Sistemas de Banco de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338560" cy="51206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02020"/>
                </a:solidFill>
                <a:latin typeface="Noto Sans"/>
              </a:rPr>
              <a:t>Transação: uma unidade lógica de trabalho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542287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84848"/>
            <a:ext cx="1542287" cy="731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84848"/>
            <a:ext cx="1542287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84848"/>
            <a:ext cx="1542287" cy="7315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84848"/>
            <a:ext cx="1542287" cy="731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84848"/>
            <a:ext cx="1542287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84848"/>
            <a:ext cx="1542287" cy="7315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84848"/>
            <a:ext cx="1542287" cy="73152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1901952"/>
            <a:ext cx="10972800" cy="5663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0" b="0" i="0">
                <a:solidFill>
                  <a:srgbClr val="202020"/>
                </a:solidFill>
                <a:latin typeface="Noto Sans"/>
              </a:rPr>
              <a:t>Uma transação reúne operações que devem ser tratadas como uma única unidade lógica. Em muitos casos, executar apenas uma parte do conjunto seria pior do que não executar nada.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246120"/>
            <a:ext cx="2926080" cy="1234440"/>
          </a:xfrm>
          <a:prstGeom prst="roundRect">
            <a:avLst/>
          </a:prstGeom>
          <a:solidFill>
            <a:srgbClr val="FFF3F3"/>
          </a:solidFill>
          <a:ln w="1778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chemeClr val="tx1"/>
                </a:solidFill>
                <a:latin typeface="Noto Sans"/>
              </a:rPr>
              <a:t>1. Debitar R$ 100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da Conta 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3246120"/>
            <a:ext cx="2926080" cy="1234440"/>
          </a:xfrm>
          <a:prstGeom prst="roundRect">
            <a:avLst/>
          </a:prstGeom>
          <a:solidFill>
            <a:srgbClr val="E9F6FF"/>
          </a:solidFill>
          <a:ln w="1778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dirty="0">
                <a:solidFill>
                  <a:srgbClr val="003366"/>
                </a:solidFill>
                <a:latin typeface="Noto Sans"/>
              </a:rPr>
              <a:t>TRANSAÇÃO</a:t>
            </a:r>
            <a:br>
              <a:rPr dirty="0"/>
            </a:br>
            <a:r>
              <a:rPr dirty="0" err="1">
                <a:solidFill>
                  <a:schemeClr val="tx1"/>
                </a:solidFill>
              </a:rPr>
              <a:t>Transferência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412480" y="3246120"/>
            <a:ext cx="2926080" cy="1234440"/>
          </a:xfrm>
          <a:prstGeom prst="roundRect">
            <a:avLst/>
          </a:prstGeom>
          <a:solidFill>
            <a:srgbClr val="F1FBF2"/>
          </a:solidFill>
          <a:ln w="17780">
            <a:solidFill>
              <a:srgbClr val="31A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dirty="0">
                <a:solidFill>
                  <a:schemeClr val="tx1"/>
                </a:solidFill>
                <a:latin typeface="Noto Sans"/>
              </a:rPr>
              <a:t>2. </a:t>
            </a:r>
            <a:r>
              <a:rPr sz="1700" b="1" dirty="0" err="1">
                <a:solidFill>
                  <a:schemeClr val="tx1"/>
                </a:solidFill>
                <a:latin typeface="Noto Sans"/>
              </a:rPr>
              <a:t>Creditar</a:t>
            </a:r>
            <a:r>
              <a:rPr sz="1700" b="1" dirty="0">
                <a:solidFill>
                  <a:schemeClr val="tx1"/>
                </a:solidFill>
                <a:latin typeface="Noto Sans"/>
              </a:rPr>
              <a:t> R$ 100</a:t>
            </a:r>
            <a:br>
              <a:rPr dirty="0">
                <a:solidFill>
                  <a:schemeClr val="tx1"/>
                </a:solidFill>
              </a:rPr>
            </a:br>
            <a:r>
              <a:rPr dirty="0" err="1">
                <a:solidFill>
                  <a:schemeClr val="tx1"/>
                </a:solidFill>
              </a:rPr>
              <a:t>na</a:t>
            </a:r>
            <a:r>
              <a:rPr dirty="0">
                <a:solidFill>
                  <a:schemeClr val="tx1"/>
                </a:solidFill>
              </a:rPr>
              <a:t> Conta B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794760" y="3858768"/>
            <a:ext cx="777240" cy="0"/>
          </a:xfrm>
          <a:prstGeom prst="line">
            <a:avLst/>
          </a:prstGeom>
          <a:ln w="31750">
            <a:solidFill>
              <a:srgbClr val="00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589520" y="3858768"/>
            <a:ext cx="777240" cy="0"/>
          </a:xfrm>
          <a:prstGeom prst="line">
            <a:avLst/>
          </a:prstGeom>
          <a:ln w="31750">
            <a:solidFill>
              <a:srgbClr val="00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138428" y="4997540"/>
            <a:ext cx="9875520" cy="1147228"/>
          </a:xfrm>
          <a:prstGeom prst="roundRect">
            <a:avLst/>
          </a:prstGeom>
          <a:solidFill>
            <a:srgbClr val="FFFAE8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07592" y="5111496"/>
            <a:ext cx="9546336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366"/>
                </a:solidFill>
                <a:latin typeface="Noto Sans"/>
              </a:rPr>
              <a:t>Problema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4871" y="5374660"/>
            <a:ext cx="9448898" cy="5232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80" b="0" i="0" dirty="0">
                <a:solidFill>
                  <a:srgbClr val="202020"/>
                </a:solidFill>
                <a:latin typeface="Noto Sans"/>
              </a:rPr>
              <a:t>Se </a:t>
            </a:r>
            <a:r>
              <a:rPr sz="1580" b="0" i="0" dirty="0" err="1">
                <a:solidFill>
                  <a:srgbClr val="202020"/>
                </a:solidFill>
                <a:latin typeface="Noto Sans"/>
              </a:rPr>
              <a:t>ocorrer</a:t>
            </a:r>
            <a:r>
              <a:rPr sz="158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80" b="0" i="0" dirty="0" err="1">
                <a:solidFill>
                  <a:srgbClr val="202020"/>
                </a:solidFill>
                <a:latin typeface="Noto Sans"/>
              </a:rPr>
              <a:t>uma</a:t>
            </a:r>
            <a:r>
              <a:rPr sz="158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80" b="0" i="0" dirty="0" err="1">
                <a:solidFill>
                  <a:srgbClr val="202020"/>
                </a:solidFill>
                <a:latin typeface="Noto Sans"/>
              </a:rPr>
              <a:t>falha</a:t>
            </a:r>
            <a:r>
              <a:rPr sz="158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80" b="0" i="0" dirty="0" err="1">
                <a:solidFill>
                  <a:srgbClr val="202020"/>
                </a:solidFill>
                <a:latin typeface="Noto Sans"/>
              </a:rPr>
              <a:t>depois</a:t>
            </a:r>
            <a:r>
              <a:rPr sz="1580" b="0" i="0" dirty="0">
                <a:solidFill>
                  <a:srgbClr val="202020"/>
                </a:solidFill>
                <a:latin typeface="Noto Sans"/>
              </a:rPr>
              <a:t> do </a:t>
            </a:r>
            <a:r>
              <a:rPr sz="1580" b="0" i="0" dirty="0" err="1">
                <a:solidFill>
                  <a:srgbClr val="202020"/>
                </a:solidFill>
                <a:latin typeface="Noto Sans"/>
              </a:rPr>
              <a:t>débito</a:t>
            </a:r>
            <a:r>
              <a:rPr sz="1580" b="0" i="0" dirty="0">
                <a:solidFill>
                  <a:srgbClr val="202020"/>
                </a:solidFill>
                <a:latin typeface="Noto Sans"/>
              </a:rPr>
              <a:t> e antes do </a:t>
            </a:r>
            <a:r>
              <a:rPr sz="1580" b="0" i="0" dirty="0" err="1">
                <a:solidFill>
                  <a:srgbClr val="202020"/>
                </a:solidFill>
                <a:latin typeface="Noto Sans"/>
              </a:rPr>
              <a:t>crédito</a:t>
            </a:r>
            <a:r>
              <a:rPr sz="1580" b="0" i="0" dirty="0">
                <a:solidFill>
                  <a:srgbClr val="202020"/>
                </a:solidFill>
                <a:latin typeface="Noto Sans"/>
              </a:rPr>
              <a:t>, o banco </a:t>
            </a:r>
            <a:r>
              <a:rPr sz="1580" b="0" i="0" dirty="0" err="1">
                <a:solidFill>
                  <a:srgbClr val="202020"/>
                </a:solidFill>
                <a:latin typeface="Noto Sans"/>
              </a:rPr>
              <a:t>não</a:t>
            </a:r>
            <a:r>
              <a:rPr sz="158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80" b="0" i="0" dirty="0" err="1">
                <a:solidFill>
                  <a:srgbClr val="202020"/>
                </a:solidFill>
                <a:latin typeface="Noto Sans"/>
              </a:rPr>
              <a:t>pode</a:t>
            </a:r>
            <a:r>
              <a:rPr sz="158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80" b="0" i="0" dirty="0" err="1">
                <a:solidFill>
                  <a:srgbClr val="202020"/>
                </a:solidFill>
                <a:latin typeface="Noto Sans"/>
              </a:rPr>
              <a:t>permanecer</a:t>
            </a:r>
            <a:r>
              <a:rPr sz="158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80" b="0" i="0" dirty="0" err="1">
                <a:solidFill>
                  <a:srgbClr val="202020"/>
                </a:solidFill>
                <a:latin typeface="Noto Sans"/>
              </a:rPr>
              <a:t>nesse</a:t>
            </a:r>
            <a:r>
              <a:rPr sz="158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80" b="0" i="0" dirty="0" err="1">
                <a:solidFill>
                  <a:srgbClr val="202020"/>
                </a:solidFill>
                <a:latin typeface="Noto Sans"/>
              </a:rPr>
              <a:t>estado</a:t>
            </a:r>
            <a:r>
              <a:rPr sz="158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80" b="0" i="0" dirty="0" err="1">
                <a:solidFill>
                  <a:srgbClr val="202020"/>
                </a:solidFill>
                <a:latin typeface="Noto Sans"/>
              </a:rPr>
              <a:t>intermediário</a:t>
            </a:r>
            <a:r>
              <a:rPr sz="1580" b="0" i="0" dirty="0">
                <a:solidFill>
                  <a:srgbClr val="202020"/>
                </a:solidFill>
                <a:latin typeface="Noto Sans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1138428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Noto Sans"/>
              </a:rPr>
              <a:t>Sistemas de Banco de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338560" cy="51206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02020"/>
                </a:solidFill>
                <a:latin typeface="Noto Sans"/>
              </a:rPr>
              <a:t>Propriedades ACID das transações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542287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84848"/>
            <a:ext cx="1542287" cy="731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84848"/>
            <a:ext cx="1542287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84848"/>
            <a:ext cx="1542287" cy="7315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84848"/>
            <a:ext cx="1542287" cy="731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84848"/>
            <a:ext cx="1542287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84848"/>
            <a:ext cx="1542287" cy="7315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84848"/>
            <a:ext cx="1542287" cy="73152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4360" y="2011680"/>
            <a:ext cx="5349240" cy="1691640"/>
          </a:xfrm>
          <a:prstGeom prst="roundRect">
            <a:avLst/>
          </a:prstGeom>
          <a:solidFill>
            <a:srgbClr val="E9F6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2139696"/>
            <a:ext cx="5020055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366"/>
                </a:solidFill>
                <a:latin typeface="Noto Sans"/>
              </a:rPr>
              <a:t>A — Atomicidade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3" y="2542032"/>
            <a:ext cx="4894596" cy="5170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60" b="0" i="0" dirty="0" err="1">
                <a:solidFill>
                  <a:srgbClr val="202020"/>
                </a:solidFill>
                <a:latin typeface="Noto Sans"/>
              </a:rPr>
              <a:t>Tudo</a:t>
            </a:r>
            <a:r>
              <a:rPr sz="156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60" b="0" i="0" dirty="0" err="1">
                <a:solidFill>
                  <a:srgbClr val="202020"/>
                </a:solidFill>
                <a:latin typeface="Noto Sans"/>
              </a:rPr>
              <a:t>ou</a:t>
            </a:r>
            <a:r>
              <a:rPr sz="1560" b="0" i="0" dirty="0">
                <a:solidFill>
                  <a:srgbClr val="202020"/>
                </a:solidFill>
                <a:latin typeface="Noto Sans"/>
              </a:rPr>
              <a:t> nada. A </a:t>
            </a:r>
            <a:r>
              <a:rPr sz="1560" b="0" i="0" dirty="0" err="1">
                <a:solidFill>
                  <a:srgbClr val="202020"/>
                </a:solidFill>
                <a:latin typeface="Noto Sans"/>
              </a:rPr>
              <a:t>transação</a:t>
            </a:r>
            <a:r>
              <a:rPr sz="156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60" b="0" i="0" dirty="0" err="1">
                <a:solidFill>
                  <a:srgbClr val="202020"/>
                </a:solidFill>
                <a:latin typeface="Noto Sans"/>
              </a:rPr>
              <a:t>deve</a:t>
            </a:r>
            <a:r>
              <a:rPr sz="156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60" b="0" i="0" dirty="0" err="1">
                <a:solidFill>
                  <a:srgbClr val="202020"/>
                </a:solidFill>
                <a:latin typeface="Noto Sans"/>
              </a:rPr>
              <a:t>concluir</a:t>
            </a:r>
            <a:r>
              <a:rPr sz="156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60" b="0" i="0" dirty="0" err="1">
                <a:solidFill>
                  <a:srgbClr val="202020"/>
                </a:solidFill>
                <a:latin typeface="Noto Sans"/>
              </a:rPr>
              <a:t>todas</a:t>
            </a:r>
            <a:r>
              <a:rPr sz="1560" b="0" i="0" dirty="0">
                <a:solidFill>
                  <a:srgbClr val="202020"/>
                </a:solidFill>
                <a:latin typeface="Noto Sans"/>
              </a:rPr>
              <a:t> as </a:t>
            </a:r>
            <a:r>
              <a:rPr sz="1560" b="0" i="0" dirty="0" err="1">
                <a:solidFill>
                  <a:srgbClr val="202020"/>
                </a:solidFill>
                <a:latin typeface="Noto Sans"/>
              </a:rPr>
              <a:t>operações</a:t>
            </a:r>
            <a:r>
              <a:rPr sz="156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60" b="0" i="0" dirty="0" err="1">
                <a:solidFill>
                  <a:srgbClr val="202020"/>
                </a:solidFill>
                <a:latin typeface="Noto Sans"/>
              </a:rPr>
              <a:t>ou</a:t>
            </a:r>
            <a:r>
              <a:rPr sz="156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60" b="0" i="0" dirty="0" err="1">
                <a:solidFill>
                  <a:srgbClr val="202020"/>
                </a:solidFill>
                <a:latin typeface="Noto Sans"/>
              </a:rPr>
              <a:t>desfazer</a:t>
            </a:r>
            <a:r>
              <a:rPr sz="1560" b="0" i="0" dirty="0">
                <a:solidFill>
                  <a:srgbClr val="202020"/>
                </a:solidFill>
                <a:latin typeface="Noto Sans"/>
              </a:rPr>
              <a:t> o conjunto.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011680"/>
            <a:ext cx="5349240" cy="1691640"/>
          </a:xfrm>
          <a:prstGeom prst="roundRect">
            <a:avLst/>
          </a:prstGeom>
          <a:solidFill>
            <a:srgbClr val="F7F4FF"/>
          </a:solidFill>
          <a:ln w="15240">
            <a:solidFill>
              <a:srgbClr val="735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2512" y="2139696"/>
            <a:ext cx="5020055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366"/>
                </a:solidFill>
                <a:latin typeface="Noto Sans"/>
              </a:rPr>
              <a:t>C — Consistência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542032"/>
            <a:ext cx="5020055" cy="5170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60" b="0" i="0" dirty="0">
                <a:solidFill>
                  <a:srgbClr val="202020"/>
                </a:solidFill>
                <a:latin typeface="Noto Sans"/>
              </a:rPr>
              <a:t>A </a:t>
            </a:r>
            <a:r>
              <a:rPr sz="1560" b="0" i="0" dirty="0" err="1">
                <a:solidFill>
                  <a:srgbClr val="202020"/>
                </a:solidFill>
                <a:latin typeface="Noto Sans"/>
              </a:rPr>
              <a:t>transação</a:t>
            </a:r>
            <a:r>
              <a:rPr sz="1560" b="0" i="0" dirty="0">
                <a:solidFill>
                  <a:srgbClr val="202020"/>
                </a:solidFill>
                <a:latin typeface="Noto Sans"/>
              </a:rPr>
              <a:t> leva o banco de um </a:t>
            </a:r>
            <a:r>
              <a:rPr sz="1560" b="0" i="0" dirty="0" err="1">
                <a:solidFill>
                  <a:srgbClr val="202020"/>
                </a:solidFill>
                <a:latin typeface="Noto Sans"/>
              </a:rPr>
              <a:t>estado</a:t>
            </a:r>
            <a:r>
              <a:rPr sz="156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60" b="0" i="0" dirty="0" err="1">
                <a:solidFill>
                  <a:srgbClr val="202020"/>
                </a:solidFill>
                <a:latin typeface="Noto Sans"/>
              </a:rPr>
              <a:t>válido</a:t>
            </a:r>
            <a:r>
              <a:rPr sz="1560" b="0" i="0" dirty="0">
                <a:solidFill>
                  <a:srgbClr val="202020"/>
                </a:solidFill>
                <a:latin typeface="Noto Sans"/>
              </a:rPr>
              <a:t> a outro, </a:t>
            </a:r>
            <a:r>
              <a:rPr sz="1560" b="0" i="0" dirty="0" err="1">
                <a:solidFill>
                  <a:srgbClr val="202020"/>
                </a:solidFill>
                <a:latin typeface="Noto Sans"/>
              </a:rPr>
              <a:t>respeitando</a:t>
            </a:r>
            <a:r>
              <a:rPr sz="1560" b="0" i="0" dirty="0">
                <a:solidFill>
                  <a:srgbClr val="202020"/>
                </a:solidFill>
                <a:latin typeface="Noto Sans"/>
              </a:rPr>
              <a:t> as </a:t>
            </a:r>
            <a:r>
              <a:rPr sz="1560" b="0" i="0" dirty="0" err="1">
                <a:solidFill>
                  <a:srgbClr val="202020"/>
                </a:solidFill>
                <a:latin typeface="Noto Sans"/>
              </a:rPr>
              <a:t>regras</a:t>
            </a:r>
            <a:r>
              <a:rPr sz="1560" b="0" i="0" dirty="0">
                <a:solidFill>
                  <a:srgbClr val="202020"/>
                </a:solidFill>
                <a:latin typeface="Noto Sans"/>
              </a:rPr>
              <a:t> de </a:t>
            </a:r>
            <a:r>
              <a:rPr sz="1560" b="0" i="0" dirty="0" err="1">
                <a:solidFill>
                  <a:srgbClr val="202020"/>
                </a:solidFill>
                <a:latin typeface="Noto Sans"/>
              </a:rPr>
              <a:t>integridade</a:t>
            </a:r>
            <a:r>
              <a:rPr sz="1560" b="0" i="0" dirty="0">
                <a:solidFill>
                  <a:srgbClr val="202020"/>
                </a:solidFill>
                <a:latin typeface="Noto Sans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160520"/>
            <a:ext cx="5349240" cy="1691640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8952" y="4288536"/>
            <a:ext cx="5020055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366"/>
                </a:solidFill>
                <a:latin typeface="Noto Sans"/>
              </a:rPr>
              <a:t>I — Isolamento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4690872"/>
            <a:ext cx="5020055" cy="5170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60" b="0" i="0" dirty="0" err="1">
                <a:solidFill>
                  <a:srgbClr val="202020"/>
                </a:solidFill>
                <a:latin typeface="Noto Sans"/>
              </a:rPr>
              <a:t>Transações</a:t>
            </a:r>
            <a:r>
              <a:rPr sz="156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60" b="0" i="0" dirty="0" err="1">
                <a:solidFill>
                  <a:srgbClr val="202020"/>
                </a:solidFill>
                <a:latin typeface="Noto Sans"/>
              </a:rPr>
              <a:t>concorrentes</a:t>
            </a:r>
            <a:r>
              <a:rPr sz="156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60" b="0" i="0" dirty="0" err="1">
                <a:solidFill>
                  <a:srgbClr val="202020"/>
                </a:solidFill>
                <a:latin typeface="Noto Sans"/>
              </a:rPr>
              <a:t>não</a:t>
            </a:r>
            <a:r>
              <a:rPr sz="156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60" b="0" i="0" dirty="0" err="1">
                <a:solidFill>
                  <a:srgbClr val="202020"/>
                </a:solidFill>
                <a:latin typeface="Noto Sans"/>
              </a:rPr>
              <a:t>devem</a:t>
            </a:r>
            <a:r>
              <a:rPr sz="156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60" b="0" i="0" dirty="0" err="1">
                <a:solidFill>
                  <a:srgbClr val="202020"/>
                </a:solidFill>
                <a:latin typeface="Noto Sans"/>
              </a:rPr>
              <a:t>interferir</a:t>
            </a:r>
            <a:r>
              <a:rPr sz="1560" b="0" i="0" dirty="0">
                <a:solidFill>
                  <a:srgbClr val="202020"/>
                </a:solidFill>
                <a:latin typeface="Noto Sans"/>
              </a:rPr>
              <a:t> de modo a </a:t>
            </a:r>
            <a:r>
              <a:rPr sz="1560" b="0" i="0" dirty="0" err="1">
                <a:solidFill>
                  <a:srgbClr val="202020"/>
                </a:solidFill>
                <a:latin typeface="Noto Sans"/>
              </a:rPr>
              <a:t>produzir</a:t>
            </a:r>
            <a:r>
              <a:rPr sz="156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60" b="0" i="0" dirty="0" err="1">
                <a:solidFill>
                  <a:srgbClr val="202020"/>
                </a:solidFill>
                <a:latin typeface="Noto Sans"/>
              </a:rPr>
              <a:t>resultados</a:t>
            </a:r>
            <a:r>
              <a:rPr sz="156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60" b="0" i="0" dirty="0" err="1">
                <a:solidFill>
                  <a:srgbClr val="202020"/>
                </a:solidFill>
                <a:latin typeface="Noto Sans"/>
              </a:rPr>
              <a:t>inconsistentes</a:t>
            </a:r>
            <a:r>
              <a:rPr sz="1560" b="0" i="0" dirty="0">
                <a:solidFill>
                  <a:srgbClr val="202020"/>
                </a:solidFill>
                <a:latin typeface="Noto Sans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160520"/>
            <a:ext cx="5349240" cy="1691640"/>
          </a:xfrm>
          <a:prstGeom prst="roundRect">
            <a:avLst/>
          </a:prstGeom>
          <a:solidFill>
            <a:srgbClr val="F3FBF3"/>
          </a:solidFill>
          <a:ln w="15240">
            <a:solidFill>
              <a:srgbClr val="31A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4288536"/>
            <a:ext cx="5020055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366"/>
                </a:solidFill>
                <a:latin typeface="Noto Sans"/>
              </a:rPr>
              <a:t>D — Durabilidade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4690872"/>
            <a:ext cx="4698443" cy="5170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60" b="0" i="0">
                <a:solidFill>
                  <a:srgbClr val="202020"/>
                </a:solidFill>
                <a:latin typeface="Noto Sans"/>
              </a:rPr>
              <a:t>Depois do COMMIT, o resultado confirmado permanece mesmo diante de falhas posteriores.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1138428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Noto Sans"/>
              </a:rPr>
              <a:t>Sistemas de Banco de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338560" cy="51206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dirty="0" err="1">
                <a:solidFill>
                  <a:srgbClr val="202020"/>
                </a:solidFill>
                <a:latin typeface="Noto Sans"/>
              </a:rPr>
              <a:t>Vantagens</a:t>
            </a:r>
            <a:r>
              <a:rPr sz="2400" b="1" i="0" dirty="0">
                <a:solidFill>
                  <a:srgbClr val="202020"/>
                </a:solidFill>
                <a:latin typeface="Noto Sans"/>
              </a:rPr>
              <a:t> e </a:t>
            </a:r>
            <a:r>
              <a:rPr sz="2400" b="1" i="0" dirty="0" err="1">
                <a:solidFill>
                  <a:srgbClr val="202020"/>
                </a:solidFill>
                <a:latin typeface="Noto Sans"/>
              </a:rPr>
              <a:t>limites</a:t>
            </a:r>
            <a:r>
              <a:rPr sz="2400" b="1" i="0" dirty="0">
                <a:solidFill>
                  <a:srgbClr val="202020"/>
                </a:solidFill>
                <a:latin typeface="Noto Sans"/>
              </a:rPr>
              <a:t> da </a:t>
            </a:r>
            <a:r>
              <a:rPr sz="2400" b="1" i="0" dirty="0" err="1">
                <a:solidFill>
                  <a:srgbClr val="202020"/>
                </a:solidFill>
                <a:latin typeface="Noto Sans"/>
              </a:rPr>
              <a:t>abordagem</a:t>
            </a:r>
            <a:r>
              <a:rPr sz="2400" b="1" i="0" dirty="0">
                <a:solidFill>
                  <a:srgbClr val="202020"/>
                </a:solidFill>
                <a:latin typeface="Noto Sans"/>
              </a:rPr>
              <a:t> SBD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542287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84848"/>
            <a:ext cx="1542287" cy="731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84848"/>
            <a:ext cx="1542287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84848"/>
            <a:ext cx="1542287" cy="7315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84848"/>
            <a:ext cx="1542287" cy="731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84848"/>
            <a:ext cx="1542287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84848"/>
            <a:ext cx="1542287" cy="7315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84848"/>
            <a:ext cx="1542287" cy="73152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1901952"/>
          <a:ext cx="11155679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530" b="1">
                          <a:solidFill>
                            <a:srgbClr val="FFFFFF"/>
                          </a:solidFill>
                          <a:latin typeface="Noto Sans"/>
                        </a:rPr>
                        <a:t>Vantagens</a:t>
                      </a:r>
                    </a:p>
                  </a:txBody>
                  <a:tcPr marL="73152" marR="73152" marT="36576" marB="36576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30" b="1" dirty="0">
                          <a:solidFill>
                            <a:srgbClr val="FFFFFF"/>
                          </a:solidFill>
                          <a:latin typeface="Noto Sans"/>
                        </a:rPr>
                        <a:t>Custos / </a:t>
                      </a:r>
                      <a:r>
                        <a:rPr sz="1530" b="1" dirty="0" err="1">
                          <a:solidFill>
                            <a:srgbClr val="FFFFFF"/>
                          </a:solidFill>
                          <a:latin typeface="Noto Sans"/>
                        </a:rPr>
                        <a:t>situações</a:t>
                      </a:r>
                      <a:r>
                        <a:rPr sz="1530" b="1" dirty="0">
                          <a:solidFill>
                            <a:srgbClr val="FFFFFF"/>
                          </a:solidFill>
                          <a:latin typeface="Noto Sans"/>
                        </a:rPr>
                        <a:t> </a:t>
                      </a:r>
                      <a:r>
                        <a:rPr sz="1530" b="1" dirty="0" err="1">
                          <a:solidFill>
                            <a:srgbClr val="FFFFFF"/>
                          </a:solidFill>
                          <a:latin typeface="Noto Sans"/>
                        </a:rPr>
                        <a:t>em</a:t>
                      </a:r>
                      <a:r>
                        <a:rPr sz="1530" b="1" dirty="0">
                          <a:solidFill>
                            <a:srgbClr val="FFFFFF"/>
                          </a:solidFill>
                          <a:latin typeface="Noto Sans"/>
                        </a:rPr>
                        <a:t> </a:t>
                      </a:r>
                      <a:r>
                        <a:rPr sz="1530" b="1" dirty="0" err="1">
                          <a:solidFill>
                            <a:srgbClr val="FFFFFF"/>
                          </a:solidFill>
                          <a:latin typeface="Noto Sans"/>
                        </a:rPr>
                        <a:t>que</a:t>
                      </a:r>
                      <a:r>
                        <a:rPr sz="1530" b="1" dirty="0">
                          <a:solidFill>
                            <a:srgbClr val="FFFFFF"/>
                          </a:solidFill>
                          <a:latin typeface="Noto Sans"/>
                        </a:rPr>
                        <a:t> </a:t>
                      </a:r>
                      <a:r>
                        <a:rPr sz="1530" b="1" dirty="0" err="1">
                          <a:solidFill>
                            <a:srgbClr val="FFFFFF"/>
                          </a:solidFill>
                          <a:latin typeface="Noto Sans"/>
                        </a:rPr>
                        <a:t>pode</a:t>
                      </a:r>
                      <a:r>
                        <a:rPr sz="1530" b="1" dirty="0">
                          <a:solidFill>
                            <a:srgbClr val="FFFFFF"/>
                          </a:solidFill>
                          <a:latin typeface="Noto Sans"/>
                        </a:rPr>
                        <a:t> </a:t>
                      </a:r>
                      <a:r>
                        <a:rPr sz="1530" b="1" dirty="0" err="1">
                          <a:solidFill>
                            <a:srgbClr val="FFFFFF"/>
                          </a:solidFill>
                          <a:latin typeface="Noto Sans"/>
                        </a:rPr>
                        <a:t>não</a:t>
                      </a:r>
                      <a:r>
                        <a:rPr sz="1530" b="1" dirty="0">
                          <a:solidFill>
                            <a:srgbClr val="FFFFFF"/>
                          </a:solidFill>
                          <a:latin typeface="Noto Sans"/>
                        </a:rPr>
                        <a:t> </a:t>
                      </a:r>
                      <a:r>
                        <a:rPr sz="1530" b="1" dirty="0" err="1">
                          <a:solidFill>
                            <a:srgbClr val="FFFFFF"/>
                          </a:solidFill>
                          <a:latin typeface="Noto Sans"/>
                        </a:rPr>
                        <a:t>compensar</a:t>
                      </a:r>
                      <a:endParaRPr sz="1530" b="1" dirty="0">
                        <a:solidFill>
                          <a:srgbClr val="FFFFFF"/>
                        </a:solidFill>
                        <a:latin typeface="Noto Sans"/>
                      </a:endParaRPr>
                    </a:p>
                  </a:txBody>
                  <a:tcPr marL="73152" marR="73152" marT="36576" marB="36576"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530">
                          <a:solidFill>
                            <a:srgbClr val="202020"/>
                          </a:solidFill>
                          <a:latin typeface="Noto Sans"/>
                        </a:rPr>
                        <a:t>Padronização e compartilhamento dos dados.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30" dirty="0">
                          <a:solidFill>
                            <a:srgbClr val="202020"/>
                          </a:solidFill>
                          <a:latin typeface="Noto Sans"/>
                        </a:rPr>
                        <a:t>Overhead </a:t>
                      </a:r>
                      <a:r>
                        <a:rPr sz="1530" dirty="0" err="1">
                          <a:solidFill>
                            <a:srgbClr val="202020"/>
                          </a:solidFill>
                          <a:latin typeface="Noto Sans"/>
                        </a:rPr>
                        <a:t>adicional</a:t>
                      </a:r>
                      <a:r>
                        <a:rPr sz="1530" dirty="0">
                          <a:solidFill>
                            <a:srgbClr val="202020"/>
                          </a:solidFill>
                          <a:latin typeface="Noto Sans"/>
                        </a:rPr>
                        <a:t> de software e </a:t>
                      </a:r>
                      <a:r>
                        <a:rPr sz="1530" dirty="0" err="1">
                          <a:solidFill>
                            <a:srgbClr val="202020"/>
                          </a:solidFill>
                          <a:latin typeface="Noto Sans"/>
                        </a:rPr>
                        <a:t>administração</a:t>
                      </a:r>
                      <a:r>
                        <a:rPr sz="1530" dirty="0">
                          <a:solidFill>
                            <a:srgbClr val="202020"/>
                          </a:solidFill>
                          <a:latin typeface="Noto Sans"/>
                        </a:rPr>
                        <a:t>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530">
                          <a:solidFill>
                            <a:srgbClr val="202020"/>
                          </a:solidFill>
                          <a:latin typeface="Noto Sans"/>
                        </a:rPr>
                        <a:t>Redução do tempo de desenvolvimento de aplicações.</a:t>
                      </a:r>
                    </a:p>
                  </a:txBody>
                  <a:tcPr marL="73152" marR="73152" marT="36576" marB="36576"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30" dirty="0">
                          <a:solidFill>
                            <a:srgbClr val="202020"/>
                          </a:solidFill>
                          <a:latin typeface="Noto Sans"/>
                        </a:rPr>
                        <a:t>Maior </a:t>
                      </a:r>
                      <a:r>
                        <a:rPr sz="1530" dirty="0" err="1">
                          <a:solidFill>
                            <a:srgbClr val="202020"/>
                          </a:solidFill>
                          <a:latin typeface="Noto Sans"/>
                        </a:rPr>
                        <a:t>complexidade</a:t>
                      </a:r>
                      <a:r>
                        <a:rPr sz="1530" dirty="0">
                          <a:solidFill>
                            <a:srgbClr val="202020"/>
                          </a:solidFill>
                          <a:latin typeface="Noto Sans"/>
                        </a:rPr>
                        <a:t> e </a:t>
                      </a:r>
                      <a:r>
                        <a:rPr sz="1530" dirty="0" err="1">
                          <a:solidFill>
                            <a:srgbClr val="202020"/>
                          </a:solidFill>
                          <a:latin typeface="Noto Sans"/>
                        </a:rPr>
                        <a:t>necessidade</a:t>
                      </a:r>
                      <a:r>
                        <a:rPr sz="1530" dirty="0">
                          <a:solidFill>
                            <a:srgbClr val="202020"/>
                          </a:solidFill>
                          <a:latin typeface="Noto Sans"/>
                        </a:rPr>
                        <a:t> de </a:t>
                      </a:r>
                      <a:r>
                        <a:rPr sz="1530" dirty="0" err="1">
                          <a:solidFill>
                            <a:srgbClr val="202020"/>
                          </a:solidFill>
                          <a:latin typeface="Noto Sans"/>
                        </a:rPr>
                        <a:t>profissionais</a:t>
                      </a:r>
                      <a:r>
                        <a:rPr sz="1530" dirty="0">
                          <a:solidFill>
                            <a:srgbClr val="202020"/>
                          </a:solidFill>
                          <a:latin typeface="Noto Sans"/>
                        </a:rPr>
                        <a:t> </a:t>
                      </a:r>
                      <a:r>
                        <a:rPr sz="1530" dirty="0" err="1">
                          <a:solidFill>
                            <a:srgbClr val="202020"/>
                          </a:solidFill>
                          <a:latin typeface="Noto Sans"/>
                        </a:rPr>
                        <a:t>especializados</a:t>
                      </a:r>
                      <a:r>
                        <a:rPr sz="1530" dirty="0">
                          <a:solidFill>
                            <a:srgbClr val="202020"/>
                          </a:solidFill>
                          <a:latin typeface="Noto Sans"/>
                        </a:rPr>
                        <a:t>.</a:t>
                      </a:r>
                    </a:p>
                  </a:txBody>
                  <a:tcPr marL="73152" marR="73152" marT="36576" marB="36576">
                    <a:solidFill>
                      <a:srgbClr val="F5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530">
                          <a:solidFill>
                            <a:srgbClr val="202020"/>
                          </a:solidFill>
                          <a:latin typeface="Noto Sans"/>
                        </a:rPr>
                        <a:t>Flexibilidade para manutenção e evolução.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30" dirty="0" err="1">
                          <a:solidFill>
                            <a:srgbClr val="202020"/>
                          </a:solidFill>
                          <a:latin typeface="Noto Sans"/>
                        </a:rPr>
                        <a:t>Aplicações</a:t>
                      </a:r>
                      <a:r>
                        <a:rPr sz="1530" dirty="0">
                          <a:solidFill>
                            <a:srgbClr val="202020"/>
                          </a:solidFill>
                          <a:latin typeface="Noto Sans"/>
                        </a:rPr>
                        <a:t> </a:t>
                      </a:r>
                      <a:r>
                        <a:rPr sz="1530" dirty="0" err="1">
                          <a:solidFill>
                            <a:srgbClr val="202020"/>
                          </a:solidFill>
                          <a:latin typeface="Noto Sans"/>
                        </a:rPr>
                        <a:t>muito</a:t>
                      </a:r>
                      <a:r>
                        <a:rPr sz="1530" dirty="0">
                          <a:solidFill>
                            <a:srgbClr val="202020"/>
                          </a:solidFill>
                          <a:latin typeface="Noto Sans"/>
                        </a:rPr>
                        <a:t> simples e com dados </a:t>
                      </a:r>
                      <a:r>
                        <a:rPr sz="1530" dirty="0" err="1">
                          <a:solidFill>
                            <a:srgbClr val="202020"/>
                          </a:solidFill>
                          <a:latin typeface="Noto Sans"/>
                        </a:rPr>
                        <a:t>estáticos</a:t>
                      </a:r>
                      <a:r>
                        <a:rPr sz="1530" dirty="0">
                          <a:solidFill>
                            <a:srgbClr val="202020"/>
                          </a:solidFill>
                          <a:latin typeface="Noto Sans"/>
                        </a:rPr>
                        <a:t> </a:t>
                      </a:r>
                      <a:r>
                        <a:rPr sz="1530" dirty="0" err="1">
                          <a:solidFill>
                            <a:srgbClr val="202020"/>
                          </a:solidFill>
                          <a:latin typeface="Noto Sans"/>
                        </a:rPr>
                        <a:t>podem</a:t>
                      </a:r>
                      <a:r>
                        <a:rPr sz="1530" dirty="0">
                          <a:solidFill>
                            <a:srgbClr val="202020"/>
                          </a:solidFill>
                          <a:latin typeface="Noto Sans"/>
                        </a:rPr>
                        <a:t> </a:t>
                      </a:r>
                      <a:r>
                        <a:rPr sz="1530" dirty="0" err="1">
                          <a:solidFill>
                            <a:srgbClr val="202020"/>
                          </a:solidFill>
                          <a:latin typeface="Noto Sans"/>
                        </a:rPr>
                        <a:t>não</a:t>
                      </a:r>
                      <a:r>
                        <a:rPr sz="1530" dirty="0">
                          <a:solidFill>
                            <a:srgbClr val="202020"/>
                          </a:solidFill>
                          <a:latin typeface="Noto Sans"/>
                        </a:rPr>
                        <a:t> </a:t>
                      </a:r>
                      <a:r>
                        <a:rPr sz="1530" dirty="0" err="1">
                          <a:solidFill>
                            <a:srgbClr val="202020"/>
                          </a:solidFill>
                          <a:latin typeface="Noto Sans"/>
                        </a:rPr>
                        <a:t>justificar</a:t>
                      </a:r>
                      <a:r>
                        <a:rPr sz="1530" dirty="0">
                          <a:solidFill>
                            <a:srgbClr val="202020"/>
                          </a:solidFill>
                          <a:latin typeface="Noto Sans"/>
                        </a:rPr>
                        <a:t> um SGBD </a:t>
                      </a:r>
                      <a:r>
                        <a:rPr sz="1530" dirty="0" err="1">
                          <a:solidFill>
                            <a:srgbClr val="202020"/>
                          </a:solidFill>
                          <a:latin typeface="Noto Sans"/>
                        </a:rPr>
                        <a:t>completo</a:t>
                      </a:r>
                      <a:r>
                        <a:rPr sz="1530" dirty="0">
                          <a:solidFill>
                            <a:srgbClr val="202020"/>
                          </a:solidFill>
                          <a:latin typeface="Noto Sans"/>
                        </a:rPr>
                        <a:t>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530">
                          <a:solidFill>
                            <a:srgbClr val="202020"/>
                          </a:solidFill>
                          <a:latin typeface="Noto Sans"/>
                        </a:rPr>
                        <a:t>Disponibilidade de dados atualizados para a organização.</a:t>
                      </a:r>
                    </a:p>
                  </a:txBody>
                  <a:tcPr marL="73152" marR="73152" marT="36576" marB="36576"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30">
                          <a:solidFill>
                            <a:srgbClr val="202020"/>
                          </a:solidFill>
                          <a:latin typeface="Noto Sans"/>
                        </a:rPr>
                        <a:t>Sistemas embarcados ou de tempo real rígido podem exigir soluções mais enxutas.</a:t>
                      </a:r>
                    </a:p>
                  </a:txBody>
                  <a:tcPr marL="73152" marR="73152" marT="36576" marB="36576">
                    <a:solidFill>
                      <a:srgbClr val="F5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530" dirty="0" err="1">
                          <a:solidFill>
                            <a:srgbClr val="202020"/>
                          </a:solidFill>
                          <a:latin typeface="Noto Sans"/>
                        </a:rPr>
                        <a:t>Segurança</a:t>
                      </a:r>
                      <a:r>
                        <a:rPr sz="1530" dirty="0">
                          <a:solidFill>
                            <a:srgbClr val="202020"/>
                          </a:solidFill>
                          <a:latin typeface="Noto Sans"/>
                        </a:rPr>
                        <a:t>, </a:t>
                      </a:r>
                      <a:r>
                        <a:rPr sz="1530" dirty="0" err="1">
                          <a:solidFill>
                            <a:srgbClr val="202020"/>
                          </a:solidFill>
                          <a:latin typeface="Noto Sans"/>
                        </a:rPr>
                        <a:t>integridade</a:t>
                      </a:r>
                      <a:r>
                        <a:rPr sz="1530" dirty="0">
                          <a:solidFill>
                            <a:srgbClr val="202020"/>
                          </a:solidFill>
                          <a:latin typeface="Noto Sans"/>
                        </a:rPr>
                        <a:t>, </a:t>
                      </a:r>
                      <a:r>
                        <a:rPr sz="1530" dirty="0" err="1">
                          <a:solidFill>
                            <a:srgbClr val="202020"/>
                          </a:solidFill>
                          <a:latin typeface="Noto Sans"/>
                        </a:rPr>
                        <a:t>concorrência</a:t>
                      </a:r>
                      <a:r>
                        <a:rPr sz="1530" dirty="0">
                          <a:solidFill>
                            <a:srgbClr val="202020"/>
                          </a:solidFill>
                          <a:latin typeface="Noto Sans"/>
                        </a:rPr>
                        <a:t> e </a:t>
                      </a:r>
                      <a:r>
                        <a:rPr sz="1530" dirty="0" err="1">
                          <a:solidFill>
                            <a:srgbClr val="202020"/>
                          </a:solidFill>
                          <a:latin typeface="Noto Sans"/>
                        </a:rPr>
                        <a:t>recuperação</a:t>
                      </a:r>
                      <a:r>
                        <a:rPr sz="1530" dirty="0">
                          <a:solidFill>
                            <a:srgbClr val="202020"/>
                          </a:solidFill>
                          <a:latin typeface="Noto Sans"/>
                        </a:rPr>
                        <a:t> </a:t>
                      </a:r>
                      <a:r>
                        <a:rPr sz="1530" dirty="0" err="1">
                          <a:solidFill>
                            <a:srgbClr val="202020"/>
                          </a:solidFill>
                          <a:latin typeface="Noto Sans"/>
                        </a:rPr>
                        <a:t>centralizadas</a:t>
                      </a:r>
                      <a:r>
                        <a:rPr sz="1530" dirty="0">
                          <a:solidFill>
                            <a:srgbClr val="202020"/>
                          </a:solidFill>
                          <a:latin typeface="Noto Sans"/>
                        </a:rPr>
                        <a:t>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30" dirty="0">
                          <a:solidFill>
                            <a:srgbClr val="202020"/>
                          </a:solidFill>
                          <a:latin typeface="Noto Sans"/>
                        </a:rPr>
                        <a:t>O </a:t>
                      </a:r>
                      <a:r>
                        <a:rPr sz="1530" dirty="0" err="1">
                          <a:solidFill>
                            <a:srgbClr val="202020"/>
                          </a:solidFill>
                          <a:latin typeface="Noto Sans"/>
                        </a:rPr>
                        <a:t>projeto</a:t>
                      </a:r>
                      <a:r>
                        <a:rPr sz="1530" dirty="0">
                          <a:solidFill>
                            <a:srgbClr val="202020"/>
                          </a:solidFill>
                          <a:latin typeface="Noto Sans"/>
                        </a:rPr>
                        <a:t> </a:t>
                      </a:r>
                      <a:r>
                        <a:rPr sz="1530" dirty="0" err="1">
                          <a:solidFill>
                            <a:srgbClr val="202020"/>
                          </a:solidFill>
                          <a:latin typeface="Noto Sans"/>
                        </a:rPr>
                        <a:t>deve</a:t>
                      </a:r>
                      <a:r>
                        <a:rPr sz="1530" dirty="0">
                          <a:solidFill>
                            <a:srgbClr val="202020"/>
                          </a:solidFill>
                          <a:latin typeface="Noto Sans"/>
                        </a:rPr>
                        <a:t> </a:t>
                      </a:r>
                      <a:r>
                        <a:rPr sz="1530" dirty="0" err="1">
                          <a:solidFill>
                            <a:srgbClr val="202020"/>
                          </a:solidFill>
                          <a:latin typeface="Noto Sans"/>
                        </a:rPr>
                        <a:t>considerar</a:t>
                      </a:r>
                      <a:r>
                        <a:rPr sz="1530" dirty="0">
                          <a:solidFill>
                            <a:srgbClr val="202020"/>
                          </a:solidFill>
                          <a:latin typeface="Noto Sans"/>
                        </a:rPr>
                        <a:t> </a:t>
                      </a:r>
                      <a:r>
                        <a:rPr sz="1530" dirty="0" err="1">
                          <a:solidFill>
                            <a:srgbClr val="202020"/>
                          </a:solidFill>
                          <a:latin typeface="Noto Sans"/>
                        </a:rPr>
                        <a:t>custo</a:t>
                      </a:r>
                      <a:r>
                        <a:rPr sz="1530" dirty="0">
                          <a:solidFill>
                            <a:srgbClr val="202020"/>
                          </a:solidFill>
                          <a:latin typeface="Noto Sans"/>
                        </a:rPr>
                        <a:t>, </a:t>
                      </a:r>
                      <a:r>
                        <a:rPr sz="1530" dirty="0" err="1">
                          <a:solidFill>
                            <a:srgbClr val="202020"/>
                          </a:solidFill>
                          <a:latin typeface="Noto Sans"/>
                        </a:rPr>
                        <a:t>consumo</a:t>
                      </a:r>
                      <a:r>
                        <a:rPr sz="1530" dirty="0">
                          <a:solidFill>
                            <a:srgbClr val="202020"/>
                          </a:solidFill>
                          <a:latin typeface="Noto Sans"/>
                        </a:rPr>
                        <a:t> de </a:t>
                      </a:r>
                      <a:r>
                        <a:rPr sz="1530" dirty="0" err="1">
                          <a:solidFill>
                            <a:srgbClr val="202020"/>
                          </a:solidFill>
                          <a:latin typeface="Noto Sans"/>
                        </a:rPr>
                        <a:t>recursos</a:t>
                      </a:r>
                      <a:r>
                        <a:rPr sz="1530" dirty="0">
                          <a:solidFill>
                            <a:srgbClr val="202020"/>
                          </a:solidFill>
                          <a:latin typeface="Noto Sans"/>
                        </a:rPr>
                        <a:t> e </a:t>
                      </a:r>
                      <a:r>
                        <a:rPr sz="1530" dirty="0" err="1">
                          <a:solidFill>
                            <a:srgbClr val="202020"/>
                          </a:solidFill>
                          <a:latin typeface="Noto Sans"/>
                        </a:rPr>
                        <a:t>requisitos</a:t>
                      </a:r>
                      <a:r>
                        <a:rPr sz="1530" dirty="0">
                          <a:solidFill>
                            <a:srgbClr val="202020"/>
                          </a:solidFill>
                          <a:latin typeface="Noto Sans"/>
                        </a:rPr>
                        <a:t> </a:t>
                      </a:r>
                      <a:r>
                        <a:rPr sz="1530" dirty="0" err="1">
                          <a:solidFill>
                            <a:srgbClr val="202020"/>
                          </a:solidFill>
                          <a:latin typeface="Noto Sans"/>
                        </a:rPr>
                        <a:t>específicos</a:t>
                      </a:r>
                      <a:r>
                        <a:rPr sz="1530" dirty="0">
                          <a:solidFill>
                            <a:srgbClr val="202020"/>
                          </a:solidFill>
                          <a:latin typeface="Noto Sans"/>
                        </a:rPr>
                        <a:t>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1138428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Noto Sans"/>
              </a:rPr>
              <a:t>Arquitetura do SGBD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338560" cy="51206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02020"/>
                </a:solidFill>
                <a:latin typeface="Noto Sans"/>
              </a:rPr>
              <a:t>Como uma solicitação atravessa um SGBD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542287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84848"/>
            <a:ext cx="1542287" cy="731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84848"/>
            <a:ext cx="1542287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84848"/>
            <a:ext cx="1542287" cy="7315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84848"/>
            <a:ext cx="1542287" cy="731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84848"/>
            <a:ext cx="1542287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84848"/>
            <a:ext cx="1542287" cy="7315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84848"/>
            <a:ext cx="1542287" cy="73152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1856231"/>
            <a:ext cx="10972800" cy="8217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 dirty="0">
                <a:solidFill>
                  <a:srgbClr val="202020"/>
                </a:solidFill>
                <a:latin typeface="Noto Sans"/>
              </a:rPr>
              <a:t>Um SGBD real </a:t>
            </a:r>
            <a:r>
              <a:rPr sz="1700" b="0" i="0" dirty="0" err="1">
                <a:solidFill>
                  <a:srgbClr val="202020"/>
                </a:solidFill>
                <a:latin typeface="Noto Sans"/>
              </a:rPr>
              <a:t>possui</a:t>
            </a:r>
            <a:r>
              <a:rPr sz="170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00" b="0" i="0" dirty="0" err="1">
                <a:solidFill>
                  <a:srgbClr val="202020"/>
                </a:solidFill>
                <a:latin typeface="Noto Sans"/>
              </a:rPr>
              <a:t>módulos</a:t>
            </a:r>
            <a:r>
              <a:rPr sz="170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00" b="0" i="0" dirty="0" err="1">
                <a:solidFill>
                  <a:srgbClr val="202020"/>
                </a:solidFill>
                <a:latin typeface="Noto Sans"/>
              </a:rPr>
              <a:t>especializados</a:t>
            </a:r>
            <a:r>
              <a:rPr sz="1700" b="0" i="0" dirty="0">
                <a:solidFill>
                  <a:srgbClr val="202020"/>
                </a:solidFill>
                <a:latin typeface="Noto Sans"/>
              </a:rPr>
              <a:t>. </a:t>
            </a:r>
            <a:r>
              <a:rPr sz="1700" b="0" i="0" dirty="0" err="1">
                <a:solidFill>
                  <a:srgbClr val="202020"/>
                </a:solidFill>
                <a:latin typeface="Noto Sans"/>
              </a:rPr>
              <a:t>Consultas</a:t>
            </a:r>
            <a:r>
              <a:rPr sz="1700" b="0" i="0" dirty="0">
                <a:solidFill>
                  <a:srgbClr val="202020"/>
                </a:solidFill>
                <a:latin typeface="Noto Sans"/>
              </a:rPr>
              <a:t>, </a:t>
            </a:r>
            <a:r>
              <a:rPr sz="1700" b="0" i="0" dirty="0" err="1">
                <a:solidFill>
                  <a:srgbClr val="202020"/>
                </a:solidFill>
                <a:latin typeface="Noto Sans"/>
              </a:rPr>
              <a:t>transações</a:t>
            </a:r>
            <a:r>
              <a:rPr sz="1700" b="0" i="0" dirty="0">
                <a:solidFill>
                  <a:srgbClr val="202020"/>
                </a:solidFill>
                <a:latin typeface="Noto Sans"/>
              </a:rPr>
              <a:t> e </a:t>
            </a:r>
            <a:r>
              <a:rPr sz="1700" b="0" i="0" dirty="0" err="1">
                <a:solidFill>
                  <a:srgbClr val="202020"/>
                </a:solidFill>
                <a:latin typeface="Noto Sans"/>
              </a:rPr>
              <a:t>comandos</a:t>
            </a:r>
            <a:r>
              <a:rPr sz="170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00" b="0" i="0" dirty="0" err="1">
                <a:solidFill>
                  <a:srgbClr val="202020"/>
                </a:solidFill>
                <a:latin typeface="Noto Sans"/>
              </a:rPr>
              <a:t>administrativos</a:t>
            </a:r>
            <a:r>
              <a:rPr sz="170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00" b="0" i="0" dirty="0" err="1">
                <a:solidFill>
                  <a:srgbClr val="202020"/>
                </a:solidFill>
                <a:latin typeface="Noto Sans"/>
              </a:rPr>
              <a:t>percorrem</a:t>
            </a:r>
            <a:r>
              <a:rPr sz="170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00" b="0" i="0" dirty="0" err="1">
                <a:solidFill>
                  <a:srgbClr val="202020"/>
                </a:solidFill>
                <a:latin typeface="Noto Sans"/>
              </a:rPr>
              <a:t>componentes</a:t>
            </a:r>
            <a:r>
              <a:rPr sz="170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00" b="0" i="0" dirty="0" err="1">
                <a:solidFill>
                  <a:srgbClr val="202020"/>
                </a:solidFill>
                <a:latin typeface="Noto Sans"/>
              </a:rPr>
              <a:t>que</a:t>
            </a:r>
            <a:r>
              <a:rPr sz="170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00" b="0" i="0" dirty="0" err="1">
                <a:solidFill>
                  <a:srgbClr val="202020"/>
                </a:solidFill>
                <a:latin typeface="Noto Sans"/>
              </a:rPr>
              <a:t>analisam</a:t>
            </a:r>
            <a:r>
              <a:rPr sz="1700" b="0" i="0" dirty="0">
                <a:solidFill>
                  <a:srgbClr val="202020"/>
                </a:solidFill>
                <a:latin typeface="Noto Sans"/>
              </a:rPr>
              <a:t>, </a:t>
            </a:r>
            <a:r>
              <a:rPr sz="1700" b="0" i="0" dirty="0" err="1">
                <a:solidFill>
                  <a:srgbClr val="202020"/>
                </a:solidFill>
                <a:latin typeface="Noto Sans"/>
              </a:rPr>
              <a:t>otimizam</a:t>
            </a:r>
            <a:r>
              <a:rPr sz="1700" b="0" i="0" dirty="0">
                <a:solidFill>
                  <a:srgbClr val="202020"/>
                </a:solidFill>
                <a:latin typeface="Noto Sans"/>
              </a:rPr>
              <a:t> e </a:t>
            </a:r>
            <a:r>
              <a:rPr sz="1700" b="0" i="0" dirty="0" err="1">
                <a:solidFill>
                  <a:srgbClr val="202020"/>
                </a:solidFill>
                <a:latin typeface="Noto Sans"/>
              </a:rPr>
              <a:t>executam</a:t>
            </a:r>
            <a:r>
              <a:rPr sz="170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00" b="0" i="0" dirty="0" err="1">
                <a:solidFill>
                  <a:srgbClr val="202020"/>
                </a:solidFill>
                <a:latin typeface="Noto Sans"/>
              </a:rPr>
              <a:t>operações</a:t>
            </a:r>
            <a:r>
              <a:rPr sz="170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00" b="0" i="0" dirty="0" err="1">
                <a:solidFill>
                  <a:srgbClr val="202020"/>
                </a:solidFill>
                <a:latin typeface="Noto Sans"/>
              </a:rPr>
              <a:t>sobre</a:t>
            </a:r>
            <a:r>
              <a:rPr sz="1700" b="0" i="0" dirty="0">
                <a:solidFill>
                  <a:srgbClr val="202020"/>
                </a:solidFill>
                <a:latin typeface="Noto Sans"/>
              </a:rPr>
              <a:t> o </a:t>
            </a:r>
            <a:r>
              <a:rPr sz="1700" b="0" i="0" dirty="0" err="1">
                <a:solidFill>
                  <a:srgbClr val="202020"/>
                </a:solidFill>
                <a:latin typeface="Noto Sans"/>
              </a:rPr>
              <a:t>catálogo</a:t>
            </a:r>
            <a:r>
              <a:rPr sz="1700" b="0" i="0" dirty="0">
                <a:solidFill>
                  <a:srgbClr val="202020"/>
                </a:solidFill>
                <a:latin typeface="Noto Sans"/>
              </a:rPr>
              <a:t> e </a:t>
            </a:r>
            <a:r>
              <a:rPr sz="1700" b="0" i="0" dirty="0" err="1">
                <a:solidFill>
                  <a:srgbClr val="202020"/>
                </a:solidFill>
                <a:latin typeface="Noto Sans"/>
              </a:rPr>
              <a:t>os</a:t>
            </a:r>
            <a:r>
              <a:rPr sz="1700" b="0" i="0" dirty="0">
                <a:solidFill>
                  <a:srgbClr val="202020"/>
                </a:solidFill>
                <a:latin typeface="Noto Sans"/>
              </a:rPr>
              <a:t> dados </a:t>
            </a:r>
            <a:r>
              <a:rPr sz="1700" b="0" i="0" dirty="0" err="1">
                <a:solidFill>
                  <a:srgbClr val="202020"/>
                </a:solidFill>
                <a:latin typeface="Noto Sans"/>
              </a:rPr>
              <a:t>armazenados</a:t>
            </a:r>
            <a:r>
              <a:rPr sz="1700" b="0" i="0" dirty="0">
                <a:solidFill>
                  <a:srgbClr val="202020"/>
                </a:solidFill>
                <a:latin typeface="Noto Sans"/>
              </a:rPr>
              <a:t>.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E9594F8C-87C4-FF45-5B08-A6F82414A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836" y="2677994"/>
            <a:ext cx="6967015" cy="389173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1138428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Noto Sans"/>
              </a:rPr>
              <a:t>Arquitetura do SGBD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338560" cy="51206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02020"/>
                </a:solidFill>
                <a:latin typeface="Noto Sans"/>
              </a:rPr>
              <a:t>Módulos principais de um SGBD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542287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84848"/>
            <a:ext cx="1542287" cy="731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84848"/>
            <a:ext cx="1542287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84848"/>
            <a:ext cx="1542287" cy="7315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84848"/>
            <a:ext cx="1542287" cy="731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84848"/>
            <a:ext cx="1542287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84848"/>
            <a:ext cx="1542287" cy="7315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84848"/>
            <a:ext cx="1542287" cy="73152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1901952"/>
          <a:ext cx="1115568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3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2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1297"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Noto Sans"/>
                        </a:rPr>
                        <a:t>Componente</a:t>
                      </a:r>
                    </a:p>
                  </a:txBody>
                  <a:tcPr marL="73152" marR="73152" marT="36576" marB="36576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Noto Sans"/>
                        </a:rPr>
                        <a:t>Função principal</a:t>
                      </a:r>
                    </a:p>
                  </a:txBody>
                  <a:tcPr marL="73152" marR="73152" marT="36576" marB="36576"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297">
                <a:tc>
                  <a:txBody>
                    <a:bodyPr/>
                    <a:lstStyle/>
                    <a:p>
                      <a:pPr algn="l"/>
                      <a:r>
                        <a:rPr sz="1550">
                          <a:solidFill>
                            <a:srgbClr val="202020"/>
                          </a:solidFill>
                          <a:latin typeface="Noto Sans"/>
                        </a:rPr>
                        <a:t>Catálogo / metadados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50">
                          <a:solidFill>
                            <a:srgbClr val="202020"/>
                          </a:solidFill>
                          <a:latin typeface="Noto Sans"/>
                        </a:rPr>
                        <a:t>Mantém a descrição das estruturas, objetos e restrições do banco.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297">
                <a:tc>
                  <a:txBody>
                    <a:bodyPr/>
                    <a:lstStyle/>
                    <a:p>
                      <a:pPr algn="l"/>
                      <a:r>
                        <a:rPr sz="1550">
                          <a:solidFill>
                            <a:srgbClr val="202020"/>
                          </a:solidFill>
                          <a:latin typeface="Noto Sans"/>
                        </a:rPr>
                        <a:t>Compilador da DDL</a:t>
                      </a:r>
                    </a:p>
                  </a:txBody>
                  <a:tcPr marL="73152" marR="73152" marT="36576" marB="36576"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50">
                          <a:solidFill>
                            <a:srgbClr val="202020"/>
                          </a:solidFill>
                          <a:latin typeface="Noto Sans"/>
                        </a:rPr>
                        <a:t>Processa comandos que definem ou alteram objetos do banco.</a:t>
                      </a:r>
                    </a:p>
                  </a:txBody>
                  <a:tcPr marL="73152" marR="73152" marT="36576" marB="36576">
                    <a:solidFill>
                      <a:srgbClr val="F5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297">
                <a:tc>
                  <a:txBody>
                    <a:bodyPr/>
                    <a:lstStyle/>
                    <a:p>
                      <a:pPr algn="l"/>
                      <a:r>
                        <a:rPr sz="1550">
                          <a:solidFill>
                            <a:srgbClr val="202020"/>
                          </a:solidFill>
                          <a:latin typeface="Noto Sans"/>
                        </a:rPr>
                        <a:t>Compilador DML / otimizador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50">
                          <a:solidFill>
                            <a:srgbClr val="202020"/>
                          </a:solidFill>
                          <a:latin typeface="Noto Sans"/>
                        </a:rPr>
                        <a:t>Analisa consultas e procura uma estratégia eficiente de execução.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297">
                <a:tc>
                  <a:txBody>
                    <a:bodyPr/>
                    <a:lstStyle/>
                    <a:p>
                      <a:pPr algn="l"/>
                      <a:r>
                        <a:rPr sz="1550">
                          <a:solidFill>
                            <a:srgbClr val="202020"/>
                          </a:solidFill>
                          <a:latin typeface="Noto Sans"/>
                        </a:rPr>
                        <a:t>Processador de runtime</a:t>
                      </a:r>
                    </a:p>
                  </a:txBody>
                  <a:tcPr marL="73152" marR="73152" marT="36576" marB="36576"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50">
                          <a:solidFill>
                            <a:srgbClr val="202020"/>
                          </a:solidFill>
                          <a:latin typeface="Noto Sans"/>
                        </a:rPr>
                        <a:t>Recebe e executa as requisições em tempo de execução; é o núcleo do processamento.</a:t>
                      </a:r>
                    </a:p>
                  </a:txBody>
                  <a:tcPr marL="73152" marR="73152" marT="36576" marB="36576">
                    <a:solidFill>
                      <a:srgbClr val="F5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297">
                <a:tc>
                  <a:txBody>
                    <a:bodyPr/>
                    <a:lstStyle/>
                    <a:p>
                      <a:pPr algn="l"/>
                      <a:r>
                        <a:rPr sz="1550">
                          <a:solidFill>
                            <a:srgbClr val="202020"/>
                          </a:solidFill>
                          <a:latin typeface="Noto Sans"/>
                        </a:rPr>
                        <a:t>Gerenciador de dados armazenados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50">
                          <a:solidFill>
                            <a:srgbClr val="202020"/>
                          </a:solidFill>
                          <a:latin typeface="Noto Sans"/>
                        </a:rPr>
                        <a:t>Realiza operações de leitura e gravação sobre os dados físicos.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1298">
                <a:tc>
                  <a:txBody>
                    <a:bodyPr/>
                    <a:lstStyle/>
                    <a:p>
                      <a:pPr algn="l"/>
                      <a:r>
                        <a:rPr sz="1550">
                          <a:solidFill>
                            <a:srgbClr val="202020"/>
                          </a:solidFill>
                          <a:latin typeface="Noto Sans"/>
                        </a:rPr>
                        <a:t>Concorrência / backup / recovery</a:t>
                      </a:r>
                    </a:p>
                  </a:txBody>
                  <a:tcPr marL="73152" marR="73152" marT="36576" marB="36576"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50">
                          <a:solidFill>
                            <a:srgbClr val="202020"/>
                          </a:solidFill>
                          <a:latin typeface="Noto Sans"/>
                        </a:rPr>
                        <a:t>Protegem a consistência diante de acessos simultâneos e falhas.</a:t>
                      </a:r>
                    </a:p>
                  </a:txBody>
                  <a:tcPr marL="73152" marR="73152" marT="36576" marB="36576">
                    <a:solidFill>
                      <a:srgbClr val="F5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1143000" y="5989320"/>
            <a:ext cx="10579608" cy="530352"/>
          </a:xfrm>
          <a:prstGeom prst="roundRect">
            <a:avLst/>
          </a:prstGeom>
          <a:solidFill>
            <a:srgbClr val="FFFAE8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07592" y="6117336"/>
            <a:ext cx="10146989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dirty="0">
                <a:solidFill>
                  <a:srgbClr val="003366"/>
                </a:solidFill>
                <a:latin typeface="Noto Sans"/>
              </a:rPr>
              <a:t>Ponto de </a:t>
            </a:r>
            <a:r>
              <a:rPr sz="1700" b="1" i="0" dirty="0" err="1">
                <a:solidFill>
                  <a:srgbClr val="003366"/>
                </a:solidFill>
                <a:latin typeface="Noto Sans"/>
              </a:rPr>
              <a:t>prova</a:t>
            </a:r>
            <a:r>
              <a:rPr sz="1700" b="1" i="0" dirty="0">
                <a:solidFill>
                  <a:srgbClr val="003366"/>
                </a:solidFill>
                <a:latin typeface="Noto Sans"/>
              </a:rPr>
              <a:t>: </a:t>
            </a:r>
            <a:r>
              <a:rPr sz="1700" b="1" i="0" dirty="0" err="1">
                <a:solidFill>
                  <a:srgbClr val="003366"/>
                </a:solidFill>
                <a:latin typeface="Noto Sans"/>
              </a:rPr>
              <a:t>todas</a:t>
            </a:r>
            <a:r>
              <a:rPr sz="1700" b="1" i="0" dirty="0">
                <a:solidFill>
                  <a:srgbClr val="003366"/>
                </a:solidFill>
                <a:latin typeface="Noto Sans"/>
              </a:rPr>
              <a:t> as </a:t>
            </a:r>
            <a:r>
              <a:rPr sz="1700" b="1" i="0" dirty="0" err="1">
                <a:solidFill>
                  <a:srgbClr val="003366"/>
                </a:solidFill>
                <a:latin typeface="Noto Sans"/>
              </a:rPr>
              <a:t>consultas</a:t>
            </a:r>
            <a:r>
              <a:rPr sz="1700" b="1" i="0" dirty="0">
                <a:solidFill>
                  <a:srgbClr val="003366"/>
                </a:solidFill>
                <a:latin typeface="Noto Sans"/>
              </a:rPr>
              <a:t> e </a:t>
            </a:r>
            <a:r>
              <a:rPr sz="1700" b="1" i="0" dirty="0" err="1">
                <a:solidFill>
                  <a:srgbClr val="003366"/>
                </a:solidFill>
                <a:latin typeface="Noto Sans"/>
              </a:rPr>
              <a:t>transações</a:t>
            </a:r>
            <a:r>
              <a:rPr sz="1700" b="1" i="0" dirty="0">
                <a:solidFill>
                  <a:srgbClr val="003366"/>
                </a:solidFill>
                <a:latin typeface="Noto Sans"/>
              </a:rPr>
              <a:t> </a:t>
            </a:r>
            <a:r>
              <a:rPr sz="1700" b="1" i="0" dirty="0" err="1">
                <a:solidFill>
                  <a:srgbClr val="003366"/>
                </a:solidFill>
                <a:latin typeface="Noto Sans"/>
              </a:rPr>
              <a:t>convergem</a:t>
            </a:r>
            <a:r>
              <a:rPr sz="1700" b="1" i="0" dirty="0">
                <a:solidFill>
                  <a:srgbClr val="003366"/>
                </a:solidFill>
                <a:latin typeface="Noto Sans"/>
              </a:rPr>
              <a:t> para o </a:t>
            </a:r>
            <a:r>
              <a:rPr sz="1700" b="1" i="0" dirty="0" err="1">
                <a:solidFill>
                  <a:srgbClr val="003366"/>
                </a:solidFill>
                <a:latin typeface="Noto Sans"/>
              </a:rPr>
              <a:t>processador</a:t>
            </a:r>
            <a:r>
              <a:rPr sz="1700" b="1" i="0" dirty="0">
                <a:solidFill>
                  <a:srgbClr val="003366"/>
                </a:solidFill>
                <a:latin typeface="Noto Sans"/>
              </a:rPr>
              <a:t> de runtime.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1138428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Noto Sans"/>
              </a:rPr>
              <a:t>PostgreSQL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338560" cy="51206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02020"/>
                </a:solidFill>
                <a:latin typeface="Noto Sans"/>
              </a:rPr>
              <a:t>Exemplo de SGBD com arquitetura cliente/servidor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542287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84848"/>
            <a:ext cx="1542287" cy="731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84848"/>
            <a:ext cx="1542287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84848"/>
            <a:ext cx="1542287" cy="7315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84848"/>
            <a:ext cx="1542287" cy="731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84848"/>
            <a:ext cx="1542287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84848"/>
            <a:ext cx="1542287" cy="7315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84848"/>
            <a:ext cx="1542287" cy="73152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" y="1837944"/>
            <a:ext cx="10646861" cy="1481431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1720">
                <a:solidFill>
                  <a:srgbClr val="202020"/>
                </a:solidFill>
                <a:latin typeface="Noto Sans"/>
              </a:defRPr>
            </a:pPr>
            <a:r>
              <a:rPr dirty="0"/>
              <a:t>O PostgreSQL </a:t>
            </a:r>
            <a:r>
              <a:rPr dirty="0" err="1"/>
              <a:t>utiliza</a:t>
            </a:r>
            <a:r>
              <a:rPr dirty="0"/>
              <a:t> o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cliente</a:t>
            </a:r>
            <a:r>
              <a:rPr dirty="0"/>
              <a:t>/</a:t>
            </a:r>
            <a:r>
              <a:rPr dirty="0" err="1"/>
              <a:t>servidor</a:t>
            </a:r>
            <a:r>
              <a:rPr dirty="0"/>
              <a:t>. O </a:t>
            </a:r>
            <a:r>
              <a:rPr dirty="0" err="1"/>
              <a:t>processo</a:t>
            </a:r>
            <a:r>
              <a:rPr dirty="0"/>
              <a:t> </a:t>
            </a:r>
            <a:r>
              <a:rPr dirty="0" err="1"/>
              <a:t>servidor</a:t>
            </a:r>
            <a:r>
              <a:rPr dirty="0"/>
              <a:t> </a:t>
            </a:r>
            <a:r>
              <a:rPr dirty="0" err="1"/>
              <a:t>gerencia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arquivos</a:t>
            </a:r>
            <a:r>
              <a:rPr dirty="0"/>
              <a:t> do banco, </a:t>
            </a:r>
            <a:r>
              <a:rPr dirty="0" err="1"/>
              <a:t>aceita</a:t>
            </a:r>
            <a:r>
              <a:rPr dirty="0"/>
              <a:t> </a:t>
            </a:r>
            <a:r>
              <a:rPr dirty="0" err="1"/>
              <a:t>conexões</a:t>
            </a:r>
            <a:r>
              <a:rPr dirty="0"/>
              <a:t> e </a:t>
            </a:r>
            <a:r>
              <a:rPr dirty="0" err="1"/>
              <a:t>executa</a:t>
            </a:r>
            <a:r>
              <a:rPr dirty="0"/>
              <a:t> </a:t>
            </a:r>
            <a:r>
              <a:rPr dirty="0" err="1"/>
              <a:t>operações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nome</a:t>
            </a:r>
            <a:r>
              <a:rPr dirty="0"/>
              <a:t> dos </a:t>
            </a:r>
            <a:r>
              <a:rPr dirty="0" err="1"/>
              <a:t>clientes</a:t>
            </a:r>
            <a:r>
              <a:rPr dirty="0"/>
              <a:t>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720">
                <a:solidFill>
                  <a:srgbClr val="202020"/>
                </a:solidFill>
                <a:latin typeface="Noto Sans"/>
              </a:defRPr>
            </a:pP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clientes</a:t>
            </a:r>
            <a:r>
              <a:rPr dirty="0"/>
              <a:t> </a:t>
            </a:r>
            <a:r>
              <a:rPr dirty="0" err="1"/>
              <a:t>podem</a:t>
            </a:r>
            <a:r>
              <a:rPr dirty="0"/>
              <a:t> ser ferramentas </a:t>
            </a:r>
            <a:r>
              <a:rPr dirty="0" err="1"/>
              <a:t>gráficas</a:t>
            </a:r>
            <a:r>
              <a:rPr dirty="0"/>
              <a:t>, </a:t>
            </a:r>
            <a:r>
              <a:rPr dirty="0" err="1"/>
              <a:t>terminais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aplicações</a:t>
            </a:r>
            <a:r>
              <a:rPr dirty="0"/>
              <a:t> </a:t>
            </a:r>
            <a:r>
              <a:rPr dirty="0" err="1"/>
              <a:t>desenvolvidas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diferentes</a:t>
            </a:r>
            <a:r>
              <a:rPr dirty="0"/>
              <a:t> </a:t>
            </a:r>
            <a:r>
              <a:rPr dirty="0" err="1"/>
              <a:t>linguagens</a:t>
            </a:r>
            <a:r>
              <a:rPr dirty="0"/>
              <a:t>. </a:t>
            </a:r>
            <a:r>
              <a:rPr dirty="0" err="1"/>
              <a:t>Cliente</a:t>
            </a:r>
            <a:r>
              <a:rPr dirty="0"/>
              <a:t> e </a:t>
            </a:r>
            <a:r>
              <a:rPr dirty="0" err="1"/>
              <a:t>servidor</a:t>
            </a:r>
            <a:r>
              <a:rPr dirty="0"/>
              <a:t> </a:t>
            </a:r>
            <a:r>
              <a:rPr dirty="0" err="1"/>
              <a:t>podem</a:t>
            </a:r>
            <a:r>
              <a:rPr dirty="0"/>
              <a:t> </a:t>
            </a:r>
            <a:r>
              <a:rPr dirty="0" err="1"/>
              <a:t>estar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mesma</a:t>
            </a:r>
            <a:r>
              <a:rPr dirty="0"/>
              <a:t> </a:t>
            </a:r>
            <a:r>
              <a:rPr dirty="0" err="1"/>
              <a:t>máquina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computadores</a:t>
            </a:r>
            <a:r>
              <a:rPr dirty="0"/>
              <a:t> </a:t>
            </a:r>
            <a:r>
              <a:rPr dirty="0" err="1"/>
              <a:t>distintos</a:t>
            </a:r>
            <a:r>
              <a:rPr dirty="0"/>
              <a:t> </a:t>
            </a:r>
            <a:r>
              <a:rPr dirty="0" err="1"/>
              <a:t>conectados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rede.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3DD5A898-8D44-AAB7-EEAA-58A66D28D5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391" b="11398"/>
          <a:stretch>
            <a:fillRect/>
          </a:stretch>
        </p:blipFill>
        <p:spPr>
          <a:xfrm>
            <a:off x="1961387" y="3401973"/>
            <a:ext cx="7492181" cy="327314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1138428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Noto Sans"/>
              </a:rPr>
              <a:t>PostgreSQL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338560" cy="51206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dirty="0" err="1">
                <a:solidFill>
                  <a:srgbClr val="202020"/>
                </a:solidFill>
                <a:latin typeface="Noto Sans"/>
              </a:rPr>
              <a:t>Demonstração</a:t>
            </a:r>
            <a:r>
              <a:rPr sz="2400" b="1" i="0" dirty="0">
                <a:solidFill>
                  <a:srgbClr val="202020"/>
                </a:solidFill>
                <a:latin typeface="Noto Sans"/>
              </a:rPr>
              <a:t> — </a:t>
            </a:r>
            <a:r>
              <a:rPr sz="2400" b="1" i="0" dirty="0" err="1">
                <a:solidFill>
                  <a:srgbClr val="202020"/>
                </a:solidFill>
                <a:latin typeface="Noto Sans"/>
              </a:rPr>
              <a:t>primeira</a:t>
            </a:r>
            <a:r>
              <a:rPr sz="2400" b="1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2400" b="1" i="0" dirty="0" err="1">
                <a:solidFill>
                  <a:srgbClr val="202020"/>
                </a:solidFill>
                <a:latin typeface="Noto Sans"/>
              </a:rPr>
              <a:t>visão</a:t>
            </a:r>
            <a:r>
              <a:rPr sz="2400" b="1" i="0" dirty="0">
                <a:solidFill>
                  <a:srgbClr val="202020"/>
                </a:solidFill>
                <a:latin typeface="Noto Sans"/>
              </a:rPr>
              <a:t> do </a:t>
            </a:r>
            <a:r>
              <a:rPr sz="2400" b="1" i="0" dirty="0" err="1">
                <a:solidFill>
                  <a:srgbClr val="202020"/>
                </a:solidFill>
                <a:latin typeface="Noto Sans"/>
              </a:rPr>
              <a:t>ambiente</a:t>
            </a:r>
            <a:endParaRPr sz="2400" b="1" i="0" dirty="0">
              <a:solidFill>
                <a:srgbClr val="202020"/>
              </a:solidFill>
              <a:latin typeface="Noto San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542287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84848"/>
            <a:ext cx="1542287" cy="731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84848"/>
            <a:ext cx="1542287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84848"/>
            <a:ext cx="1542287" cy="7315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84848"/>
            <a:ext cx="1542287" cy="731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84848"/>
            <a:ext cx="1542287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84848"/>
            <a:ext cx="1542287" cy="7315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84848"/>
            <a:ext cx="1542287" cy="73152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1965960"/>
            <a:ext cx="6400800" cy="38862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1750">
                <a:solidFill>
                  <a:srgbClr val="202020"/>
                </a:solidFill>
                <a:latin typeface="Noto Sans"/>
              </a:defRPr>
            </a:pPr>
            <a:r>
              <a:rPr dirty="0"/>
              <a:t>• </a:t>
            </a:r>
            <a:r>
              <a:rPr dirty="0" err="1"/>
              <a:t>Abrir</a:t>
            </a:r>
            <a:r>
              <a:rPr dirty="0"/>
              <a:t> o </a:t>
            </a:r>
            <a:r>
              <a:rPr dirty="0" err="1"/>
              <a:t>pgAdmin</a:t>
            </a:r>
            <a:r>
              <a:rPr dirty="0"/>
              <a:t> e </a:t>
            </a:r>
            <a:r>
              <a:rPr dirty="0" err="1"/>
              <a:t>conectar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servidor</a:t>
            </a:r>
            <a:r>
              <a:rPr dirty="0"/>
              <a:t> PostgreSQL.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750">
                <a:solidFill>
                  <a:srgbClr val="202020"/>
                </a:solidFill>
                <a:latin typeface="Noto Sans"/>
              </a:defRPr>
            </a:pPr>
            <a:r>
              <a:rPr dirty="0"/>
              <a:t>• </a:t>
            </a:r>
            <a:r>
              <a:rPr dirty="0" err="1"/>
              <a:t>Expandir</a:t>
            </a:r>
            <a:r>
              <a:rPr dirty="0"/>
              <a:t> a </a:t>
            </a:r>
            <a:r>
              <a:rPr dirty="0" err="1"/>
              <a:t>hierarquia</a:t>
            </a:r>
            <a:r>
              <a:rPr dirty="0"/>
              <a:t>: Servers → Databases → Schemas → Tables.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750">
                <a:solidFill>
                  <a:srgbClr val="202020"/>
                </a:solidFill>
                <a:latin typeface="Noto Sans"/>
              </a:defRPr>
            </a:pPr>
            <a:r>
              <a:rPr dirty="0"/>
              <a:t>• </a:t>
            </a:r>
            <a:r>
              <a:rPr dirty="0" err="1"/>
              <a:t>Mostrar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um </a:t>
            </a:r>
            <a:r>
              <a:rPr dirty="0" err="1"/>
              <a:t>servidor</a:t>
            </a:r>
            <a:r>
              <a:rPr dirty="0"/>
              <a:t> </a:t>
            </a:r>
            <a:r>
              <a:rPr dirty="0" err="1"/>
              <a:t>pode</a:t>
            </a:r>
            <a:r>
              <a:rPr dirty="0"/>
              <a:t> </a:t>
            </a:r>
            <a:r>
              <a:rPr dirty="0" err="1"/>
              <a:t>gerenciar</a:t>
            </a:r>
            <a:r>
              <a:rPr dirty="0"/>
              <a:t> </a:t>
            </a:r>
            <a:r>
              <a:rPr dirty="0" err="1"/>
              <a:t>vários</a:t>
            </a:r>
            <a:r>
              <a:rPr dirty="0"/>
              <a:t> databases.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750">
                <a:solidFill>
                  <a:srgbClr val="202020"/>
                </a:solidFill>
                <a:latin typeface="Noto Sans"/>
              </a:defRPr>
            </a:pPr>
            <a:r>
              <a:rPr dirty="0"/>
              <a:t>• </a:t>
            </a:r>
            <a:r>
              <a:rPr dirty="0" err="1"/>
              <a:t>Abrir</a:t>
            </a:r>
            <a:r>
              <a:rPr dirty="0"/>
              <a:t> o Query Tool </a:t>
            </a:r>
            <a:r>
              <a:rPr dirty="0" err="1"/>
              <a:t>apenas</a:t>
            </a:r>
            <a:r>
              <a:rPr dirty="0"/>
              <a:t> para </a:t>
            </a:r>
            <a:r>
              <a:rPr dirty="0" err="1"/>
              <a:t>mostrar</a:t>
            </a:r>
            <a:r>
              <a:rPr dirty="0"/>
              <a:t> </a:t>
            </a:r>
            <a:r>
              <a:rPr dirty="0" err="1"/>
              <a:t>onde</a:t>
            </a:r>
            <a:r>
              <a:rPr dirty="0"/>
              <a:t> </a:t>
            </a:r>
            <a:r>
              <a:rPr dirty="0" err="1"/>
              <a:t>futuramente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comandos</a:t>
            </a:r>
            <a:r>
              <a:rPr dirty="0"/>
              <a:t> SQL </a:t>
            </a:r>
            <a:r>
              <a:rPr dirty="0" err="1"/>
              <a:t>serão</a:t>
            </a:r>
            <a:r>
              <a:rPr dirty="0"/>
              <a:t> </a:t>
            </a:r>
            <a:r>
              <a:rPr dirty="0" err="1"/>
              <a:t>executados</a:t>
            </a:r>
            <a:r>
              <a:rPr dirty="0"/>
              <a:t>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750">
                <a:solidFill>
                  <a:srgbClr val="202020"/>
                </a:solidFill>
                <a:latin typeface="Noto Sans"/>
              </a:defRPr>
            </a:pPr>
            <a:r>
              <a:rPr dirty="0"/>
              <a:t>• </a:t>
            </a:r>
            <a:r>
              <a:rPr dirty="0" err="1"/>
              <a:t>Relacionar</a:t>
            </a:r>
            <a:r>
              <a:rPr dirty="0"/>
              <a:t> a interface com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conceitos</a:t>
            </a:r>
            <a:r>
              <a:rPr dirty="0"/>
              <a:t> vistos: </a:t>
            </a:r>
            <a:r>
              <a:rPr dirty="0" err="1"/>
              <a:t>cliente</a:t>
            </a:r>
            <a:r>
              <a:rPr dirty="0"/>
              <a:t>, SGBD, </a:t>
            </a:r>
            <a:r>
              <a:rPr dirty="0" err="1"/>
              <a:t>catálogo</a:t>
            </a:r>
            <a:r>
              <a:rPr dirty="0"/>
              <a:t>, banco de dados e </a:t>
            </a:r>
            <a:r>
              <a:rPr dirty="0" err="1"/>
              <a:t>objetos</a:t>
            </a:r>
            <a:r>
              <a:rPr dirty="0"/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8286" y="1830865"/>
            <a:ext cx="3931920" cy="1490472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02878" y="1958881"/>
            <a:ext cx="3602736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dirty="0" err="1">
                <a:solidFill>
                  <a:srgbClr val="003366"/>
                </a:solidFill>
                <a:latin typeface="Noto Sans"/>
              </a:rPr>
              <a:t>Pergunta</a:t>
            </a:r>
            <a:r>
              <a:rPr sz="1700" b="1" i="0" dirty="0">
                <a:solidFill>
                  <a:srgbClr val="003366"/>
                </a:solidFill>
                <a:latin typeface="Noto Sans"/>
              </a:rPr>
              <a:t> para a </a:t>
            </a:r>
            <a:r>
              <a:rPr sz="1700" b="1" i="0" dirty="0" err="1">
                <a:solidFill>
                  <a:srgbClr val="003366"/>
                </a:solidFill>
                <a:latin typeface="Noto Sans"/>
              </a:rPr>
              <a:t>turma</a:t>
            </a:r>
            <a:endParaRPr sz="1700" b="1" i="0" dirty="0">
              <a:solidFill>
                <a:srgbClr val="003366"/>
              </a:solidFill>
              <a:latin typeface="Noto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802878" y="2361217"/>
            <a:ext cx="3602736" cy="75251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 dirty="0">
                <a:solidFill>
                  <a:srgbClr val="202020"/>
                </a:solidFill>
                <a:latin typeface="Noto Sans"/>
              </a:rPr>
              <a:t>“O </a:t>
            </a:r>
            <a:r>
              <a:rPr sz="1550" b="0" i="0" dirty="0" err="1">
                <a:solidFill>
                  <a:srgbClr val="202020"/>
                </a:solidFill>
                <a:latin typeface="Noto Sans"/>
              </a:rPr>
              <a:t>pgAdmin</a:t>
            </a:r>
            <a:r>
              <a:rPr sz="1550" b="0" i="0" dirty="0">
                <a:solidFill>
                  <a:srgbClr val="202020"/>
                </a:solidFill>
                <a:latin typeface="Noto Sans"/>
              </a:rPr>
              <a:t> é o banco de dados, o SGBD </a:t>
            </a:r>
            <a:r>
              <a:rPr sz="1550" b="0" i="0" dirty="0" err="1">
                <a:solidFill>
                  <a:srgbClr val="202020"/>
                </a:solidFill>
                <a:latin typeface="Noto Sans"/>
              </a:rPr>
              <a:t>ou</a:t>
            </a:r>
            <a:r>
              <a:rPr sz="155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50" b="0" i="0" dirty="0" err="1">
                <a:solidFill>
                  <a:srgbClr val="202020"/>
                </a:solidFill>
                <a:latin typeface="Noto Sans"/>
              </a:rPr>
              <a:t>apenas</a:t>
            </a:r>
            <a:r>
              <a:rPr sz="155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50" b="0" i="0" dirty="0" err="1">
                <a:solidFill>
                  <a:srgbClr val="202020"/>
                </a:solidFill>
                <a:latin typeface="Noto Sans"/>
              </a:rPr>
              <a:t>uma</a:t>
            </a:r>
            <a:r>
              <a:rPr sz="1550" b="0" i="0" dirty="0">
                <a:solidFill>
                  <a:srgbClr val="202020"/>
                </a:solidFill>
                <a:latin typeface="Noto Sans"/>
              </a:rPr>
              <a:t> interface </a:t>
            </a:r>
            <a:r>
              <a:rPr sz="1550" b="0" i="0" dirty="0" err="1">
                <a:solidFill>
                  <a:srgbClr val="202020"/>
                </a:solidFill>
                <a:latin typeface="Noto Sans"/>
              </a:rPr>
              <a:t>cliente</a:t>
            </a:r>
            <a:r>
              <a:rPr sz="1550" b="0" i="0" dirty="0">
                <a:solidFill>
                  <a:srgbClr val="202020"/>
                </a:solidFill>
                <a:latin typeface="Noto Sans"/>
              </a:rPr>
              <a:t>?”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1138428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Noto Sans"/>
              </a:rPr>
              <a:t>Sistemas de Banco de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338560" cy="51206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02020"/>
                </a:solidFill>
                <a:latin typeface="Noto Sans"/>
              </a:rPr>
              <a:t>Aplicando os conceitos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542287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84848"/>
            <a:ext cx="1542287" cy="731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84848"/>
            <a:ext cx="1542287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84848"/>
            <a:ext cx="1542287" cy="7315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84848"/>
            <a:ext cx="1542287" cy="731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84848"/>
            <a:ext cx="1542287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84848"/>
            <a:ext cx="1542287" cy="7315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84848"/>
            <a:ext cx="1542287" cy="73152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1874519"/>
            <a:ext cx="10972800" cy="5663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0" b="0" i="0" dirty="0" err="1">
                <a:solidFill>
                  <a:srgbClr val="202020"/>
                </a:solidFill>
                <a:latin typeface="Noto Sans"/>
              </a:rPr>
              <a:t>Discuta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cada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cenário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e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identifique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o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conceito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principal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envolvido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.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Justifique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a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resposta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em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uma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ou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 duas </a:t>
            </a:r>
            <a:r>
              <a:rPr sz="1720" b="0" i="0" dirty="0" err="1">
                <a:solidFill>
                  <a:srgbClr val="202020"/>
                </a:solidFill>
                <a:latin typeface="Noto Sans"/>
              </a:rPr>
              <a:t>frases</a:t>
            </a:r>
            <a:r>
              <a:rPr sz="1720" b="0" i="0" dirty="0">
                <a:solidFill>
                  <a:srgbClr val="202020"/>
                </a:solidFill>
                <a:latin typeface="Noto Sans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697480"/>
            <a:ext cx="3520440" cy="2514600"/>
          </a:xfrm>
          <a:prstGeom prst="roundRect">
            <a:avLst/>
          </a:prstGeom>
          <a:solidFill>
            <a:srgbClr val="E9F6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1" y="2825496"/>
            <a:ext cx="3191256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366"/>
                </a:solidFill>
                <a:latin typeface="Noto Sans"/>
              </a:rPr>
              <a:t>Cenário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3227832"/>
            <a:ext cx="3114186" cy="122187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40" b="0" i="0" dirty="0" err="1">
                <a:solidFill>
                  <a:srgbClr val="202020"/>
                </a:solidFill>
                <a:latin typeface="Noto Sans"/>
              </a:rPr>
              <a:t>Vendas</a:t>
            </a:r>
            <a:r>
              <a:rPr sz="1540" b="0" i="0" dirty="0">
                <a:solidFill>
                  <a:srgbClr val="202020"/>
                </a:solidFill>
                <a:latin typeface="Noto Sans"/>
              </a:rPr>
              <a:t>, </a:t>
            </a:r>
            <a:r>
              <a:rPr sz="1540" b="0" i="0" dirty="0" err="1">
                <a:solidFill>
                  <a:srgbClr val="202020"/>
                </a:solidFill>
                <a:latin typeface="Noto Sans"/>
              </a:rPr>
              <a:t>suporte</a:t>
            </a:r>
            <a:r>
              <a:rPr sz="1540" b="0" i="0" dirty="0">
                <a:solidFill>
                  <a:srgbClr val="202020"/>
                </a:solidFill>
                <a:latin typeface="Noto Sans"/>
              </a:rPr>
              <a:t> e </a:t>
            </a:r>
            <a:r>
              <a:rPr sz="1540" b="0" i="0" dirty="0" err="1">
                <a:solidFill>
                  <a:srgbClr val="202020"/>
                </a:solidFill>
                <a:latin typeface="Noto Sans"/>
              </a:rPr>
              <a:t>financeiro</a:t>
            </a:r>
            <a:r>
              <a:rPr sz="154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40" b="0" i="0" dirty="0" err="1">
                <a:solidFill>
                  <a:srgbClr val="202020"/>
                </a:solidFill>
                <a:latin typeface="Noto Sans"/>
              </a:rPr>
              <a:t>mantêm</a:t>
            </a:r>
            <a:r>
              <a:rPr sz="154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40" b="0" i="0" dirty="0" err="1">
                <a:solidFill>
                  <a:srgbClr val="202020"/>
                </a:solidFill>
                <a:latin typeface="Noto Sans"/>
              </a:rPr>
              <a:t>arquivos</a:t>
            </a:r>
            <a:r>
              <a:rPr sz="154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40" b="0" i="0" dirty="0" err="1">
                <a:solidFill>
                  <a:srgbClr val="202020"/>
                </a:solidFill>
                <a:latin typeface="Noto Sans"/>
              </a:rPr>
              <a:t>próprios</a:t>
            </a:r>
            <a:r>
              <a:rPr sz="1540" b="0" i="0" dirty="0">
                <a:solidFill>
                  <a:srgbClr val="202020"/>
                </a:solidFill>
                <a:latin typeface="Noto Sans"/>
              </a:rPr>
              <a:t> de </a:t>
            </a:r>
            <a:r>
              <a:rPr sz="1540" b="0" i="0" dirty="0" err="1">
                <a:solidFill>
                  <a:srgbClr val="202020"/>
                </a:solidFill>
                <a:latin typeface="Noto Sans"/>
              </a:rPr>
              <a:t>clientes</a:t>
            </a:r>
            <a:r>
              <a:rPr sz="1540" b="0" i="0" dirty="0">
                <a:solidFill>
                  <a:srgbClr val="202020"/>
                </a:solidFill>
                <a:latin typeface="Noto Sans"/>
              </a:rPr>
              <a:t>. O </a:t>
            </a:r>
            <a:r>
              <a:rPr sz="1540" b="0" i="0" dirty="0" err="1">
                <a:solidFill>
                  <a:srgbClr val="202020"/>
                </a:solidFill>
                <a:latin typeface="Noto Sans"/>
              </a:rPr>
              <a:t>mesmo</a:t>
            </a:r>
            <a:r>
              <a:rPr sz="1540" b="0" i="0" dirty="0">
                <a:solidFill>
                  <a:srgbClr val="202020"/>
                </a:solidFill>
                <a:latin typeface="Noto Sans"/>
              </a:rPr>
              <a:t> CPF </a:t>
            </a:r>
            <a:r>
              <a:rPr sz="1540" b="0" i="0" dirty="0" err="1">
                <a:solidFill>
                  <a:srgbClr val="202020"/>
                </a:solidFill>
                <a:latin typeface="Noto Sans"/>
              </a:rPr>
              <a:t>aparece</a:t>
            </a:r>
            <a:r>
              <a:rPr sz="1540" b="0" i="0" dirty="0">
                <a:solidFill>
                  <a:srgbClr val="202020"/>
                </a:solidFill>
                <a:latin typeface="Noto Sans"/>
              </a:rPr>
              <a:t> com </a:t>
            </a:r>
            <a:r>
              <a:rPr sz="1540" b="0" i="0" dirty="0" err="1">
                <a:solidFill>
                  <a:srgbClr val="202020"/>
                </a:solidFill>
                <a:latin typeface="Noto Sans"/>
              </a:rPr>
              <a:t>endereços</a:t>
            </a:r>
            <a:r>
              <a:rPr sz="154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40" b="0" i="0" dirty="0" err="1">
                <a:solidFill>
                  <a:srgbClr val="202020"/>
                </a:solidFill>
                <a:latin typeface="Noto Sans"/>
              </a:rPr>
              <a:t>diferentes</a:t>
            </a:r>
            <a:r>
              <a:rPr sz="1540" b="0" i="0" dirty="0">
                <a:solidFill>
                  <a:srgbClr val="202020"/>
                </a:solidFill>
                <a:latin typeface="Noto Sans"/>
              </a:rPr>
              <a:t>. Qual </a:t>
            </a:r>
            <a:r>
              <a:rPr sz="1540" b="0" i="0" dirty="0" err="1">
                <a:solidFill>
                  <a:srgbClr val="202020"/>
                </a:solidFill>
                <a:latin typeface="Noto Sans"/>
              </a:rPr>
              <a:t>problema</a:t>
            </a:r>
            <a:r>
              <a:rPr sz="154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40" b="0" i="0" dirty="0" err="1">
                <a:solidFill>
                  <a:srgbClr val="202020"/>
                </a:solidFill>
                <a:latin typeface="Noto Sans"/>
              </a:rPr>
              <a:t>está</a:t>
            </a:r>
            <a:r>
              <a:rPr sz="154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40" b="0" i="0" dirty="0" err="1">
                <a:solidFill>
                  <a:srgbClr val="202020"/>
                </a:solidFill>
                <a:latin typeface="Noto Sans"/>
              </a:rPr>
              <a:t>evidente</a:t>
            </a:r>
            <a:r>
              <a:rPr sz="1540" b="0" i="0" dirty="0">
                <a:solidFill>
                  <a:srgbClr val="202020"/>
                </a:solidFill>
                <a:latin typeface="Noto Sans"/>
              </a:rPr>
              <a:t>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2697480"/>
            <a:ext cx="3520440" cy="2514600"/>
          </a:xfrm>
          <a:prstGeom prst="roundRect">
            <a:avLst/>
          </a:prstGeom>
          <a:solidFill>
            <a:srgbClr val="F7F4FF"/>
          </a:solidFill>
          <a:ln w="15240">
            <a:solidFill>
              <a:srgbClr val="735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07992" y="2825496"/>
            <a:ext cx="3191256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366"/>
                </a:solidFill>
                <a:latin typeface="Noto Sans"/>
              </a:rPr>
              <a:t>Cenário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3227832"/>
            <a:ext cx="3112007" cy="122187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40" b="0" i="0">
                <a:solidFill>
                  <a:srgbClr val="202020"/>
                </a:solidFill>
                <a:latin typeface="Noto Sans"/>
              </a:rPr>
              <a:t>O DBA cria um índice para acelerar consultas sem alterar o modelo lógico nem o código da aplicação. Que tipo de independência aparece?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697480"/>
            <a:ext cx="3520440" cy="2514600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11312" y="2825496"/>
            <a:ext cx="3191256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366"/>
                </a:solidFill>
                <a:latin typeface="Noto Sans"/>
              </a:rPr>
              <a:t>Cenário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3227832"/>
            <a:ext cx="3176017" cy="122187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40" b="0" i="0">
                <a:solidFill>
                  <a:srgbClr val="202020"/>
                </a:solidFill>
                <a:latin typeface="Noto Sans"/>
              </a:rPr>
              <a:t>Duas pessoas tentam comprar simultaneamente a última unidade de um produto. Qual funcionalidade do SGBD é essencial?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1138428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Noto Sans"/>
              </a:rPr>
              <a:t>Atividade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338560" cy="51206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02020"/>
                </a:solidFill>
                <a:latin typeface="Noto Sans"/>
              </a:rPr>
              <a:t>Questões de fixação — 1 e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542287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84848"/>
            <a:ext cx="1542287" cy="731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84848"/>
            <a:ext cx="1542287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84848"/>
            <a:ext cx="1542287" cy="7315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84848"/>
            <a:ext cx="1542287" cy="731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84848"/>
            <a:ext cx="1542287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84848"/>
            <a:ext cx="1542287" cy="7315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84848"/>
            <a:ext cx="1542287" cy="73152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1965960"/>
            <a:ext cx="10927080" cy="1783080"/>
          </a:xfrm>
          <a:prstGeom prst="roundRect">
            <a:avLst/>
          </a:prstGeom>
          <a:solidFill>
            <a:srgbClr val="F8FB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1" y="2093976"/>
            <a:ext cx="10597896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366"/>
                </a:solidFill>
                <a:latin typeface="Noto Sans"/>
              </a:rPr>
              <a:t>Questão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2496312"/>
            <a:ext cx="10597896" cy="79098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 dirty="0">
                <a:solidFill>
                  <a:srgbClr val="202020"/>
                </a:solidFill>
                <a:latin typeface="Noto Sans"/>
              </a:rPr>
              <a:t>1. Qual </a:t>
            </a:r>
            <a:r>
              <a:rPr sz="1550" b="0" i="0" dirty="0" err="1">
                <a:solidFill>
                  <a:srgbClr val="202020"/>
                </a:solidFill>
                <a:latin typeface="Noto Sans"/>
              </a:rPr>
              <a:t>componente</a:t>
            </a:r>
            <a:r>
              <a:rPr sz="1550" b="0" i="0" dirty="0">
                <a:solidFill>
                  <a:srgbClr val="202020"/>
                </a:solidFill>
                <a:latin typeface="Noto Sans"/>
              </a:rPr>
              <a:t> de um SBD </a:t>
            </a:r>
            <a:r>
              <a:rPr sz="1550" b="0" i="0" dirty="0" err="1">
                <a:solidFill>
                  <a:srgbClr val="202020"/>
                </a:solidFill>
                <a:latin typeface="Noto Sans"/>
              </a:rPr>
              <a:t>fornece</a:t>
            </a:r>
            <a:r>
              <a:rPr sz="155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50" b="0" i="0" dirty="0" err="1">
                <a:solidFill>
                  <a:srgbClr val="202020"/>
                </a:solidFill>
                <a:latin typeface="Noto Sans"/>
              </a:rPr>
              <a:t>informações</a:t>
            </a:r>
            <a:r>
              <a:rPr sz="155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50" b="0" i="0" dirty="0" err="1">
                <a:solidFill>
                  <a:srgbClr val="202020"/>
                </a:solidFill>
                <a:latin typeface="Noto Sans"/>
              </a:rPr>
              <a:t>que</a:t>
            </a:r>
            <a:r>
              <a:rPr sz="155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50" b="0" i="0" dirty="0" err="1">
                <a:solidFill>
                  <a:srgbClr val="202020"/>
                </a:solidFill>
                <a:latin typeface="Noto Sans"/>
              </a:rPr>
              <a:t>descrevem</a:t>
            </a:r>
            <a:r>
              <a:rPr sz="155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50" b="0" i="0" dirty="0" err="1">
                <a:solidFill>
                  <a:srgbClr val="202020"/>
                </a:solidFill>
                <a:latin typeface="Noto Sans"/>
              </a:rPr>
              <a:t>os</a:t>
            </a:r>
            <a:r>
              <a:rPr sz="155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50" b="0" i="0" dirty="0" err="1">
                <a:solidFill>
                  <a:srgbClr val="202020"/>
                </a:solidFill>
                <a:latin typeface="Noto Sans"/>
              </a:rPr>
              <a:t>próprios</a:t>
            </a:r>
            <a:r>
              <a:rPr sz="1550" b="0" i="0" dirty="0">
                <a:solidFill>
                  <a:srgbClr val="202020"/>
                </a:solidFill>
                <a:latin typeface="Noto Sans"/>
              </a:rPr>
              <a:t> dados e </a:t>
            </a:r>
            <a:r>
              <a:rPr sz="1550" b="0" i="0" dirty="0" err="1">
                <a:solidFill>
                  <a:srgbClr val="202020"/>
                </a:solidFill>
                <a:latin typeface="Noto Sans"/>
              </a:rPr>
              <a:t>ajudam</a:t>
            </a:r>
            <a:r>
              <a:rPr sz="1550" b="0" i="0" dirty="0">
                <a:solidFill>
                  <a:srgbClr val="202020"/>
                </a:solidFill>
                <a:latin typeface="Noto Sans"/>
              </a:rPr>
              <a:t> a </a:t>
            </a:r>
            <a:r>
              <a:rPr sz="1550" b="0" i="0" dirty="0" err="1">
                <a:solidFill>
                  <a:srgbClr val="202020"/>
                </a:solidFill>
                <a:latin typeface="Noto Sans"/>
              </a:rPr>
              <a:t>organizar</a:t>
            </a:r>
            <a:r>
              <a:rPr sz="155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50" b="0" i="0" dirty="0" err="1">
                <a:solidFill>
                  <a:srgbClr val="202020"/>
                </a:solidFill>
                <a:latin typeface="Noto Sans"/>
              </a:rPr>
              <a:t>suas</a:t>
            </a:r>
            <a:r>
              <a:rPr sz="155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50" b="0" i="0" dirty="0" err="1">
                <a:solidFill>
                  <a:srgbClr val="202020"/>
                </a:solidFill>
                <a:latin typeface="Noto Sans"/>
              </a:rPr>
              <a:t>estruturas</a:t>
            </a:r>
            <a:r>
              <a:rPr sz="1550" b="0" i="0" dirty="0">
                <a:solidFill>
                  <a:srgbClr val="202020"/>
                </a:solidFill>
                <a:latin typeface="Noto Sans"/>
              </a:rPr>
              <a:t>?</a:t>
            </a:r>
            <a:br>
              <a:rPr dirty="0"/>
            </a:br>
            <a:r>
              <a:rPr dirty="0"/>
              <a:t>A) </a:t>
            </a:r>
            <a:r>
              <a:rPr dirty="0" err="1"/>
              <a:t>Aplicação</a:t>
            </a:r>
            <a:r>
              <a:rPr dirty="0"/>
              <a:t>   B) </a:t>
            </a:r>
            <a:r>
              <a:rPr dirty="0" err="1"/>
              <a:t>Metadados</a:t>
            </a:r>
            <a:r>
              <a:rPr dirty="0"/>
              <a:t>   C) </a:t>
            </a:r>
            <a:r>
              <a:rPr dirty="0" err="1"/>
              <a:t>Usuário</a:t>
            </a:r>
            <a:r>
              <a:rPr dirty="0"/>
              <a:t>   D) Banco </a:t>
            </a:r>
            <a:r>
              <a:rPr dirty="0" err="1"/>
              <a:t>físico</a:t>
            </a:r>
            <a:r>
              <a:rPr dirty="0"/>
              <a:t>   E) Rede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69080"/>
            <a:ext cx="10927080" cy="1783080"/>
          </a:xfrm>
          <a:prstGeom prst="roundRect">
            <a:avLst/>
          </a:prstGeom>
          <a:solidFill>
            <a:srgbClr val="F8FB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1" y="4197096"/>
            <a:ext cx="10597896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366"/>
                </a:solidFill>
                <a:latin typeface="Noto Sans"/>
              </a:rPr>
              <a:t>Questão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4599432"/>
            <a:ext cx="10286116" cy="79098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 dirty="0">
                <a:solidFill>
                  <a:srgbClr val="202020"/>
                </a:solidFill>
                <a:latin typeface="Noto Sans"/>
              </a:rPr>
              <a:t>2. Qual </a:t>
            </a:r>
            <a:r>
              <a:rPr sz="1550" b="0" i="0" dirty="0" err="1">
                <a:solidFill>
                  <a:srgbClr val="202020"/>
                </a:solidFill>
                <a:latin typeface="Noto Sans"/>
              </a:rPr>
              <a:t>módulo</a:t>
            </a:r>
            <a:r>
              <a:rPr sz="155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50" b="0" i="0" dirty="0" err="1">
                <a:solidFill>
                  <a:srgbClr val="202020"/>
                </a:solidFill>
                <a:latin typeface="Noto Sans"/>
              </a:rPr>
              <a:t>recebe</a:t>
            </a:r>
            <a:r>
              <a:rPr sz="1550" b="0" i="0" dirty="0">
                <a:solidFill>
                  <a:srgbClr val="202020"/>
                </a:solidFill>
                <a:latin typeface="Noto Sans"/>
              </a:rPr>
              <a:t> e </a:t>
            </a:r>
            <a:r>
              <a:rPr sz="1550" b="0" i="0" dirty="0" err="1">
                <a:solidFill>
                  <a:srgbClr val="202020"/>
                </a:solidFill>
                <a:latin typeface="Noto Sans"/>
              </a:rPr>
              <a:t>processa</a:t>
            </a:r>
            <a:r>
              <a:rPr sz="1550" b="0" i="0" dirty="0">
                <a:solidFill>
                  <a:srgbClr val="202020"/>
                </a:solidFill>
                <a:latin typeface="Noto Sans"/>
              </a:rPr>
              <a:t>, </a:t>
            </a:r>
            <a:r>
              <a:rPr sz="1550" b="0" i="0" dirty="0" err="1">
                <a:solidFill>
                  <a:srgbClr val="202020"/>
                </a:solidFill>
                <a:latin typeface="Noto Sans"/>
              </a:rPr>
              <a:t>em</a:t>
            </a:r>
            <a:r>
              <a:rPr sz="1550" b="0" i="0" dirty="0">
                <a:solidFill>
                  <a:srgbClr val="202020"/>
                </a:solidFill>
                <a:latin typeface="Noto Sans"/>
              </a:rPr>
              <a:t> tempo de </a:t>
            </a:r>
            <a:r>
              <a:rPr sz="1550" b="0" i="0" dirty="0" err="1">
                <a:solidFill>
                  <a:srgbClr val="202020"/>
                </a:solidFill>
                <a:latin typeface="Noto Sans"/>
              </a:rPr>
              <a:t>execução</a:t>
            </a:r>
            <a:r>
              <a:rPr sz="1550" b="0" i="0" dirty="0">
                <a:solidFill>
                  <a:srgbClr val="202020"/>
                </a:solidFill>
                <a:latin typeface="Noto Sans"/>
              </a:rPr>
              <a:t>, as </a:t>
            </a:r>
            <a:r>
              <a:rPr sz="1550" b="0" i="0" dirty="0" err="1">
                <a:solidFill>
                  <a:srgbClr val="202020"/>
                </a:solidFill>
                <a:latin typeface="Noto Sans"/>
              </a:rPr>
              <a:t>consultas</a:t>
            </a:r>
            <a:r>
              <a:rPr sz="1550" b="0" i="0" dirty="0">
                <a:solidFill>
                  <a:srgbClr val="202020"/>
                </a:solidFill>
                <a:latin typeface="Noto Sans"/>
              </a:rPr>
              <a:t> e </a:t>
            </a:r>
            <a:r>
              <a:rPr sz="1550" b="0" i="0" dirty="0" err="1">
                <a:solidFill>
                  <a:srgbClr val="202020"/>
                </a:solidFill>
                <a:latin typeface="Noto Sans"/>
              </a:rPr>
              <a:t>transações</a:t>
            </a:r>
            <a:r>
              <a:rPr sz="155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50" b="0" i="0" dirty="0" err="1">
                <a:solidFill>
                  <a:srgbClr val="202020"/>
                </a:solidFill>
                <a:latin typeface="Noto Sans"/>
              </a:rPr>
              <a:t>submetidas</a:t>
            </a:r>
            <a:r>
              <a:rPr sz="155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50" b="0" i="0" dirty="0" err="1">
                <a:solidFill>
                  <a:srgbClr val="202020"/>
                </a:solidFill>
                <a:latin typeface="Noto Sans"/>
              </a:rPr>
              <a:t>pelos</a:t>
            </a:r>
            <a:r>
              <a:rPr sz="155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50" b="0" i="0" dirty="0" err="1">
                <a:solidFill>
                  <a:srgbClr val="202020"/>
                </a:solidFill>
                <a:latin typeface="Noto Sans"/>
              </a:rPr>
              <a:t>diferentes</a:t>
            </a:r>
            <a:r>
              <a:rPr sz="155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50" b="0" i="0" dirty="0" err="1">
                <a:solidFill>
                  <a:srgbClr val="202020"/>
                </a:solidFill>
                <a:latin typeface="Noto Sans"/>
              </a:rPr>
              <a:t>usuários</a:t>
            </a:r>
            <a:r>
              <a:rPr sz="1550" b="0" i="0" dirty="0">
                <a:solidFill>
                  <a:srgbClr val="202020"/>
                </a:solidFill>
                <a:latin typeface="Noto Sans"/>
              </a:rPr>
              <a:t>?</a:t>
            </a:r>
            <a:br>
              <a:rPr dirty="0"/>
            </a:br>
            <a:r>
              <a:rPr dirty="0"/>
              <a:t>A) </a:t>
            </a:r>
            <a:r>
              <a:rPr dirty="0" err="1"/>
              <a:t>Compilador</a:t>
            </a:r>
            <a:r>
              <a:rPr dirty="0"/>
              <a:t> DDL   B) </a:t>
            </a:r>
            <a:r>
              <a:rPr dirty="0" err="1"/>
              <a:t>Catálogo</a:t>
            </a:r>
            <a:r>
              <a:rPr dirty="0"/>
              <a:t>   C) </a:t>
            </a:r>
            <a:r>
              <a:rPr dirty="0" err="1"/>
              <a:t>Otimizador</a:t>
            </a:r>
            <a:r>
              <a:rPr dirty="0"/>
              <a:t>   D) </a:t>
            </a:r>
            <a:r>
              <a:rPr dirty="0" err="1"/>
              <a:t>Processador</a:t>
            </a:r>
            <a:r>
              <a:rPr dirty="0"/>
              <a:t> de runtime   E) Backup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1138428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Noto Sans"/>
              </a:rPr>
              <a:t>Atividade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338560" cy="51206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02020"/>
                </a:solidFill>
                <a:latin typeface="Noto Sans"/>
              </a:rPr>
              <a:t>Questões de fixação — 3 e 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542287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84848"/>
            <a:ext cx="1542287" cy="731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84848"/>
            <a:ext cx="1542287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84848"/>
            <a:ext cx="1542287" cy="7315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84848"/>
            <a:ext cx="1542287" cy="731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84848"/>
            <a:ext cx="1542287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84848"/>
            <a:ext cx="1542287" cy="7315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84848"/>
            <a:ext cx="1542287" cy="73152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1965960"/>
            <a:ext cx="10927080" cy="1783080"/>
          </a:xfrm>
          <a:prstGeom prst="roundRect">
            <a:avLst/>
          </a:prstGeom>
          <a:solidFill>
            <a:srgbClr val="F8FB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1" y="2093976"/>
            <a:ext cx="10597896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366"/>
                </a:solidFill>
                <a:latin typeface="Noto Sans"/>
              </a:rPr>
              <a:t>Questão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2496312"/>
            <a:ext cx="10325445" cy="8263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30" b="0" i="0" dirty="0">
                <a:solidFill>
                  <a:srgbClr val="202020"/>
                </a:solidFill>
                <a:latin typeface="Noto Sans"/>
              </a:rPr>
              <a:t>3. Qual </a:t>
            </a:r>
            <a:r>
              <a:rPr sz="1530" b="0" i="0" dirty="0" err="1">
                <a:solidFill>
                  <a:srgbClr val="202020"/>
                </a:solidFill>
                <a:latin typeface="Noto Sans"/>
              </a:rPr>
              <a:t>alternativa</a:t>
            </a:r>
            <a:r>
              <a:rPr sz="1530" b="0" i="0" dirty="0">
                <a:solidFill>
                  <a:srgbClr val="202020"/>
                </a:solidFill>
                <a:latin typeface="Noto Sans"/>
              </a:rPr>
              <a:t> NÃO </a:t>
            </a:r>
            <a:r>
              <a:rPr sz="1530" b="0" i="0" dirty="0" err="1">
                <a:solidFill>
                  <a:srgbClr val="202020"/>
                </a:solidFill>
                <a:latin typeface="Noto Sans"/>
              </a:rPr>
              <a:t>representa</a:t>
            </a:r>
            <a:r>
              <a:rPr sz="153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30" b="0" i="0" dirty="0" err="1">
                <a:solidFill>
                  <a:srgbClr val="202020"/>
                </a:solidFill>
                <a:latin typeface="Noto Sans"/>
              </a:rPr>
              <a:t>uma</a:t>
            </a:r>
            <a:r>
              <a:rPr sz="153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30" b="0" i="0" dirty="0" err="1">
                <a:solidFill>
                  <a:srgbClr val="202020"/>
                </a:solidFill>
                <a:latin typeface="Noto Sans"/>
              </a:rPr>
              <a:t>funcionalidade</a:t>
            </a:r>
            <a:r>
              <a:rPr sz="153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30" b="0" i="0" dirty="0" err="1">
                <a:solidFill>
                  <a:srgbClr val="202020"/>
                </a:solidFill>
                <a:latin typeface="Noto Sans"/>
              </a:rPr>
              <a:t>típica</a:t>
            </a:r>
            <a:r>
              <a:rPr sz="1530" b="0" i="0" dirty="0">
                <a:solidFill>
                  <a:srgbClr val="202020"/>
                </a:solidFill>
                <a:latin typeface="Noto Sans"/>
              </a:rPr>
              <a:t> de um SBD?</a:t>
            </a:r>
            <a:br>
              <a:rPr dirty="0"/>
            </a:br>
            <a:r>
              <a:rPr dirty="0"/>
              <a:t>A) </a:t>
            </a:r>
            <a:r>
              <a:rPr dirty="0" err="1"/>
              <a:t>Representar</a:t>
            </a:r>
            <a:r>
              <a:rPr dirty="0"/>
              <a:t> </a:t>
            </a:r>
            <a:r>
              <a:rPr dirty="0" err="1"/>
              <a:t>relacionamentos</a:t>
            </a:r>
            <a:r>
              <a:rPr dirty="0"/>
              <a:t>   B) </a:t>
            </a:r>
            <a:r>
              <a:rPr dirty="0" err="1"/>
              <a:t>Controlar</a:t>
            </a:r>
            <a:r>
              <a:rPr dirty="0"/>
              <a:t> </a:t>
            </a:r>
            <a:r>
              <a:rPr dirty="0" err="1"/>
              <a:t>redundância</a:t>
            </a:r>
            <a:r>
              <a:rPr dirty="0"/>
              <a:t>   C) </a:t>
            </a:r>
            <a:r>
              <a:rPr dirty="0" err="1"/>
              <a:t>Compartilhar</a:t>
            </a:r>
            <a:r>
              <a:rPr dirty="0"/>
              <a:t> dados   D) </a:t>
            </a:r>
            <a:r>
              <a:rPr dirty="0" err="1"/>
              <a:t>Apenas</a:t>
            </a:r>
            <a:r>
              <a:rPr dirty="0"/>
              <a:t> </a:t>
            </a:r>
            <a:r>
              <a:rPr dirty="0" err="1"/>
              <a:t>armazenar</a:t>
            </a:r>
            <a:r>
              <a:rPr dirty="0"/>
              <a:t> dados </a:t>
            </a:r>
            <a:r>
              <a:rPr dirty="0" err="1"/>
              <a:t>estáticos</a:t>
            </a:r>
            <a:r>
              <a:rPr dirty="0"/>
              <a:t>   E) </a:t>
            </a:r>
            <a:r>
              <a:rPr dirty="0" err="1"/>
              <a:t>Controlar</a:t>
            </a:r>
            <a:r>
              <a:rPr dirty="0"/>
              <a:t> </a:t>
            </a:r>
            <a:r>
              <a:rPr dirty="0" err="1"/>
              <a:t>concorrência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640080" y="4069080"/>
            <a:ext cx="10927080" cy="1783080"/>
          </a:xfrm>
          <a:prstGeom prst="roundRect">
            <a:avLst/>
          </a:prstGeom>
          <a:solidFill>
            <a:srgbClr val="F8FB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1" y="4197096"/>
            <a:ext cx="10597896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366"/>
                </a:solidFill>
                <a:latin typeface="Noto Sans"/>
              </a:rPr>
              <a:t>Questão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4599432"/>
            <a:ext cx="10597896" cy="7848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30" b="0" i="0" dirty="0">
                <a:solidFill>
                  <a:srgbClr val="202020"/>
                </a:solidFill>
                <a:latin typeface="Noto Sans"/>
              </a:rPr>
              <a:t>4. Um </a:t>
            </a:r>
            <a:r>
              <a:rPr sz="1530" b="0" i="0" dirty="0" err="1">
                <a:solidFill>
                  <a:srgbClr val="202020"/>
                </a:solidFill>
                <a:latin typeface="Noto Sans"/>
              </a:rPr>
              <a:t>administrador</a:t>
            </a:r>
            <a:r>
              <a:rPr sz="153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30" b="0" i="0" dirty="0" err="1">
                <a:solidFill>
                  <a:srgbClr val="202020"/>
                </a:solidFill>
                <a:latin typeface="Noto Sans"/>
              </a:rPr>
              <a:t>reorganiza</a:t>
            </a:r>
            <a:r>
              <a:rPr sz="153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30" b="0" i="0" dirty="0" err="1">
                <a:solidFill>
                  <a:srgbClr val="202020"/>
                </a:solidFill>
                <a:latin typeface="Noto Sans"/>
              </a:rPr>
              <a:t>os</a:t>
            </a:r>
            <a:r>
              <a:rPr sz="153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30" b="0" i="0" dirty="0" err="1">
                <a:solidFill>
                  <a:srgbClr val="202020"/>
                </a:solidFill>
                <a:latin typeface="Noto Sans"/>
              </a:rPr>
              <a:t>arquivos</a:t>
            </a:r>
            <a:r>
              <a:rPr sz="153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30" b="0" i="0" dirty="0" err="1">
                <a:solidFill>
                  <a:srgbClr val="202020"/>
                </a:solidFill>
                <a:latin typeface="Noto Sans"/>
              </a:rPr>
              <a:t>físicos</a:t>
            </a:r>
            <a:r>
              <a:rPr sz="1530" b="0" i="0" dirty="0">
                <a:solidFill>
                  <a:srgbClr val="202020"/>
                </a:solidFill>
                <a:latin typeface="Noto Sans"/>
              </a:rPr>
              <a:t> e </a:t>
            </a:r>
            <a:r>
              <a:rPr sz="1530" b="0" i="0" dirty="0" err="1">
                <a:solidFill>
                  <a:srgbClr val="202020"/>
                </a:solidFill>
                <a:latin typeface="Noto Sans"/>
              </a:rPr>
              <a:t>cria</a:t>
            </a:r>
            <a:r>
              <a:rPr sz="1530" b="0" i="0" dirty="0">
                <a:solidFill>
                  <a:srgbClr val="202020"/>
                </a:solidFill>
                <a:latin typeface="Noto Sans"/>
              </a:rPr>
              <a:t> um </a:t>
            </a:r>
            <a:r>
              <a:rPr sz="1530" b="0" i="0" dirty="0" err="1">
                <a:solidFill>
                  <a:srgbClr val="202020"/>
                </a:solidFill>
                <a:latin typeface="Noto Sans"/>
              </a:rPr>
              <a:t>índice</a:t>
            </a:r>
            <a:r>
              <a:rPr sz="153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30" b="0" i="0" dirty="0" err="1">
                <a:solidFill>
                  <a:srgbClr val="202020"/>
                </a:solidFill>
                <a:latin typeface="Noto Sans"/>
              </a:rPr>
              <a:t>sem</a:t>
            </a:r>
            <a:r>
              <a:rPr sz="153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30" b="0" i="0" dirty="0" err="1">
                <a:solidFill>
                  <a:srgbClr val="202020"/>
                </a:solidFill>
                <a:latin typeface="Noto Sans"/>
              </a:rPr>
              <a:t>alterar</a:t>
            </a:r>
            <a:r>
              <a:rPr sz="153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30" b="0" i="0" dirty="0" err="1">
                <a:solidFill>
                  <a:srgbClr val="202020"/>
                </a:solidFill>
                <a:latin typeface="Noto Sans"/>
              </a:rPr>
              <a:t>tabelas</a:t>
            </a:r>
            <a:r>
              <a:rPr sz="1530" b="0" i="0" dirty="0">
                <a:solidFill>
                  <a:srgbClr val="202020"/>
                </a:solidFill>
                <a:latin typeface="Noto Sans"/>
              </a:rPr>
              <a:t>, </a:t>
            </a:r>
            <a:r>
              <a:rPr sz="1530" b="0" i="0" dirty="0" err="1">
                <a:solidFill>
                  <a:srgbClr val="202020"/>
                </a:solidFill>
                <a:latin typeface="Noto Sans"/>
              </a:rPr>
              <a:t>consultas</a:t>
            </a:r>
            <a:r>
              <a:rPr sz="153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30" b="0" i="0" dirty="0" err="1">
                <a:solidFill>
                  <a:srgbClr val="202020"/>
                </a:solidFill>
                <a:latin typeface="Noto Sans"/>
              </a:rPr>
              <a:t>ou</a:t>
            </a:r>
            <a:r>
              <a:rPr sz="153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30" b="0" i="0" dirty="0" err="1">
                <a:solidFill>
                  <a:srgbClr val="202020"/>
                </a:solidFill>
                <a:latin typeface="Noto Sans"/>
              </a:rPr>
              <a:t>telas</a:t>
            </a:r>
            <a:r>
              <a:rPr sz="1530" b="0" i="0" dirty="0">
                <a:solidFill>
                  <a:srgbClr val="202020"/>
                </a:solidFill>
                <a:latin typeface="Noto Sans"/>
              </a:rPr>
              <a:t>. Esse </a:t>
            </a:r>
            <a:r>
              <a:rPr sz="1530" b="0" i="0" dirty="0" err="1">
                <a:solidFill>
                  <a:srgbClr val="202020"/>
                </a:solidFill>
                <a:latin typeface="Noto Sans"/>
              </a:rPr>
              <a:t>caso</a:t>
            </a:r>
            <a:r>
              <a:rPr sz="153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30" b="0" i="0" dirty="0" err="1">
                <a:solidFill>
                  <a:srgbClr val="202020"/>
                </a:solidFill>
                <a:latin typeface="Noto Sans"/>
              </a:rPr>
              <a:t>exemplifica</a:t>
            </a:r>
            <a:r>
              <a:rPr sz="1530" b="0" i="0" dirty="0">
                <a:solidFill>
                  <a:srgbClr val="202020"/>
                </a:solidFill>
                <a:latin typeface="Noto Sans"/>
              </a:rPr>
              <a:t>:</a:t>
            </a:r>
            <a:br>
              <a:rPr dirty="0"/>
            </a:br>
            <a:r>
              <a:rPr dirty="0"/>
              <a:t>A) </a:t>
            </a:r>
            <a:r>
              <a:rPr dirty="0" err="1"/>
              <a:t>Independência</a:t>
            </a:r>
            <a:r>
              <a:rPr dirty="0"/>
              <a:t> </a:t>
            </a:r>
            <a:r>
              <a:rPr dirty="0" err="1"/>
              <a:t>lógica</a:t>
            </a:r>
            <a:r>
              <a:rPr dirty="0"/>
              <a:t>   B) </a:t>
            </a:r>
            <a:r>
              <a:rPr dirty="0" err="1"/>
              <a:t>Redundância</a:t>
            </a:r>
            <a:r>
              <a:rPr dirty="0"/>
              <a:t>   C) </a:t>
            </a:r>
            <a:r>
              <a:rPr dirty="0" err="1"/>
              <a:t>Independência</a:t>
            </a:r>
            <a:r>
              <a:rPr dirty="0"/>
              <a:t> </a:t>
            </a:r>
            <a:r>
              <a:rPr dirty="0" err="1"/>
              <a:t>física</a:t>
            </a:r>
            <a:r>
              <a:rPr dirty="0"/>
              <a:t>   D) </a:t>
            </a:r>
            <a:r>
              <a:rPr dirty="0" err="1"/>
              <a:t>Metadados</a:t>
            </a:r>
            <a:r>
              <a:rPr dirty="0"/>
              <a:t>   E) </a:t>
            </a:r>
            <a:r>
              <a:rPr dirty="0" err="1"/>
              <a:t>Atomicidade</a:t>
            </a:r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1138428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Noto Sans"/>
              </a:rPr>
              <a:t>Atividade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338560" cy="51206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02020"/>
                </a:solidFill>
                <a:latin typeface="Noto Sans"/>
              </a:rPr>
              <a:t>Questões de fixação — 5 e 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542287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84848"/>
            <a:ext cx="1542287" cy="731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84848"/>
            <a:ext cx="1542287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84848"/>
            <a:ext cx="1542287" cy="7315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84848"/>
            <a:ext cx="1542287" cy="731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84848"/>
            <a:ext cx="1542287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84848"/>
            <a:ext cx="1542287" cy="7315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84848"/>
            <a:ext cx="1542287" cy="73152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1965960"/>
            <a:ext cx="10927080" cy="1783080"/>
          </a:xfrm>
          <a:prstGeom prst="roundRect">
            <a:avLst/>
          </a:prstGeom>
          <a:solidFill>
            <a:srgbClr val="F8FB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1" y="2093976"/>
            <a:ext cx="10597896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366"/>
                </a:solidFill>
                <a:latin typeface="Noto Sans"/>
              </a:rPr>
              <a:t>Questão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2496312"/>
            <a:ext cx="10419338" cy="7848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30" b="0" i="0" dirty="0">
                <a:solidFill>
                  <a:srgbClr val="202020"/>
                </a:solidFill>
                <a:latin typeface="Noto Sans"/>
              </a:rPr>
              <a:t>5. Em </a:t>
            </a:r>
            <a:r>
              <a:rPr sz="1530" b="0" i="0" dirty="0" err="1">
                <a:solidFill>
                  <a:srgbClr val="202020"/>
                </a:solidFill>
                <a:latin typeface="Noto Sans"/>
              </a:rPr>
              <a:t>uma</a:t>
            </a:r>
            <a:r>
              <a:rPr sz="153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30" b="0" i="0" dirty="0" err="1">
                <a:solidFill>
                  <a:srgbClr val="202020"/>
                </a:solidFill>
                <a:latin typeface="Noto Sans"/>
              </a:rPr>
              <a:t>transferência</a:t>
            </a:r>
            <a:r>
              <a:rPr sz="153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30" b="0" i="0" dirty="0" err="1">
                <a:solidFill>
                  <a:srgbClr val="202020"/>
                </a:solidFill>
                <a:latin typeface="Noto Sans"/>
              </a:rPr>
              <a:t>bancária</a:t>
            </a:r>
            <a:r>
              <a:rPr sz="1530" b="0" i="0" dirty="0">
                <a:solidFill>
                  <a:srgbClr val="202020"/>
                </a:solidFill>
                <a:latin typeface="Noto Sans"/>
              </a:rPr>
              <a:t>, o </a:t>
            </a:r>
            <a:r>
              <a:rPr sz="1530" b="0" i="0" dirty="0" err="1">
                <a:solidFill>
                  <a:srgbClr val="202020"/>
                </a:solidFill>
                <a:latin typeface="Noto Sans"/>
              </a:rPr>
              <a:t>débito</a:t>
            </a:r>
            <a:r>
              <a:rPr sz="153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30" b="0" i="0" dirty="0" err="1">
                <a:solidFill>
                  <a:srgbClr val="202020"/>
                </a:solidFill>
                <a:latin typeface="Noto Sans"/>
              </a:rPr>
              <a:t>ocorreu</a:t>
            </a:r>
            <a:r>
              <a:rPr sz="1530" b="0" i="0" dirty="0">
                <a:solidFill>
                  <a:srgbClr val="202020"/>
                </a:solidFill>
                <a:latin typeface="Noto Sans"/>
              </a:rPr>
              <a:t>, mas </a:t>
            </a:r>
            <a:r>
              <a:rPr sz="1530" b="0" i="0" dirty="0" err="1">
                <a:solidFill>
                  <a:srgbClr val="202020"/>
                </a:solidFill>
                <a:latin typeface="Noto Sans"/>
              </a:rPr>
              <a:t>uma</a:t>
            </a:r>
            <a:r>
              <a:rPr sz="153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30" b="0" i="0" dirty="0" err="1">
                <a:solidFill>
                  <a:srgbClr val="202020"/>
                </a:solidFill>
                <a:latin typeface="Noto Sans"/>
              </a:rPr>
              <a:t>falha</a:t>
            </a:r>
            <a:r>
              <a:rPr sz="153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30" b="0" i="0" dirty="0" err="1">
                <a:solidFill>
                  <a:srgbClr val="202020"/>
                </a:solidFill>
                <a:latin typeface="Noto Sans"/>
              </a:rPr>
              <a:t>impediu</a:t>
            </a:r>
            <a:r>
              <a:rPr sz="1530" b="0" i="0" dirty="0">
                <a:solidFill>
                  <a:srgbClr val="202020"/>
                </a:solidFill>
                <a:latin typeface="Noto Sans"/>
              </a:rPr>
              <a:t> o </a:t>
            </a:r>
            <a:r>
              <a:rPr sz="1530" b="0" i="0" dirty="0" err="1">
                <a:solidFill>
                  <a:srgbClr val="202020"/>
                </a:solidFill>
                <a:latin typeface="Noto Sans"/>
              </a:rPr>
              <a:t>crédito</a:t>
            </a:r>
            <a:r>
              <a:rPr sz="1530" b="0" i="0" dirty="0">
                <a:solidFill>
                  <a:srgbClr val="202020"/>
                </a:solidFill>
                <a:latin typeface="Noto Sans"/>
              </a:rPr>
              <a:t>. Qual </a:t>
            </a:r>
            <a:r>
              <a:rPr sz="1530" b="0" i="0" dirty="0" err="1">
                <a:solidFill>
                  <a:srgbClr val="202020"/>
                </a:solidFill>
                <a:latin typeface="Noto Sans"/>
              </a:rPr>
              <a:t>propriedade</a:t>
            </a:r>
            <a:r>
              <a:rPr sz="1530" b="0" i="0" dirty="0">
                <a:solidFill>
                  <a:srgbClr val="202020"/>
                </a:solidFill>
                <a:latin typeface="Noto Sans"/>
              </a:rPr>
              <a:t> ACID </a:t>
            </a:r>
            <a:r>
              <a:rPr sz="1530" b="0" i="0" dirty="0" err="1">
                <a:solidFill>
                  <a:srgbClr val="202020"/>
                </a:solidFill>
                <a:latin typeface="Noto Sans"/>
              </a:rPr>
              <a:t>exige</a:t>
            </a:r>
            <a:r>
              <a:rPr sz="153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30" b="0" i="0" dirty="0" err="1">
                <a:solidFill>
                  <a:srgbClr val="202020"/>
                </a:solidFill>
                <a:latin typeface="Noto Sans"/>
              </a:rPr>
              <a:t>que</a:t>
            </a:r>
            <a:r>
              <a:rPr sz="1530" b="0" i="0" dirty="0">
                <a:solidFill>
                  <a:srgbClr val="202020"/>
                </a:solidFill>
                <a:latin typeface="Noto Sans"/>
              </a:rPr>
              <a:t> a </a:t>
            </a:r>
            <a:r>
              <a:rPr sz="1530" b="0" i="0" dirty="0" err="1">
                <a:solidFill>
                  <a:srgbClr val="202020"/>
                </a:solidFill>
                <a:latin typeface="Noto Sans"/>
              </a:rPr>
              <a:t>operação</a:t>
            </a:r>
            <a:r>
              <a:rPr sz="153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30" b="0" i="0" dirty="0" err="1">
                <a:solidFill>
                  <a:srgbClr val="202020"/>
                </a:solidFill>
                <a:latin typeface="Noto Sans"/>
              </a:rPr>
              <a:t>inteira</a:t>
            </a:r>
            <a:r>
              <a:rPr sz="153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30" b="0" i="0" dirty="0" err="1">
                <a:solidFill>
                  <a:srgbClr val="202020"/>
                </a:solidFill>
                <a:latin typeface="Noto Sans"/>
              </a:rPr>
              <a:t>seja</a:t>
            </a:r>
            <a:r>
              <a:rPr sz="153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30" b="0" i="0" dirty="0" err="1">
                <a:solidFill>
                  <a:srgbClr val="202020"/>
                </a:solidFill>
                <a:latin typeface="Noto Sans"/>
              </a:rPr>
              <a:t>concluída</a:t>
            </a:r>
            <a:r>
              <a:rPr sz="153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30" b="0" i="0" dirty="0" err="1">
                <a:solidFill>
                  <a:srgbClr val="202020"/>
                </a:solidFill>
                <a:latin typeface="Noto Sans"/>
              </a:rPr>
              <a:t>ou</a:t>
            </a:r>
            <a:r>
              <a:rPr sz="153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30" b="0" i="0" dirty="0" err="1">
                <a:solidFill>
                  <a:srgbClr val="202020"/>
                </a:solidFill>
                <a:latin typeface="Noto Sans"/>
              </a:rPr>
              <a:t>desfeita</a:t>
            </a:r>
            <a:r>
              <a:rPr sz="1530" b="0" i="0" dirty="0">
                <a:solidFill>
                  <a:srgbClr val="202020"/>
                </a:solidFill>
                <a:latin typeface="Noto Sans"/>
              </a:rPr>
              <a:t>?</a:t>
            </a:r>
            <a:br>
              <a:rPr dirty="0"/>
            </a:br>
            <a:r>
              <a:rPr dirty="0"/>
              <a:t>A) </a:t>
            </a:r>
            <a:r>
              <a:rPr dirty="0" err="1"/>
              <a:t>Atomicidade</a:t>
            </a:r>
            <a:r>
              <a:rPr dirty="0"/>
              <a:t>   B) </a:t>
            </a:r>
            <a:r>
              <a:rPr dirty="0" err="1"/>
              <a:t>Consistência</a:t>
            </a:r>
            <a:r>
              <a:rPr dirty="0"/>
              <a:t>   C) </a:t>
            </a:r>
            <a:r>
              <a:rPr dirty="0" err="1"/>
              <a:t>Isolamento</a:t>
            </a:r>
            <a:r>
              <a:rPr dirty="0"/>
              <a:t>   D) </a:t>
            </a:r>
            <a:r>
              <a:rPr dirty="0" err="1"/>
              <a:t>Durabilidade</a:t>
            </a:r>
            <a:r>
              <a:rPr dirty="0"/>
              <a:t>   E) </a:t>
            </a:r>
            <a:r>
              <a:rPr dirty="0" err="1"/>
              <a:t>Independência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640080" y="4069080"/>
            <a:ext cx="10927080" cy="1783080"/>
          </a:xfrm>
          <a:prstGeom prst="roundRect">
            <a:avLst/>
          </a:prstGeom>
          <a:solidFill>
            <a:srgbClr val="F8FB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1" y="4197096"/>
            <a:ext cx="10597896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366"/>
                </a:solidFill>
                <a:latin typeface="Noto Sans"/>
              </a:rPr>
              <a:t>Questão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4599432"/>
            <a:ext cx="10345110" cy="8263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30" b="0" i="0" dirty="0">
                <a:solidFill>
                  <a:srgbClr val="202020"/>
                </a:solidFill>
                <a:latin typeface="Noto Sans"/>
              </a:rPr>
              <a:t>6. Qual </a:t>
            </a:r>
            <a:r>
              <a:rPr sz="1530" b="0" i="0" dirty="0" err="1">
                <a:solidFill>
                  <a:srgbClr val="202020"/>
                </a:solidFill>
                <a:latin typeface="Noto Sans"/>
              </a:rPr>
              <a:t>alternativa</a:t>
            </a:r>
            <a:r>
              <a:rPr sz="153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30" b="0" i="0" dirty="0" err="1">
                <a:solidFill>
                  <a:srgbClr val="202020"/>
                </a:solidFill>
                <a:latin typeface="Noto Sans"/>
              </a:rPr>
              <a:t>descreve</a:t>
            </a:r>
            <a:r>
              <a:rPr sz="1530" b="0" i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530" b="0" i="0" dirty="0" err="1">
                <a:solidFill>
                  <a:srgbClr val="202020"/>
                </a:solidFill>
                <a:latin typeface="Noto Sans"/>
              </a:rPr>
              <a:t>corretamente</a:t>
            </a:r>
            <a:r>
              <a:rPr sz="1530" b="0" i="0" dirty="0">
                <a:solidFill>
                  <a:srgbClr val="202020"/>
                </a:solidFill>
                <a:latin typeface="Noto Sans"/>
              </a:rPr>
              <a:t> a </a:t>
            </a:r>
            <a:r>
              <a:rPr sz="1530" b="0" i="0" dirty="0" err="1">
                <a:solidFill>
                  <a:srgbClr val="202020"/>
                </a:solidFill>
                <a:latin typeface="Noto Sans"/>
              </a:rPr>
              <a:t>arquitetura</a:t>
            </a:r>
            <a:r>
              <a:rPr sz="1530" b="0" i="0" dirty="0">
                <a:solidFill>
                  <a:srgbClr val="202020"/>
                </a:solidFill>
                <a:latin typeface="Noto Sans"/>
              </a:rPr>
              <a:t> do PostgreSQL?</a:t>
            </a:r>
            <a:br>
              <a:rPr dirty="0"/>
            </a:br>
            <a:r>
              <a:rPr dirty="0"/>
              <a:t>A) Peer-to-peer   B) </a:t>
            </a:r>
            <a:r>
              <a:rPr dirty="0" err="1"/>
              <a:t>Cliente</a:t>
            </a:r>
            <a:r>
              <a:rPr dirty="0"/>
              <a:t>/</a:t>
            </a:r>
            <a:r>
              <a:rPr dirty="0" err="1"/>
              <a:t>servidor</a:t>
            </a:r>
            <a:r>
              <a:rPr dirty="0"/>
              <a:t>   C) </a:t>
            </a:r>
            <a:r>
              <a:rPr dirty="0" err="1"/>
              <a:t>Apenas</a:t>
            </a:r>
            <a:r>
              <a:rPr dirty="0"/>
              <a:t> local   D) Sem </a:t>
            </a:r>
            <a:r>
              <a:rPr dirty="0" err="1"/>
              <a:t>processos</a:t>
            </a:r>
            <a:r>
              <a:rPr dirty="0"/>
              <a:t> </a:t>
            </a:r>
            <a:r>
              <a:rPr dirty="0" err="1"/>
              <a:t>clientes</a:t>
            </a:r>
            <a:r>
              <a:rPr dirty="0"/>
              <a:t>   E) Banco </a:t>
            </a:r>
            <a:r>
              <a:rPr dirty="0" err="1"/>
              <a:t>monolítico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conexões</a:t>
            </a:r>
            <a:r>
              <a:rPr dirty="0"/>
              <a:t> </a:t>
            </a:r>
            <a:r>
              <a:rPr dirty="0" err="1"/>
              <a:t>simultâneas</a:t>
            </a: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6D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mond 1"/>
          <p:cNvSpPr/>
          <p:nvPr/>
        </p:nvSpPr>
        <p:spPr>
          <a:xfrm>
            <a:off x="594360" y="137160"/>
            <a:ext cx="1143000" cy="1143000"/>
          </a:xfrm>
          <a:prstGeom prst="diamond">
            <a:avLst/>
          </a:prstGeom>
          <a:solidFill>
            <a:srgbClr val="7A3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iamond 2"/>
          <p:cNvSpPr/>
          <p:nvPr/>
        </p:nvSpPr>
        <p:spPr>
          <a:xfrm>
            <a:off x="10149840" y="-320040"/>
            <a:ext cx="1417320" cy="1417320"/>
          </a:xfrm>
          <a:prstGeom prst="diamond">
            <a:avLst/>
          </a:prstGeom>
          <a:solidFill>
            <a:srgbClr val="F0B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iamond 3"/>
          <p:cNvSpPr/>
          <p:nvPr/>
        </p:nvSpPr>
        <p:spPr>
          <a:xfrm>
            <a:off x="9235440" y="4343400"/>
            <a:ext cx="822960" cy="822960"/>
          </a:xfrm>
          <a:prstGeom prst="diamond">
            <a:avLst/>
          </a:prstGeom>
          <a:solidFill>
            <a:srgbClr val="5A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iamond 4"/>
          <p:cNvSpPr/>
          <p:nvPr/>
        </p:nvSpPr>
        <p:spPr>
          <a:xfrm>
            <a:off x="-365760" y="5852160"/>
            <a:ext cx="822960" cy="822960"/>
          </a:xfrm>
          <a:prstGeom prst="diamond">
            <a:avLst/>
          </a:prstGeom>
          <a:solidFill>
            <a:srgbClr val="31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926080" y="2606040"/>
            <a:ext cx="6400800" cy="7315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Noto Sans"/>
              </a:rPr>
              <a:t>Bons estudos. Até a próxima aula!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364992"/>
            <a:ext cx="8549640" cy="4572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0" i="0">
                <a:solidFill>
                  <a:srgbClr val="FFFFFF"/>
                </a:solidFill>
                <a:latin typeface="Noto Sans"/>
              </a:rPr>
              <a:t>Próxima aula: Projeto de Banco de Dados — Modelagem Conceitual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977639"/>
            <a:ext cx="5788152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Noto Sans"/>
              </a:rPr>
              <a:t>Prof. Ms. Dionizio Porfírio de Assis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2760</Words>
  <Application>Microsoft Office PowerPoint</Application>
  <PresentationFormat>Widescreen</PresentationFormat>
  <Paragraphs>249</Paragraphs>
  <Slides>30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5" baseType="lpstr">
      <vt:lpstr>Aptos</vt:lpstr>
      <vt:lpstr>Arial</vt:lpstr>
      <vt:lpstr>Calibri</vt:lpstr>
      <vt:lpstr>Noto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DIONIZIO PORFIRIO DE ASSIS</cp:lastModifiedBy>
  <cp:revision>3</cp:revision>
  <dcterms:created xsi:type="dcterms:W3CDTF">2013-01-27T09:14:16Z</dcterms:created>
  <dcterms:modified xsi:type="dcterms:W3CDTF">2026-08-18T22:59:37Z</dcterms:modified>
  <cp:category/>
</cp:coreProperties>
</file>