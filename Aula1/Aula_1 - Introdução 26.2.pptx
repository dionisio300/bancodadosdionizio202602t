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147473933" r:id="rId2"/>
    <p:sldId id="2147473915" r:id="rId3"/>
    <p:sldId id="2147473916" r:id="rId4"/>
    <p:sldId id="2147473917" r:id="rId5"/>
    <p:sldId id="2147473918" r:id="rId6"/>
    <p:sldId id="2147473924" r:id="rId7"/>
    <p:sldId id="2147473926" r:id="rId8"/>
    <p:sldId id="2147473923" r:id="rId9"/>
    <p:sldId id="2147473925" r:id="rId10"/>
    <p:sldId id="2147473927" r:id="rId11"/>
    <p:sldId id="2147473920" r:id="rId12"/>
    <p:sldId id="2147473921" r:id="rId13"/>
    <p:sldId id="2147473928" r:id="rId14"/>
    <p:sldId id="2147473929" r:id="rId15"/>
    <p:sldId id="2147473930" r:id="rId16"/>
    <p:sldId id="2147473931" r:id="rId17"/>
    <p:sldId id="2147473932" r:id="rId18"/>
    <p:sldId id="2147473934" r:id="rId19"/>
    <p:sldId id="2147473936" r:id="rId20"/>
    <p:sldId id="2147473939" r:id="rId21"/>
    <p:sldId id="2147473940" r:id="rId22"/>
    <p:sldId id="2147473922" r:id="rId2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89B88F-AE85-4960-AAC6-BC79444C667F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D31BC0-9C9E-429B-89AF-0ABEFECF47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972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>
          <a:extLst>
            <a:ext uri="{FF2B5EF4-FFF2-40B4-BE49-F238E27FC236}">
              <a16:creationId xmlns:a16="http://schemas.microsoft.com/office/drawing/2014/main" id="{5A8D1F7F-46C5-8899-FD59-39CFEAB20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>
            <a:extLst>
              <a:ext uri="{FF2B5EF4-FFF2-40B4-BE49-F238E27FC236}">
                <a16:creationId xmlns:a16="http://schemas.microsoft.com/office/drawing/2014/main" id="{722B4823-7796-AD8C-05D2-A2D1615A49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>
            <a:extLst>
              <a:ext uri="{FF2B5EF4-FFF2-40B4-BE49-F238E27FC236}">
                <a16:creationId xmlns:a16="http://schemas.microsoft.com/office/drawing/2014/main" id="{75563556-4C05-4F87-2B55-FC91A063E2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:notes">
            <a:extLst>
              <a:ext uri="{FF2B5EF4-FFF2-40B4-BE49-F238E27FC236}">
                <a16:creationId xmlns:a16="http://schemas.microsoft.com/office/drawing/2014/main" id="{04C04BC5-84EE-AFF5-DCE5-E9E4297884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770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" name="Google Shape;63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86E5DC8-1F41-8D66-4AA0-8BA0E3B0E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943B7AF-D03C-1E43-D1D2-23576A0C89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BBB3183A-1AAA-6425-8A85-E54FE0B6E4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104426BB-DC33-3622-3797-57371A2312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7206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C4B8662B-7D54-7AD8-808E-010E02444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014A3BAE-B3AC-B531-383B-E1F6F1DCFE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40A5BAD-5086-1EF9-2FC4-06CD03262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F3ADB931-2552-EDC4-DDA8-BFF83C0CEE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361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4F99EED2-0E3A-98C7-C6EA-187BB7D6A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CAB150E8-A1A1-DC34-12DB-0AFBE5A4D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2C4A161-2724-F7D8-FC39-2BE52B6839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4B85911-A171-874A-1156-28654E17F8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9343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CC4DA47-5A61-8B7E-F4F4-0CF9D46A6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67E208F-6639-AA13-3052-4C84A69A9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060CF9D3-D2DC-5DD1-6452-77DFEBFE5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415BBF1D-2FBC-207C-E8CD-F4D2AFDE6E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411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57F211B-2924-516E-06F5-93709450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BAD39120-527F-225F-1C44-8F8D64124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4CA2BD02-39EB-DB43-1688-857A28992F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CF768B22-4929-7CC3-C4C1-AA286750053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61059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079EDBE2-39FC-2E92-DC14-02DD46C3C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19E8C27C-4FBA-DC84-8F7C-4EDAC72885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40279F9C-0A65-7D47-96B1-A34D83936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749888BF-4152-B578-0DD0-B171278E0DD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9790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0C22D8F0-B4C0-F842-E6AB-7180B5CB8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DD3D3E1A-CAB0-2D11-4605-EDA00E2A71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3E5B7CC9-0F39-6C3E-A919-03D49E1D9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E17C0DC1-B95F-CF6B-887E-FA5B7AE0F3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2301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2ED806F-1377-B000-D4D3-BF8843A3D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7C24BA0D-4227-8D9F-2887-98471B8F70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CFCE40E8-050E-07E9-CAAF-ACCA7E4221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123D8E6D-30A3-4A33-DB33-CCAEE101144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0065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312A37DC-4B76-C584-86E3-6BA9193ED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6FFB2029-55F6-7564-7CE3-9BC6ABBE76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2048A518-B2A9-380D-686F-EB1C3083E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10F1A52F-C240-7304-C233-68FF8C7C94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71661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85D690E0-BD1C-BAA8-F36C-EE42D4DE5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DF308EB3-4D68-A314-D6EA-9F0C48A40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4E43F238-BF13-DEF0-7D45-D8E266CF79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F3FE2305-6CB4-09D0-9BED-6655383A6E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86621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CD01BCD6-2B20-48EE-04F4-4BE133B2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12C99928-0838-B6AD-8FB5-AD1B56D04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D20052C4-E4C4-300D-7525-152604B2ED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010E287A-10A1-54C0-E5B9-7891ACA16E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91900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789933A6-9FBA-D0D9-1C83-0D53F8C3D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CC41123A-5BB7-39C1-25EA-DD7988C00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05F6FD07-F91B-DFA1-86B0-5B9B558D9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C47BC693-D9D8-DE88-D870-A7B9332D42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2372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6ACD69B-8630-3DF6-D209-7FF9D3EB6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34309ACC-DEA1-974F-C241-F3BE29940C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A9C2F4C9-CBDB-231B-B594-164F0A061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AE0075FF-D261-F6A9-15D2-5E5C092DA0A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32801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8AC56CF-3017-B642-D6F8-F5CC45593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>
            <a:extLst>
              <a:ext uri="{FF2B5EF4-FFF2-40B4-BE49-F238E27FC236}">
                <a16:creationId xmlns:a16="http://schemas.microsoft.com/office/drawing/2014/main" id="{953E0E37-39B1-3C27-FF3B-55CF81600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>
            <a:extLst>
              <a:ext uri="{FF2B5EF4-FFF2-40B4-BE49-F238E27FC236}">
                <a16:creationId xmlns:a16="http://schemas.microsoft.com/office/drawing/2014/main" id="{0A792816-4DDF-8B63-9F05-A3A29639EB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:notes">
            <a:extLst>
              <a:ext uri="{FF2B5EF4-FFF2-40B4-BE49-F238E27FC236}">
                <a16:creationId xmlns:a16="http://schemas.microsoft.com/office/drawing/2014/main" id="{ADE38F1D-473F-2F6C-ADEC-8A7261926A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221894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18BB5-FA6D-CC65-45B1-CA9870596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BB6BBA-05B4-89C8-E8BB-70A4C31FB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311377-9B6D-DDE3-E75E-DD7FABD3B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4FE05A-0383-331D-C355-96EA95CB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3BC77A-2FF8-1AC8-356B-05550234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8391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0EE7B3-8063-1909-7A70-A5F9A162B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A08774-1083-96CA-5EC6-7CE94D8C8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C626B3-2F6B-A145-9DFB-78F3BBAC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307C56-E5B6-AE10-7729-190585E0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CE2144-C484-6228-3313-821156299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1385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0BF84-0C9D-B60F-0DEA-8A2136C1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BD9ED7-679D-7217-EB30-F5C518B1A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0CDD1AC-85F0-82FC-D9DB-7E51DB76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5FFAAE-B3B3-7569-2951-EBCB2A4D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C733D1-5312-FB2D-E2F9-4CCB7EE9B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7791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C38FC1-D1C1-ACB6-44D1-FD74000C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9BDB56-AB6D-CBB4-51B0-08733320EA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9474C0B-A260-98B3-E645-BB27F7CD6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20D900-BC39-8647-1E02-41C9423F4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0E70DA-B70F-53B0-5ECC-D978BBB7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DC9267-1508-00BC-9DAE-91023386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3645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DA47B-47BB-DB6C-0912-3E8734EFC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50ED6C-ACC8-00CF-54BE-630EAB767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859D85-9B61-AB78-FCD0-10B53CE7C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7299764-5B17-CE06-A79A-BCEF9374D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674F5CF-1B9F-266E-545B-394B94BE16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E2A51A7-49F1-F725-BA1B-7CD40E3B0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54718D1-49AF-D1F6-4FE4-715AF591C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67ED924-C468-E4D1-87B1-95FB0958D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83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55D90-8C20-7D0A-1301-E40419905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6AAE92D-A383-4F96-0248-6A330F38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76C743F-FDEE-46E0-9C0E-00CD9260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6EB1700-0384-0E0D-9477-C8389404D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3370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FFCD78-9C90-DD77-3032-CB164258F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9E2FF4C-2A40-3DF3-86BD-DAA2C0953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BA2E145-3071-08F0-4246-574BC087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760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5D700-C160-8C31-7FEF-1A9F2034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BB32C2-0E5F-F61D-F022-B43B87D6F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476616-E0E6-D219-B39F-40A660ACE5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AF9EDA6-3939-D37E-2E04-C6A4EF81A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06CC05-7F65-B8AB-77C6-FC840CB2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4E2D38-3F59-CA28-B999-950C22A02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48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FB904-EB7B-24BD-EF3D-C0C48F010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A3F64AB-254F-2A6B-476C-071A05937D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0DEFB0-4935-A73F-FE69-F27C16F95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4BA5B6-F3C9-2C63-9A9B-FE1C9B2C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FBD5EB-DD57-9AB8-CD29-8B13B1FA9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7F0A286-A49A-1AB3-ABF6-D925F99B8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4389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46CF7-5096-BB23-B18C-DB60B46C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4D49A4C-E44B-D0B7-C9D6-8CE7A2A18C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39D3713-DD4B-F5DC-6B8D-23802289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7E6FAA-CC9E-08F4-286B-EC1BF6850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417624-8735-2079-3877-578EC7567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1187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E883F5-D05E-06A2-F102-FDC102261C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FB823F-CEC8-8C67-5CD5-6C42E63A8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E7503A-ED6F-283E-69FE-BFE0E9043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5AA4DF-20E7-A90F-59A2-1BF3276B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F1196-8166-4175-1F8F-EC686D3D0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919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262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EFCC810-F934-C8CF-28E2-99F866E13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492BEE-F63E-943E-90F1-89FB69A0C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029A29-5431-6899-E71A-06C86F21C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788A39-ED6E-402A-82E0-9A572EBE2197}" type="datetimeFigureOut">
              <a:rPr lang="pt-BR" smtClean="0"/>
              <a:t>11/08/2026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C0E22F-AAF0-D43C-A377-4EBF23D95C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8C604B-2879-CFCB-C972-203546D2F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F8B0B-496F-474C-811B-41A0C91A69D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624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lataforma.bvirtual.com.br/Acervo/Publicacao/3842/" TargetMode="External"/><Relationship Id="rId5" Type="http://schemas.openxmlformats.org/officeDocument/2006/relationships/hyperlink" Target="https://integrada.minhabiblioteca.com.br/#/books/9788577804528/" TargetMode="External"/><Relationship Id="rId4" Type="http://schemas.openxmlformats.org/officeDocument/2006/relationships/hyperlink" Target="https://plataforma.bvirtual.com.br/Acervo/Publicacao/168492" TargetMode="External"/><Relationship Id="rId9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A8B8BCE-BC58-D1B6-962E-720CCF8C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>
            <a:extLst>
              <a:ext uri="{FF2B5EF4-FFF2-40B4-BE49-F238E27FC236}">
                <a16:creationId xmlns:a16="http://schemas.microsoft.com/office/drawing/2014/main" id="{DE931FF9-2D52-9682-6EA9-A24E6C409E04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>
            <a:extLst>
              <a:ext uri="{FF2B5EF4-FFF2-40B4-BE49-F238E27FC236}">
                <a16:creationId xmlns:a16="http://schemas.microsoft.com/office/drawing/2014/main" id="{D42DE456-985E-6D92-1F3B-3E2A6E510868}"/>
              </a:ext>
            </a:extLst>
          </p:cNvPr>
          <p:cNvSpPr/>
          <p:nvPr/>
        </p:nvSpPr>
        <p:spPr>
          <a:xfrm>
            <a:off x="1524000" y="2947567"/>
            <a:ext cx="8625036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/>
            <a:r>
              <a:rPr lang="pt-BR" sz="4400" b="1" dirty="0">
                <a:solidFill>
                  <a:srgbClr val="002060"/>
                </a:solidFill>
                <a:ea typeface="Calibri"/>
                <a:cs typeface="Calibri"/>
                <a:sym typeface="Calibri"/>
              </a:rPr>
              <a:t>Banco de dados</a:t>
            </a:r>
            <a:endParaRPr sz="4400" b="1" dirty="0"/>
          </a:p>
        </p:txBody>
      </p:sp>
      <p:sp>
        <p:nvSpPr>
          <p:cNvPr id="72" name="Google Shape;72;p3">
            <a:extLst>
              <a:ext uri="{FF2B5EF4-FFF2-40B4-BE49-F238E27FC236}">
                <a16:creationId xmlns:a16="http://schemas.microsoft.com/office/drawing/2014/main" id="{5F8AAEB6-6DB2-C17E-A401-30F67A3556EE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>
            <a:extLst>
              <a:ext uri="{FF2B5EF4-FFF2-40B4-BE49-F238E27FC236}">
                <a16:creationId xmlns:a16="http://schemas.microsoft.com/office/drawing/2014/main" id="{465752CB-78EA-A872-F7D5-09632409B814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>
            <a:extLst>
              <a:ext uri="{FF2B5EF4-FFF2-40B4-BE49-F238E27FC236}">
                <a16:creationId xmlns:a16="http://schemas.microsoft.com/office/drawing/2014/main" id="{6DB710DD-9CAB-FAFA-A82E-B28B6B78D0D7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>
            <a:extLst>
              <a:ext uri="{FF2B5EF4-FFF2-40B4-BE49-F238E27FC236}">
                <a16:creationId xmlns:a16="http://schemas.microsoft.com/office/drawing/2014/main" id="{8F09A13B-8602-4BF6-0510-681F22FE16C0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>
            <a:extLst>
              <a:ext uri="{FF2B5EF4-FFF2-40B4-BE49-F238E27FC236}">
                <a16:creationId xmlns:a16="http://schemas.microsoft.com/office/drawing/2014/main" id="{BDC0E59D-6501-1242-B914-C642297C557B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>
            <a:extLst>
              <a:ext uri="{FF2B5EF4-FFF2-40B4-BE49-F238E27FC236}">
                <a16:creationId xmlns:a16="http://schemas.microsoft.com/office/drawing/2014/main" id="{6A07F720-F947-9828-A242-49BD8A9ACD83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>
            <a:extLst>
              <a:ext uri="{FF2B5EF4-FFF2-40B4-BE49-F238E27FC236}">
                <a16:creationId xmlns:a16="http://schemas.microsoft.com/office/drawing/2014/main" id="{FC476854-26E2-0AF8-2023-AEFF5F0DC5F6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>
            <a:extLst>
              <a:ext uri="{FF2B5EF4-FFF2-40B4-BE49-F238E27FC236}">
                <a16:creationId xmlns:a16="http://schemas.microsoft.com/office/drawing/2014/main" id="{E08C5752-B5BD-36D5-838A-E334B6CCDB88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4C13878-5AEA-FEA0-F452-4956AAE2A1A8}"/>
              </a:ext>
            </a:extLst>
          </p:cNvPr>
          <p:cNvSpPr txBox="1"/>
          <p:nvPr/>
        </p:nvSpPr>
        <p:spPr>
          <a:xfrm>
            <a:off x="8382000" y="4444181"/>
            <a:ext cx="3463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Prof. </a:t>
            </a:r>
            <a:r>
              <a:rPr lang="pt-BR" dirty="0" err="1"/>
              <a:t>Ms</a:t>
            </a:r>
            <a:r>
              <a:rPr lang="pt-BR" dirty="0"/>
              <a:t> Dionizio Porfírio de Assis</a:t>
            </a:r>
          </a:p>
        </p:txBody>
      </p:sp>
    </p:spTree>
    <p:extLst>
      <p:ext uri="{BB962C8B-B14F-4D97-AF65-F5344CB8AC3E}">
        <p14:creationId xmlns:p14="http://schemas.microsoft.com/office/powerpoint/2010/main" val="263907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Apresentação 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495973" y="1003570"/>
            <a:ext cx="6682089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0000"/>
              </a:buClr>
              <a:buSzPts val="2400"/>
            </a:pPr>
            <a:r>
              <a:rPr lang="pt-BR" sz="32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Prof</a:t>
            </a:r>
            <a:r>
              <a:rPr lang="pt-BR" sz="3200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Ms. Dionizio Porfírio de Assis</a:t>
            </a:r>
            <a:endParaRPr sz="3200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462238" y="1445059"/>
            <a:ext cx="571500" cy="571500"/>
            <a:chOff x="285750" y="1365772"/>
            <a:chExt cx="428625" cy="428625"/>
          </a:xfrm>
        </p:grpSpPr>
        <p:sp>
          <p:nvSpPr>
            <p:cNvPr id="43" name="Google Shape;43;p2"/>
            <p:cNvSpPr/>
            <p:nvPr/>
          </p:nvSpPr>
          <p:spPr>
            <a:xfrm>
              <a:off x="285750" y="1365772"/>
              <a:ext cx="428625" cy="428625"/>
            </a:xfrm>
            <a:prstGeom prst="ellipse">
              <a:avLst/>
            </a:prstGeom>
            <a:solidFill>
              <a:srgbClr val="003366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4" name="Google Shape;44;p2" descr="preencoded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25053" y="1507332"/>
              <a:ext cx="171450" cy="171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" name="Google Shape;45;p2"/>
          <p:cNvSpPr/>
          <p:nvPr/>
        </p:nvSpPr>
        <p:spPr>
          <a:xfrm>
            <a:off x="1219476" y="1549164"/>
            <a:ext cx="121614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003366"/>
              </a:buClr>
              <a:buSzPts val="1350"/>
            </a:pPr>
            <a:r>
              <a:rPr lang="pt-BR" b="1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Formação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" name="Google Shape;47;p2"/>
          <p:cNvGrpSpPr/>
          <p:nvPr/>
        </p:nvGrpSpPr>
        <p:grpSpPr>
          <a:xfrm>
            <a:off x="410850" y="3598647"/>
            <a:ext cx="571500" cy="571500"/>
            <a:chOff x="285750" y="3729038"/>
            <a:chExt cx="428625" cy="428625"/>
          </a:xfrm>
        </p:grpSpPr>
        <p:sp>
          <p:nvSpPr>
            <p:cNvPr id="48" name="Google Shape;48;p2"/>
            <p:cNvSpPr/>
            <p:nvPr/>
          </p:nvSpPr>
          <p:spPr>
            <a:xfrm>
              <a:off x="285750" y="3729038"/>
              <a:ext cx="428625" cy="428625"/>
            </a:xfrm>
            <a:prstGeom prst="ellipse">
              <a:avLst/>
            </a:prstGeom>
            <a:solidFill>
              <a:srgbClr val="DC3545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9" name="Google Shape;49;p2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03622" y="3857625"/>
              <a:ext cx="192881" cy="171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" name="Google Shape;50;p2"/>
          <p:cNvSpPr/>
          <p:nvPr/>
        </p:nvSpPr>
        <p:spPr>
          <a:xfrm>
            <a:off x="1065558" y="3763769"/>
            <a:ext cx="291105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003366"/>
              </a:buClr>
              <a:buSzPts val="1350"/>
            </a:pPr>
            <a:r>
              <a:rPr lang="pt-BR" b="1">
                <a:solidFill>
                  <a:srgbClr val="003366"/>
                </a:solidFill>
                <a:latin typeface="Montserrat"/>
                <a:ea typeface="Montserrat"/>
                <a:cs typeface="Montserrat"/>
                <a:sym typeface="Montserrat"/>
              </a:rPr>
              <a:t>Experiência Profissional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6F7F0309-EFE1-EF2E-4EFF-E0BE67A7911B}"/>
              </a:ext>
            </a:extLst>
          </p:cNvPr>
          <p:cNvSpPr/>
          <p:nvPr/>
        </p:nvSpPr>
        <p:spPr>
          <a:xfrm>
            <a:off x="462237" y="2147508"/>
            <a:ext cx="7368779" cy="12926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r>
              <a:rPr lang="pt-BR" sz="1400" dirty="0"/>
              <a:t>Graduado em Engenharia de Telecomunicações pela Universidade Federal do Ceará (UFC).</a:t>
            </a:r>
          </a:p>
          <a:p>
            <a:r>
              <a:rPr lang="pt-BR" sz="1400" dirty="0"/>
              <a:t>Mestrado em Engenharia Elétrica pela Universidade Federal do Ceará (UFC), com pesquisa na área de Energias Renováveis e Sistemas Fotovoltaicos, com enfoque em monitoramento e aquisição de dados de plantas fotovoltaicas.</a:t>
            </a:r>
          </a:p>
          <a:p>
            <a:r>
              <a:rPr lang="pt-BR" sz="1400" dirty="0"/>
              <a:t>Doutorado em Engenharia Elétrica pela Universidade Federal do Ceará (UFC), em andamento.</a:t>
            </a:r>
          </a:p>
          <a:p>
            <a:r>
              <a:rPr lang="pt-BR" sz="1400" dirty="0"/>
              <a:t>Pós-graduado em Desenvolvimento Full Stack.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02B734C-9ED8-265E-B9AA-2BDE62BB0378}"/>
              </a:ext>
            </a:extLst>
          </p:cNvPr>
          <p:cNvSpPr txBox="1"/>
          <p:nvPr/>
        </p:nvSpPr>
        <p:spPr>
          <a:xfrm>
            <a:off x="372035" y="4258252"/>
            <a:ext cx="76253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Profissional com experiência docente em cursos de tecnologia e projetos de formação profissional, atuando no ensino de programação, desenvolvimento de software, bancos de dados, redes de computadores e análise de dados. Possui experiência com diferentes linguagens e paradigmas de programação, além do desenvolvimento de sistemas web, aplicações comerciais e soluções de monitoramento. Atua também nas áreas de Internet das Coisas, sistemas embarcados, comunicação de dados, automação e tecnologias aplicadas à Indústria 4.0. Sua trajetória acadêmica e profissional inclui ainda atividades de pesquisa, aplicação de métodos estatísticos, suporte técnico, liderança de equipes e acompanhamento de projetos de desenvolvimento tecnológico.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3F41EE6-54E7-A854-B89A-C5BD74F0D30B}"/>
              </a:ext>
            </a:extLst>
          </p:cNvPr>
          <p:cNvSpPr txBox="1"/>
          <p:nvPr/>
        </p:nvSpPr>
        <p:spPr>
          <a:xfrm>
            <a:off x="1979237" y="5917972"/>
            <a:ext cx="6198824" cy="297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333" b="1" dirty="0">
                <a:solidFill>
                  <a:srgbClr val="002060"/>
                </a:solidFill>
              </a:rPr>
              <a:t>Dionizio.assis@professores.estácio.br</a:t>
            </a:r>
          </a:p>
        </p:txBody>
      </p:sp>
      <p:pic>
        <p:nvPicPr>
          <p:cNvPr id="7" name="Gráfico 6" descr="E-mail com preenchimento sólido">
            <a:extLst>
              <a:ext uri="{FF2B5EF4-FFF2-40B4-BE49-F238E27FC236}">
                <a16:creationId xmlns:a16="http://schemas.microsoft.com/office/drawing/2014/main" id="{A573CD9E-F2B1-B246-4E29-1714538A85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6193" y="5829551"/>
            <a:ext cx="462708" cy="46270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5172CB4-89B5-5810-F29A-EF337F71A4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067" y="1328375"/>
            <a:ext cx="3206694" cy="39245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Apresentação Alunos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495973" y="1003570"/>
            <a:ext cx="319848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609585" lvl="1"/>
            <a:r>
              <a:rPr lang="pt-BR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QUEM É VOCÊ?</a:t>
            </a:r>
            <a:endParaRPr sz="3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580848" y="2505670"/>
            <a:ext cx="3753152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just"/>
            <a:r>
              <a:rPr lang="pt-BR" sz="2400" i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Nome</a:t>
            </a:r>
            <a:endParaRPr sz="2400"/>
          </a:p>
          <a:p>
            <a:pPr algn="just"/>
            <a:r>
              <a:rPr lang="pt-BR" sz="2400" i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Cidade</a:t>
            </a:r>
            <a:endParaRPr sz="2400"/>
          </a:p>
          <a:p>
            <a:pPr algn="just"/>
            <a:r>
              <a:rPr lang="pt-BR" sz="2400" i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Curso</a:t>
            </a:r>
            <a:endParaRPr sz="2400"/>
          </a:p>
          <a:p>
            <a:pPr algn="just"/>
            <a:r>
              <a:rPr lang="pt-BR" sz="2400" i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Trabalho</a:t>
            </a:r>
            <a:endParaRPr sz="2400"/>
          </a:p>
          <a:p>
            <a:pPr algn="just"/>
            <a:endParaRPr sz="2400" i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p3" descr="Ícone&#10;&#10;O conteúdo gerado por IA pode estar incorreto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19895" y="1681047"/>
            <a:ext cx="6533917" cy="4181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A71622D-D93B-5A7A-2C77-9EECAC0A181C}"/>
              </a:ext>
            </a:extLst>
          </p:cNvPr>
          <p:cNvSpPr/>
          <p:nvPr/>
        </p:nvSpPr>
        <p:spPr>
          <a:xfrm>
            <a:off x="4222387" y="5083325"/>
            <a:ext cx="7683733" cy="1404311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400"/>
          </a:p>
        </p:txBody>
      </p:sp>
      <p:sp>
        <p:nvSpPr>
          <p:cNvPr id="88" name="Google Shape;88;p4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81000" y="219419"/>
            <a:ext cx="675202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PROGRAMAÇÃO DA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" name="Google Shape;91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703" y="3686175"/>
            <a:ext cx="83344" cy="13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703" y="4114801"/>
            <a:ext cx="83344" cy="133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91301" y="2828926"/>
            <a:ext cx="133351" cy="13335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1" y="6781800"/>
            <a:ext cx="2031988" cy="76200"/>
          </a:xfrm>
          <a:prstGeom prst="rect">
            <a:avLst/>
          </a:prstGeom>
          <a:solidFill>
            <a:srgbClr val="003B71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2031989" y="6781800"/>
            <a:ext cx="2031988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063975" y="6781800"/>
            <a:ext cx="2031988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095963" y="6781800"/>
            <a:ext cx="2031988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8127951" y="6781800"/>
            <a:ext cx="2031988" cy="76200"/>
          </a:xfrm>
          <a:prstGeom prst="rect">
            <a:avLst/>
          </a:prstGeom>
          <a:solidFill>
            <a:srgbClr val="00A651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159938" y="6781800"/>
            <a:ext cx="2031988" cy="76200"/>
          </a:xfrm>
          <a:prstGeom prst="rect">
            <a:avLst/>
          </a:prstGeom>
          <a:solidFill>
            <a:srgbClr val="FF82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222387" y="3388695"/>
            <a:ext cx="7683733" cy="67597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609585" lvl="1" algn="ctr"/>
            <a:r>
              <a:rPr lang="pt-BR" sz="2000" b="1" dirty="0">
                <a:solidFill>
                  <a:srgbClr val="0B41BC"/>
                </a:solidFill>
                <a:latin typeface="Arial"/>
                <a:ea typeface="Arial"/>
                <a:cs typeface="Arial"/>
                <a:sym typeface="Arial"/>
              </a:rPr>
              <a:t>Terças-Feiras 20:20h às 22:00h</a:t>
            </a:r>
            <a:endParaRPr sz="2400" dirty="0"/>
          </a:p>
        </p:txBody>
      </p:sp>
      <p:sp>
        <p:nvSpPr>
          <p:cNvPr id="101" name="Google Shape;101;p4"/>
          <p:cNvSpPr/>
          <p:nvPr/>
        </p:nvSpPr>
        <p:spPr>
          <a:xfrm>
            <a:off x="197992" y="3285183"/>
            <a:ext cx="3770365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733" b="1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AULAS AO VIVO</a:t>
            </a:r>
            <a:endParaRPr sz="1733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222387" y="1119127"/>
            <a:ext cx="7683733" cy="6920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rgbClr val="0B41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04/08/2026 a 01/12/2026</a:t>
            </a:r>
            <a:endParaRPr sz="2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197993" y="994051"/>
            <a:ext cx="3822039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733" b="1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OFERTA DA DISCIPLINA</a:t>
            </a:r>
            <a:endParaRPr sz="1733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222387" y="2242608"/>
            <a:ext cx="7683733" cy="67597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rgbClr val="0B41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TEAMS – E-mail</a:t>
            </a:r>
            <a:endParaRPr sz="2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46319" y="2147656"/>
            <a:ext cx="3822039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733" b="1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ATENDIMENTO</a:t>
            </a:r>
            <a:endParaRPr sz="1733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62097" y="4989972"/>
            <a:ext cx="3801377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733" b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AVALIAÇÕES</a:t>
            </a:r>
          </a:p>
          <a:p>
            <a:pPr algn="ctr"/>
            <a:r>
              <a:rPr lang="pt-BR" sz="1733" b="1" dirty="0">
                <a:solidFill>
                  <a:srgbClr val="002060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(SIMULADOS - AV/AVS)</a:t>
            </a:r>
            <a:endParaRPr sz="1733" dirty="0">
              <a:solidFill>
                <a:srgbClr val="002060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Google Shape;104;p4">
            <a:extLst>
              <a:ext uri="{FF2B5EF4-FFF2-40B4-BE49-F238E27FC236}">
                <a16:creationId xmlns:a16="http://schemas.microsoft.com/office/drawing/2014/main" id="{03407184-F30B-FE1B-D8C7-C9C623424C28}"/>
              </a:ext>
            </a:extLst>
          </p:cNvPr>
          <p:cNvSpPr/>
          <p:nvPr/>
        </p:nvSpPr>
        <p:spPr>
          <a:xfrm>
            <a:off x="4222387" y="4517286"/>
            <a:ext cx="3797923" cy="5080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600" b="1" dirty="0">
                <a:solidFill>
                  <a:srgbClr val="0B41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Simulado 1 – </a:t>
            </a:r>
            <a:r>
              <a:rPr lang="pt-BR" sz="1600" b="1" dirty="0">
                <a:solidFill>
                  <a:srgbClr val="0B41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21 à 26/09</a:t>
            </a:r>
            <a:endParaRPr sz="2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Google Shape;108;p4">
            <a:extLst>
              <a:ext uri="{FF2B5EF4-FFF2-40B4-BE49-F238E27FC236}">
                <a16:creationId xmlns:a16="http://schemas.microsoft.com/office/drawing/2014/main" id="{5074DB48-9E1E-3CF8-6E5C-9538F675A0B9}"/>
              </a:ext>
            </a:extLst>
          </p:cNvPr>
          <p:cNvSpPr/>
          <p:nvPr/>
        </p:nvSpPr>
        <p:spPr>
          <a:xfrm>
            <a:off x="8184738" y="4515606"/>
            <a:ext cx="3721383" cy="50805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1600" b="1" dirty="0">
                <a:solidFill>
                  <a:srgbClr val="0B41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Simulado 2 – 09 à 14/11</a:t>
            </a:r>
            <a:endParaRPr sz="24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9F538A8-7B66-F86F-658D-974C71D9B176}"/>
              </a:ext>
            </a:extLst>
          </p:cNvPr>
          <p:cNvSpPr txBox="1"/>
          <p:nvPr/>
        </p:nvSpPr>
        <p:spPr>
          <a:xfrm>
            <a:off x="4854672" y="5085004"/>
            <a:ext cx="6096000" cy="14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133" b="1" dirty="0">
                <a:solidFill>
                  <a:srgbClr val="0B41BC"/>
                </a:solidFill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Agendamento AV  -  16/09 à 19/11</a:t>
            </a:r>
            <a:endParaRPr lang="pt-BR" sz="2133" dirty="0">
              <a:ea typeface="Noto Sans" panose="020B0502040504020204" pitchFamily="34" charset="0"/>
              <a:cs typeface="Noto Sans" panose="020B0502040504020204" pitchFamily="34" charset="0"/>
              <a:sym typeface="Arial"/>
            </a:endParaRPr>
          </a:p>
          <a:p>
            <a:pPr algn="ctr"/>
            <a:r>
              <a:rPr lang="pt-BR" sz="2133" b="1" dirty="0">
                <a:solidFill>
                  <a:srgbClr val="0B41BC"/>
                </a:solidFill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Agendamento AVS -  24/09 à 03/12</a:t>
            </a:r>
          </a:p>
          <a:p>
            <a:pPr algn="ctr"/>
            <a:endParaRPr lang="pt-BR" sz="2133" b="1" dirty="0">
              <a:solidFill>
                <a:srgbClr val="0B41BC"/>
              </a:solidFill>
              <a:ea typeface="Noto Sans" panose="020B0502040504020204" pitchFamily="34" charset="0"/>
              <a:cs typeface="Noto Sans" panose="020B0502040504020204" pitchFamily="34" charset="0"/>
              <a:sym typeface="Arial"/>
            </a:endParaRPr>
          </a:p>
          <a:p>
            <a:pPr algn="ctr"/>
            <a:r>
              <a:rPr lang="pt-BR" sz="2133" b="1" dirty="0">
                <a:solidFill>
                  <a:srgbClr val="FF0000"/>
                </a:solidFill>
                <a:ea typeface="Noto Sans" panose="020B0502040504020204" pitchFamily="34" charset="0"/>
                <a:cs typeface="Noto Sans" panose="020B0502040504020204" pitchFamily="34" charset="0"/>
                <a:sym typeface="Arial"/>
              </a:rPr>
              <a:t>Realização AV / AVS – 23/11 à 05/12</a:t>
            </a:r>
            <a:endParaRPr lang="pt-BR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Plano de Ensino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492465" y="1148506"/>
            <a:ext cx="8860447" cy="474794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457200" indent="-457200">
              <a:buAutoNum type="arabicPeriod"/>
            </a:pPr>
            <a:r>
              <a:rPr lang="pt-BR" sz="2000" b="1" dirty="0"/>
              <a:t>SISTEMA DE BANCO DE DADOS</a:t>
            </a:r>
          </a:p>
          <a:p>
            <a:pPr marL="457200" indent="-457200">
              <a:buAutoNum type="arabicPeriod"/>
            </a:pPr>
            <a:endParaRPr lang="pt-BR" sz="2000" b="1" dirty="0"/>
          </a:p>
          <a:p>
            <a:r>
              <a:rPr lang="pt-BR" dirty="0"/>
              <a:t>1.1 HISTÓRICO DOS BANCOS DE DADOS 1.2 SISTEMAS DE BANCO DE DADOS (SBD) 1.3 SISTEMAS DE GERÊNCIA DE BANCO DE DADOS (SGBD)</a:t>
            </a:r>
          </a:p>
          <a:p>
            <a:endParaRPr lang="pt-BR" dirty="0"/>
          </a:p>
          <a:p>
            <a:r>
              <a:rPr lang="pt-BR" sz="2000" b="1" dirty="0"/>
              <a:t>2. PROJETO DE BANCO DE DADOS: MODELAGEM CONCEITUAL</a:t>
            </a:r>
          </a:p>
          <a:p>
            <a:endParaRPr lang="pt-BR" dirty="0"/>
          </a:p>
          <a:p>
            <a:r>
              <a:rPr lang="pt-BR" dirty="0"/>
              <a:t>2.1 ETAPAS DO PROJETO </a:t>
            </a:r>
          </a:p>
          <a:p>
            <a:r>
              <a:rPr lang="pt-BR" dirty="0"/>
              <a:t>2.2 DIAGRAMA DE ENTIDADE E RELACIONAMENTO 2.3 MODELAGEM DE ENTIDADES E RELACIONAMENTOS 2.4 MODELAGEM DE ATRIBUTOS </a:t>
            </a:r>
          </a:p>
        </p:txBody>
      </p:sp>
      <p:sp>
        <p:nvSpPr>
          <p:cNvPr id="128" name="Google Shape;128;p5"/>
          <p:cNvSpPr/>
          <p:nvPr/>
        </p:nvSpPr>
        <p:spPr>
          <a:xfrm>
            <a:off x="7860287" y="497101"/>
            <a:ext cx="3151971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TEMAS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0008BD1-CFAE-8B42-437C-39525906C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 descr="preencoded.png">
            <a:extLst>
              <a:ext uri="{FF2B5EF4-FFF2-40B4-BE49-F238E27FC236}">
                <a16:creationId xmlns:a16="http://schemas.microsoft.com/office/drawing/2014/main" id="{D5CE78D5-550D-6D4D-54AE-72466D32DF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22F2C742-2FAE-8006-1A8A-1A015648A92C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906A0205-FBDF-AFE9-062E-38ECE3EB1A20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Plano de Ensino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CC0EF2D7-A836-E0C5-EC07-3F3ABBA1FF9F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>
            <a:extLst>
              <a:ext uri="{FF2B5EF4-FFF2-40B4-BE49-F238E27FC236}">
                <a16:creationId xmlns:a16="http://schemas.microsoft.com/office/drawing/2014/main" id="{EAA8D643-3FD1-FDFC-AE6D-7DF6B680E927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5989EA81-5D5B-A385-4B28-A173CA95F1C8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DCD2BD86-5D4B-73F1-9D61-2E46E1A74601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877D57D8-4E7E-ED01-24B2-BE3E2D9D0CC9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>
            <a:extLst>
              <a:ext uri="{FF2B5EF4-FFF2-40B4-BE49-F238E27FC236}">
                <a16:creationId xmlns:a16="http://schemas.microsoft.com/office/drawing/2014/main" id="{D36135EA-5E5C-DF4F-E91B-43ED47D6F315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F529CC72-3169-043D-A98B-C3A196457688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8E721E06-A889-86AC-FBD0-BC7A144F8059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021E0491-2BBF-2BE2-C187-45977158A311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>
            <a:extLst>
              <a:ext uri="{FF2B5EF4-FFF2-40B4-BE49-F238E27FC236}">
                <a16:creationId xmlns:a16="http://schemas.microsoft.com/office/drawing/2014/main" id="{3AD17CA1-A60F-C143-0935-90D0F4E4DAD3}"/>
              </a:ext>
            </a:extLst>
          </p:cNvPr>
          <p:cNvSpPr/>
          <p:nvPr/>
        </p:nvSpPr>
        <p:spPr>
          <a:xfrm>
            <a:off x="1443304" y="1149320"/>
            <a:ext cx="8860447" cy="496654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pt-BR" sz="2000" b="1" dirty="0"/>
              <a:t>3. PROJETO DE BANCO DE DADOS: MODELAGEM LÓGICA E FÍSICA</a:t>
            </a:r>
          </a:p>
          <a:p>
            <a:endParaRPr lang="pt-BR" dirty="0"/>
          </a:p>
          <a:p>
            <a:r>
              <a:rPr lang="pt-BR" dirty="0"/>
              <a:t>3.1 MODELO RELACIONAL </a:t>
            </a:r>
          </a:p>
          <a:p>
            <a:r>
              <a:rPr lang="pt-BR" dirty="0"/>
              <a:t>3.2 FORMAS NORMAIS </a:t>
            </a:r>
          </a:p>
          <a:p>
            <a:r>
              <a:rPr lang="pt-BR" dirty="0"/>
              <a:t>3.3 MAPEAMENTO CONCEITUAL­LÓGICO </a:t>
            </a:r>
          </a:p>
          <a:p>
            <a:r>
              <a:rPr lang="pt-BR" dirty="0"/>
              <a:t>3.4 MODELO NO SGBD</a:t>
            </a:r>
          </a:p>
          <a:p>
            <a:endParaRPr lang="pt-BR" dirty="0"/>
          </a:p>
          <a:p>
            <a:r>
              <a:rPr lang="pt-BR" sz="2000" b="1" dirty="0"/>
              <a:t>4. CRIAÇÃO E MANIPULAÇÃO DE OBJETOS NO POSTGRESQL</a:t>
            </a:r>
          </a:p>
          <a:p>
            <a:endParaRPr lang="pt-BR" dirty="0"/>
          </a:p>
          <a:p>
            <a:r>
              <a:rPr lang="pt-BR" dirty="0"/>
              <a:t>4.1 POSTGRESQL </a:t>
            </a:r>
          </a:p>
          <a:p>
            <a:r>
              <a:rPr lang="pt-BR" dirty="0"/>
              <a:t>4.2 CRIAÇÃO E ALTERAÇÃO DE TABELAS 4.3 MANIPULAÇÃO DE LINHAS NAS TABELAS </a:t>
            </a:r>
          </a:p>
          <a:p>
            <a:r>
              <a:rPr lang="pt-BR" dirty="0"/>
              <a:t>4.4 CONTROLE DE TRANSAÇÃO</a:t>
            </a:r>
            <a:endParaRPr lang="pt-BR" sz="2133" dirty="0"/>
          </a:p>
        </p:txBody>
      </p:sp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BB403356-5B97-A07A-61AE-73AF0CDE488B}"/>
              </a:ext>
            </a:extLst>
          </p:cNvPr>
          <p:cNvSpPr/>
          <p:nvPr/>
        </p:nvSpPr>
        <p:spPr>
          <a:xfrm>
            <a:off x="7860287" y="497101"/>
            <a:ext cx="3151971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TEMAS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18532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5708FB6B-1D44-EF6E-BB6A-EC17A49B1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 descr="preencoded.png">
            <a:extLst>
              <a:ext uri="{FF2B5EF4-FFF2-40B4-BE49-F238E27FC236}">
                <a16:creationId xmlns:a16="http://schemas.microsoft.com/office/drawing/2014/main" id="{2B28202D-5F5B-3DF5-A57F-B4B6C962B7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BE467D1E-19A1-183E-1E34-49272C8A6412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F836E35C-AA59-A0D4-6E22-F36388D9833A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Plano de Ensino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AF27E11B-82EF-2BB6-61CA-B0D059BDC794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>
            <a:extLst>
              <a:ext uri="{FF2B5EF4-FFF2-40B4-BE49-F238E27FC236}">
                <a16:creationId xmlns:a16="http://schemas.microsoft.com/office/drawing/2014/main" id="{7BD92EA3-3C35-079F-C1F3-B23AFE0D09C6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A57C9531-6688-C833-04BD-72B2420A764E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D3AAF122-1314-6E30-7D2F-0649A0A8EFA7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A3FB92F4-735C-6EBA-7787-0847534773C5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>
            <a:extLst>
              <a:ext uri="{FF2B5EF4-FFF2-40B4-BE49-F238E27FC236}">
                <a16:creationId xmlns:a16="http://schemas.microsoft.com/office/drawing/2014/main" id="{EA45F047-DF44-0F04-1549-D62BA06E8BC8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40BA6536-7738-F28C-4DD7-1C379026A4E6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539ED359-35BE-86A2-BB7D-1D9EE9EFA75F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7E91DF06-25BE-749B-D9F4-59F9FD8AF579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>
            <a:extLst>
              <a:ext uri="{FF2B5EF4-FFF2-40B4-BE49-F238E27FC236}">
                <a16:creationId xmlns:a16="http://schemas.microsoft.com/office/drawing/2014/main" id="{C4FC6A4E-EF72-B4C8-0552-98527F264E3E}"/>
              </a:ext>
            </a:extLst>
          </p:cNvPr>
          <p:cNvSpPr/>
          <p:nvPr/>
        </p:nvSpPr>
        <p:spPr>
          <a:xfrm>
            <a:off x="1443304" y="1149320"/>
            <a:ext cx="9323019" cy="496654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pt-BR" sz="2000" b="1" dirty="0"/>
              <a:t>5. CONSULTAS EM UMA TABELA NO POSTGRESQL</a:t>
            </a:r>
          </a:p>
          <a:p>
            <a:endParaRPr lang="pt-BR" dirty="0"/>
          </a:p>
          <a:p>
            <a:r>
              <a:rPr lang="pt-BR" dirty="0"/>
              <a:t>5.1 COMANDO SELECT </a:t>
            </a:r>
          </a:p>
          <a:p>
            <a:r>
              <a:rPr lang="pt-BR" dirty="0"/>
              <a:t>5.2 CLÁUSULA WHERE </a:t>
            </a:r>
          </a:p>
          <a:p>
            <a:r>
              <a:rPr lang="pt-BR" dirty="0"/>
              <a:t>5.3 AGRUPAMENTO DE DADOS</a:t>
            </a:r>
          </a:p>
          <a:p>
            <a:endParaRPr lang="pt-BR" dirty="0"/>
          </a:p>
          <a:p>
            <a:r>
              <a:rPr lang="pt-BR" sz="2000" b="1" dirty="0"/>
              <a:t>6. CONSULTA COM VÁRIAS TABELAS NO POSTGRESQL (ATIVIDADE PRÁTICA SUPERVISIONADA) </a:t>
            </a:r>
          </a:p>
          <a:p>
            <a:endParaRPr lang="pt-BR" dirty="0"/>
          </a:p>
          <a:p>
            <a:r>
              <a:rPr lang="pt-BR" dirty="0"/>
              <a:t>6.1 JUNÇÕES INTERIOR E EXTERIOR </a:t>
            </a:r>
          </a:p>
          <a:p>
            <a:r>
              <a:rPr lang="pt-BR" dirty="0"/>
              <a:t>6.2 SUBCONSULTAS ANINHADAS E CORRELATAS </a:t>
            </a:r>
          </a:p>
          <a:p>
            <a:r>
              <a:rPr lang="pt-BR" dirty="0"/>
              <a:t>6.3 OPERADORES DE CONJUNTO</a:t>
            </a:r>
            <a:endParaRPr lang="pt-BR" sz="2133" dirty="0"/>
          </a:p>
        </p:txBody>
      </p:sp>
      <p:sp>
        <p:nvSpPr>
          <p:cNvPr id="128" name="Google Shape;128;p5">
            <a:extLst>
              <a:ext uri="{FF2B5EF4-FFF2-40B4-BE49-F238E27FC236}">
                <a16:creationId xmlns:a16="http://schemas.microsoft.com/office/drawing/2014/main" id="{9C63EFF2-2F03-67D9-3C8A-F0DD364AC460}"/>
              </a:ext>
            </a:extLst>
          </p:cNvPr>
          <p:cNvSpPr/>
          <p:nvPr/>
        </p:nvSpPr>
        <p:spPr>
          <a:xfrm>
            <a:off x="7860287" y="497101"/>
            <a:ext cx="3151971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TEMAS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72053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EF13D78-DEF7-1F02-33F5-336F774FB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CAA9E1CB-A8A1-5D55-4264-5EF7343B80D0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9D5116B4-C925-716D-F330-92776239D189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Plano de Ensino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6AAD5864-0039-142A-025E-B16454B8F375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>
            <a:extLst>
              <a:ext uri="{FF2B5EF4-FFF2-40B4-BE49-F238E27FC236}">
                <a16:creationId xmlns:a16="http://schemas.microsoft.com/office/drawing/2014/main" id="{0E8A8C47-173F-9BCE-4D7B-5BDDEBA3A1BA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BE83F214-C352-9107-CB6C-4FBD2A37DEEC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55231F51-BDFE-A4AC-9153-B7F8C02FA6E8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5E4B4D0A-AAE6-EADD-0627-4146BD788EBE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>
            <a:extLst>
              <a:ext uri="{FF2B5EF4-FFF2-40B4-BE49-F238E27FC236}">
                <a16:creationId xmlns:a16="http://schemas.microsoft.com/office/drawing/2014/main" id="{4E660DC9-8E3E-B5AF-3501-FBE6601791FC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EF9EDC91-B12D-852E-8E79-60E638969E62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DBCC32EA-C0B6-C6D8-2F7C-62F6AADCF1E7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0A78D6BE-1325-276B-2834-5DF2566E4D4B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>
            <a:extLst>
              <a:ext uri="{FF2B5EF4-FFF2-40B4-BE49-F238E27FC236}">
                <a16:creationId xmlns:a16="http://schemas.microsoft.com/office/drawing/2014/main" id="{30822706-8A68-1B43-274B-ED81FCCE8067}"/>
              </a:ext>
            </a:extLst>
          </p:cNvPr>
          <p:cNvSpPr/>
          <p:nvPr/>
        </p:nvSpPr>
        <p:spPr>
          <a:xfrm>
            <a:off x="1338417" y="1752602"/>
            <a:ext cx="8849032" cy="426041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pt-BR" sz="2133" dirty="0"/>
              <a:t>Identificar a evolução histórica dos bancos de dados, as características dos </a:t>
            </a:r>
            <a:r>
              <a:rPr lang="pt-BR" sz="2133" dirty="0" err="1"/>
              <a:t>SBDs</a:t>
            </a:r>
            <a:r>
              <a:rPr lang="pt-BR" sz="2133" dirty="0"/>
              <a:t> e a arquitetura dos </a:t>
            </a:r>
            <a:r>
              <a:rPr lang="pt-BR" sz="2133" dirty="0" err="1"/>
              <a:t>SGBDs</a:t>
            </a:r>
            <a:r>
              <a:rPr lang="pt-BR" sz="2133" dirty="0"/>
              <a:t>, com base na abordagem relacional, para compor o alicerce o desenvolvimento de banco de dados.</a:t>
            </a:r>
          </a:p>
          <a:p>
            <a:endParaRPr lang="pt-BR" sz="2133" dirty="0"/>
          </a:p>
          <a:p>
            <a:r>
              <a:rPr lang="pt-BR" sz="2133" dirty="0"/>
              <a:t> Implementar as etapas de um projeto conceitual de banco de dados, com base na abordagem relacional e no diagrama de entidade relacionamento, para organizar a forma de pensamento sobre os</a:t>
            </a:r>
          </a:p>
          <a:p>
            <a:r>
              <a:rPr lang="pt-BR" sz="2133" dirty="0"/>
              <a:t>dados a partir do conhecimento obtido nas especificações do negócio.</a:t>
            </a:r>
          </a:p>
        </p:txBody>
      </p:sp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9CBBA3F6-87C0-BC95-F56E-0A6E9CCF9CFB}"/>
              </a:ext>
            </a:extLst>
          </p:cNvPr>
          <p:cNvSpPr/>
          <p:nvPr/>
        </p:nvSpPr>
        <p:spPr>
          <a:xfrm>
            <a:off x="7988106" y="1148503"/>
            <a:ext cx="3151971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008106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5681F79-E14C-A7CA-8B55-7C7F0C15E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1876D58D-3511-1A60-F20E-EE67B49CEEBB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AA5AA55F-EDF2-A155-5CB2-7F82F7C0FE42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Plano de Ensino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D0647DEA-8D52-0743-87F2-75174F8F85D8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>
            <a:extLst>
              <a:ext uri="{FF2B5EF4-FFF2-40B4-BE49-F238E27FC236}">
                <a16:creationId xmlns:a16="http://schemas.microsoft.com/office/drawing/2014/main" id="{22356133-E698-F607-CC49-AAEDDCA0DBC4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CADAAD3E-1B90-1055-C9C3-E035F7354CB4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4CCDF43D-50E9-9C6B-D029-5BFD25ABE2A5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A0976285-C0B7-BFCC-E994-45D5D9837683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>
            <a:extLst>
              <a:ext uri="{FF2B5EF4-FFF2-40B4-BE49-F238E27FC236}">
                <a16:creationId xmlns:a16="http://schemas.microsoft.com/office/drawing/2014/main" id="{3C16CC91-8A7B-7D86-8892-369C1F03F87C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3559EE3E-DF0E-3168-AE35-5727F31CE137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D5A980F8-F27F-47A0-8FB8-247A587284D1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9C107098-4CEE-C705-C8DB-D22E382F0793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>
            <a:extLst>
              <a:ext uri="{FF2B5EF4-FFF2-40B4-BE49-F238E27FC236}">
                <a16:creationId xmlns:a16="http://schemas.microsoft.com/office/drawing/2014/main" id="{DF7C565B-DC0E-D42F-21A7-8AE1B44E2E0B}"/>
              </a:ext>
            </a:extLst>
          </p:cNvPr>
          <p:cNvSpPr/>
          <p:nvPr/>
        </p:nvSpPr>
        <p:spPr>
          <a:xfrm>
            <a:off x="1524000" y="2007033"/>
            <a:ext cx="8860447" cy="370246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pt-BR" sz="2100" dirty="0"/>
              <a:t>Implementar as etapas de um projeto lógico e físico de banco de dados, com base nas técnicas de normalização, no mapeamento conceitual­ lógico e nos aspectos físicos que influenciam a implementação do modelo no SGBD, para a construção de estruturas de dados adequadas e de armazenamento eficiente de dados.</a:t>
            </a:r>
          </a:p>
          <a:p>
            <a:endParaRPr lang="pt-BR" dirty="0"/>
          </a:p>
          <a:p>
            <a:r>
              <a:rPr lang="pt-BR" sz="2000" dirty="0"/>
              <a:t>Gerenciar objetos no SGBD PostgreSQL, com base na implementação de bancos de dados relacionais, a linguagem SQL e os conceitos de transação, para refletir o projeto criado durante a modelagem e normalização dos dados, bem como manipular dados de forma eficiente</a:t>
            </a:r>
            <a:endParaRPr sz="2000" dirty="0"/>
          </a:p>
        </p:txBody>
      </p:sp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E9947B04-3F8A-D9D3-B183-1E49407CC2D7}"/>
              </a:ext>
            </a:extLst>
          </p:cNvPr>
          <p:cNvSpPr/>
          <p:nvPr/>
        </p:nvSpPr>
        <p:spPr>
          <a:xfrm>
            <a:off x="7988106" y="1148503"/>
            <a:ext cx="3151971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772175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04EBF086-8EAC-89D0-3A25-105AB05B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9483509E-9C5A-A625-7B1E-7DECB97837AB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619575C9-EEB0-5C52-3F4B-32E51F6A77B2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Plano de Ensino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>
            <a:extLst>
              <a:ext uri="{FF2B5EF4-FFF2-40B4-BE49-F238E27FC236}">
                <a16:creationId xmlns:a16="http://schemas.microsoft.com/office/drawing/2014/main" id="{C85CD63D-0243-C8C6-6F2A-C050DCF0760B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>
            <a:extLst>
              <a:ext uri="{FF2B5EF4-FFF2-40B4-BE49-F238E27FC236}">
                <a16:creationId xmlns:a16="http://schemas.microsoft.com/office/drawing/2014/main" id="{AE0572AD-2814-2801-F378-4D434B3C1019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>
            <a:extLst>
              <a:ext uri="{FF2B5EF4-FFF2-40B4-BE49-F238E27FC236}">
                <a16:creationId xmlns:a16="http://schemas.microsoft.com/office/drawing/2014/main" id="{2F287360-865F-82F0-E219-47773346F71A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>
            <a:extLst>
              <a:ext uri="{FF2B5EF4-FFF2-40B4-BE49-F238E27FC236}">
                <a16:creationId xmlns:a16="http://schemas.microsoft.com/office/drawing/2014/main" id="{A5A4837C-86B7-C40E-20A4-F513C5D8DF99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89C22791-75C3-735A-2203-714E708197DF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>
            <a:extLst>
              <a:ext uri="{FF2B5EF4-FFF2-40B4-BE49-F238E27FC236}">
                <a16:creationId xmlns:a16="http://schemas.microsoft.com/office/drawing/2014/main" id="{B7FAEEE7-3456-E453-2792-D5EC75F36741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>
            <a:extLst>
              <a:ext uri="{FF2B5EF4-FFF2-40B4-BE49-F238E27FC236}">
                <a16:creationId xmlns:a16="http://schemas.microsoft.com/office/drawing/2014/main" id="{682434DC-7447-77F4-23CE-06B3CEFE9062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>
            <a:extLst>
              <a:ext uri="{FF2B5EF4-FFF2-40B4-BE49-F238E27FC236}">
                <a16:creationId xmlns:a16="http://schemas.microsoft.com/office/drawing/2014/main" id="{A15C2B63-C75A-A925-C246-7841EB2ADBF6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>
            <a:extLst>
              <a:ext uri="{FF2B5EF4-FFF2-40B4-BE49-F238E27FC236}">
                <a16:creationId xmlns:a16="http://schemas.microsoft.com/office/drawing/2014/main" id="{33B6AA53-FBCF-4927-BAE1-0CA85D806C9D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>
            <a:extLst>
              <a:ext uri="{FF2B5EF4-FFF2-40B4-BE49-F238E27FC236}">
                <a16:creationId xmlns:a16="http://schemas.microsoft.com/office/drawing/2014/main" id="{EDCCF05E-E2A7-DB6F-261F-9A36D2617A2D}"/>
              </a:ext>
            </a:extLst>
          </p:cNvPr>
          <p:cNvSpPr/>
          <p:nvPr/>
        </p:nvSpPr>
        <p:spPr>
          <a:xfrm>
            <a:off x="1524000" y="2007032"/>
            <a:ext cx="8860447" cy="414796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pt-BR" sz="2100" dirty="0"/>
              <a:t>­ Realizar consultas em uma tabela, com base em expressões SELECT, em condições utilizando a cláusula WHERE e com agrupamento de dados utilizando o SGBD PostgreSQL, para especificar quais colunas de uma tabela devem ser retornadas no conjunto de resultados e filtrar registros que atendem a uma condição especificada.</a:t>
            </a:r>
          </a:p>
          <a:p>
            <a:r>
              <a:rPr lang="pt-BR" sz="2100" dirty="0"/>
              <a:t>­</a:t>
            </a:r>
          </a:p>
          <a:p>
            <a:r>
              <a:rPr lang="pt-BR" sz="2100" dirty="0"/>
              <a:t>Realizar consultas com várias tabelas, com base em junções interior e exterior, em consultas correlatas e aninhadas e com operadores de conjunto utilizando o SGBD PostgreSQL, para a construção de consultas que combinem registros de duas ou mais tabelas, restringindo ou retornando os dados a serem recuperados.</a:t>
            </a:r>
          </a:p>
        </p:txBody>
      </p:sp>
      <p:sp>
        <p:nvSpPr>
          <p:cNvPr id="130" name="Google Shape;130;p5">
            <a:extLst>
              <a:ext uri="{FF2B5EF4-FFF2-40B4-BE49-F238E27FC236}">
                <a16:creationId xmlns:a16="http://schemas.microsoft.com/office/drawing/2014/main" id="{9BCDF7E4-2D1B-3893-468D-B491C00D3B45}"/>
              </a:ext>
            </a:extLst>
          </p:cNvPr>
          <p:cNvSpPr/>
          <p:nvPr/>
        </p:nvSpPr>
        <p:spPr>
          <a:xfrm>
            <a:off x="7988106" y="1148503"/>
            <a:ext cx="3151971" cy="930835"/>
          </a:xfrm>
          <a:prstGeom prst="roundRect">
            <a:avLst>
              <a:gd name="adj" fmla="val 50000"/>
            </a:avLst>
          </a:prstGeom>
          <a:solidFill>
            <a:srgbClr val="00C5FF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pt-BR" sz="2000" b="1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559388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Bibliografia Básica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96013" y="1466986"/>
            <a:ext cx="7523987" cy="466812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rgbClr val="144BC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pt-BR" dirty="0"/>
              <a:t>ELMASRI, R.; NAVATHE, S. Sistemas de banco de dados. 7. São Paulo: Pearson, 2018. Disponível em: </a:t>
            </a:r>
            <a:r>
              <a:rPr lang="pt-BR" dirty="0">
                <a:hlinkClick r:id="rId4"/>
              </a:rPr>
              <a:t>https://plataforma.bvirtual.com.br/Acervo/Publicacao/168492</a:t>
            </a:r>
            <a:endParaRPr lang="pt-BR" dirty="0"/>
          </a:p>
          <a:p>
            <a:endParaRPr lang="pt-BR" dirty="0"/>
          </a:p>
          <a:p>
            <a:r>
              <a:rPr lang="pt-BR" dirty="0"/>
              <a:t>HEUSER, C. Projeto de banco de dados. 6. Porto Alegre: Artmed, 2009. Disponível em: </a:t>
            </a:r>
            <a:r>
              <a:rPr lang="pt-BR" dirty="0">
                <a:hlinkClick r:id="rId5"/>
              </a:rPr>
              <a:t>https://integrada.minhabiblioteca.com.br/#/books/9788577804528/</a:t>
            </a:r>
            <a:endParaRPr lang="pt-BR" dirty="0"/>
          </a:p>
          <a:p>
            <a:endParaRPr lang="pt-BR" dirty="0"/>
          </a:p>
          <a:p>
            <a:r>
              <a:rPr lang="pt-BR" dirty="0"/>
              <a:t>PUGA, Sandra; FRANÇA, Edson; GOYA, Milton. Banco de dados: implementação em SQL, PL/SQL e Oracle 11g. 1. São Paulo: Pearson, 2013. Disponível em: </a:t>
            </a:r>
            <a:r>
              <a:rPr lang="pt-BR" dirty="0">
                <a:hlinkClick r:id="rId6"/>
              </a:rPr>
              <a:t>https://plataforma.bvirtual.com.br/Acervo/Publicacao/3842/</a:t>
            </a:r>
            <a:endParaRPr lang="pt-BR" dirty="0"/>
          </a:p>
          <a:p>
            <a:endParaRPr lang="pt-BR" dirty="0"/>
          </a:p>
        </p:txBody>
      </p:sp>
      <p:pic>
        <p:nvPicPr>
          <p:cNvPr id="3" name="Imagem 2" descr="Sistemas de Bancos de Dados eBook : Elmasri, Ramez: Amazon.com.br: Livros">
            <a:extLst>
              <a:ext uri="{FF2B5EF4-FFF2-40B4-BE49-F238E27FC236}">
                <a16:creationId xmlns:a16="http://schemas.microsoft.com/office/drawing/2014/main" id="{200300EF-0ACB-4CEB-7C4A-A1EA2F669D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5070" y="775916"/>
            <a:ext cx="2023883" cy="2720273"/>
          </a:xfrm>
          <a:prstGeom prst="rect">
            <a:avLst/>
          </a:prstGeom>
        </p:spPr>
      </p:pic>
      <p:pic>
        <p:nvPicPr>
          <p:cNvPr id="4" name="Imagem 3" descr="Projeto de Banco de Dados eBook : Heuser, Carlos Alberto: Amazon.com.br:  Loja Kindle">
            <a:extLst>
              <a:ext uri="{FF2B5EF4-FFF2-40B4-BE49-F238E27FC236}">
                <a16:creationId xmlns:a16="http://schemas.microsoft.com/office/drawing/2014/main" id="{17805971-74D6-02AF-1A51-74233FE86C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00" y="2306893"/>
            <a:ext cx="1971900" cy="2930014"/>
          </a:xfrm>
          <a:prstGeom prst="rect">
            <a:avLst/>
          </a:prstGeom>
        </p:spPr>
      </p:pic>
      <p:pic>
        <p:nvPicPr>
          <p:cNvPr id="7" name="Imagem 6" descr="Banco de dados eBook : Puga, Sandra, França, Edson, Goya, Milton:  Amazon.com.br: Loja Kindle">
            <a:extLst>
              <a:ext uri="{FF2B5EF4-FFF2-40B4-BE49-F238E27FC236}">
                <a16:creationId xmlns:a16="http://schemas.microsoft.com/office/drawing/2014/main" id="{6E0F4574-B637-C733-04DF-D2CBFDECCA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88887" y="3576075"/>
            <a:ext cx="2068590" cy="29300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228137" y="612396"/>
            <a:ext cx="11296649" cy="6700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18001A6-DDB4-A4BF-DE79-0BD1E81E1FAE}"/>
              </a:ext>
            </a:extLst>
          </p:cNvPr>
          <p:cNvSpPr txBox="1"/>
          <p:nvPr/>
        </p:nvSpPr>
        <p:spPr>
          <a:xfrm>
            <a:off x="648929" y="1877961"/>
            <a:ext cx="10080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Você certamente já leu sobre o termo banco de dados em algum contexto técnico ou geral, na mídia</a:t>
            </a:r>
          </a:p>
          <a:p>
            <a:r>
              <a:rPr lang="pt-BR" dirty="0"/>
              <a:t>tradicional ou na internet. Mas o que é um banco de dados?</a:t>
            </a:r>
          </a:p>
        </p:txBody>
      </p:sp>
      <p:pic>
        <p:nvPicPr>
          <p:cNvPr id="9" name="Imagem 8" descr="BANCOS DE DADOS | Danilo Pinheiro | SQL | Oracle DB | MySQL | DIO">
            <a:extLst>
              <a:ext uri="{FF2B5EF4-FFF2-40B4-BE49-F238E27FC236}">
                <a16:creationId xmlns:a16="http://schemas.microsoft.com/office/drawing/2014/main" id="{DD972FB4-3C04-1C50-F39F-A95ACB6B2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444" y="2568025"/>
            <a:ext cx="4070556" cy="4070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0F63D23F-7998-C1B7-2D63-D37CB957B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921EBFE4-40AE-A896-CC20-E969F6453F78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BCFE3BC6-883D-0F3E-4B71-F1118F744F3F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7CCCC480-F1CC-7134-BD67-2729F6049B0B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072B85E5-D79F-DD96-B6A9-AD893315955D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D717E9B4-044F-35A9-573A-71C2408E0D7B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BFB53936-1639-B696-831A-4CD76B60EFA5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C49EFE20-3A83-702A-1E0D-4F79B675080D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BCDE5FAF-6C00-3392-218F-625E15161FF1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6A14FE3E-0118-3915-B7F3-CAA1EB24469F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83EDF0A6-7860-1BA0-0BB0-E0B148DDCE27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78ACDF2B-69B7-F1CB-CD23-DB1E463CA8BA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572B65A8-E91A-1745-D59C-86CDAC8F8647}"/>
              </a:ext>
            </a:extLst>
          </p:cNvPr>
          <p:cNvSpPr txBox="1"/>
          <p:nvPr/>
        </p:nvSpPr>
        <p:spPr>
          <a:xfrm>
            <a:off x="228137" y="612396"/>
            <a:ext cx="11296649" cy="6700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49D04D-39DC-6133-304D-DB56FB6E6C98}"/>
              </a:ext>
            </a:extLst>
          </p:cNvPr>
          <p:cNvSpPr txBox="1"/>
          <p:nvPr/>
        </p:nvSpPr>
        <p:spPr>
          <a:xfrm>
            <a:off x="648929" y="1877961"/>
            <a:ext cx="100804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Você certamente já leu sobre o termo banco de dados em algum contexto técnico ou geral, na mídia</a:t>
            </a:r>
          </a:p>
          <a:p>
            <a:r>
              <a:rPr lang="pt-BR" dirty="0"/>
              <a:t>tradicional ou na internet. Mas o que é um banco de dados?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E9C5541-A6A6-703D-038F-17407827932A}"/>
              </a:ext>
            </a:extLst>
          </p:cNvPr>
          <p:cNvSpPr txBox="1"/>
          <p:nvPr/>
        </p:nvSpPr>
        <p:spPr>
          <a:xfrm>
            <a:off x="714526" y="2856381"/>
            <a:ext cx="103238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 termo banco de dados, no sentido técnico, origina-se do inglês </a:t>
            </a:r>
            <a:r>
              <a:rPr lang="pt-BR" dirty="0" err="1"/>
              <a:t>database</a:t>
            </a:r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/>
              <a:t>Definição: “banco de dados é uma coleção de dados relacionados” (ELMASRI; NAVATHE, 2019), em que dados são fatos conhecidos que podem ser registrados e possuem significado implícito.</a:t>
            </a:r>
          </a:p>
        </p:txBody>
      </p:sp>
    </p:spTree>
    <p:extLst>
      <p:ext uri="{BB962C8B-B14F-4D97-AF65-F5344CB8AC3E}">
        <p14:creationId xmlns:p14="http://schemas.microsoft.com/office/powerpoint/2010/main" val="654122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FD777D3-D2C0-D3D9-58FF-E043E9DA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E7AA6E65-ADE6-13C3-E889-8E770DFB151C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66F1BAD3-7AB1-31C1-0EC0-2138E33A0149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237664A4-EBB1-E2E0-5FE6-0FBAE80E7F85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5F2730D6-1B68-0333-9143-D53C3E5E3DD9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82BCDEF2-B0A8-A1B9-4541-39E18A921887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90CCDE00-8282-44F2-9692-56CD41C438E4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8A255D34-0081-BC2F-0CC3-374243FDDBEB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31D324CD-F608-1C4A-55E7-50D2F3C1806C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49BBE850-130A-F89C-920B-0A00792E7E25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81DD3EBE-9BF1-ED91-B486-DE1B0408DA2E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7BD8ED9C-5ECF-E325-19AC-07A983A15CF0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9BE1FDEA-1A43-1475-0C84-0581E3E31598}"/>
              </a:ext>
            </a:extLst>
          </p:cNvPr>
          <p:cNvSpPr txBox="1"/>
          <p:nvPr/>
        </p:nvSpPr>
        <p:spPr>
          <a:xfrm>
            <a:off x="228137" y="612396"/>
            <a:ext cx="11296649" cy="6700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07474A-A888-13C3-34F1-7698F480AA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07" b="1152"/>
          <a:stretch>
            <a:fillRect/>
          </a:stretch>
        </p:blipFill>
        <p:spPr>
          <a:xfrm>
            <a:off x="2007468" y="1374396"/>
            <a:ext cx="7816644" cy="5331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036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972869B0-5699-4D52-BC0B-D79B458DE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3DFCB763-780C-AA05-864B-7CAF6078EBCC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00FE6D57-243B-18DF-5354-0D499C2C2483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C1DF61E3-1174-0946-F96D-3060A7990740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A40A5EFB-6E44-B284-8D93-C3F72811AA20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D01D7EC6-7817-7E6E-033F-7E5BAD03C0B9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BF600595-E815-8325-45E6-0788DA3B3509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B37DA54F-0B4F-25B4-C85F-DA9E6D55C963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1F105904-25F4-E87B-9A41-C6E7FF527BEB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52EFB595-6CAC-30C8-0B20-5B4AB77AFD20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739033B4-AC5B-A5AB-2FAA-8954E83C0001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8F4BDF3A-869F-30A1-133E-0B2206BBAA3E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21E27EE5-CD41-0DDB-BFD7-0F1ACF2D6823}"/>
              </a:ext>
            </a:extLst>
          </p:cNvPr>
          <p:cNvSpPr txBox="1"/>
          <p:nvPr/>
        </p:nvSpPr>
        <p:spPr>
          <a:xfrm>
            <a:off x="228137" y="612396"/>
            <a:ext cx="11296649" cy="67007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</a:t>
            </a:r>
            <a:endParaRPr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66E5412-63D7-CF3D-0A1C-1BD5CD1BBA30}"/>
              </a:ext>
            </a:extLst>
          </p:cNvPr>
          <p:cNvSpPr txBox="1"/>
          <p:nvPr/>
        </p:nvSpPr>
        <p:spPr>
          <a:xfrm>
            <a:off x="503510" y="1600783"/>
            <a:ext cx="10901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Na década de 1940, os primeiros computadores foram desenvolvidos principalmente para executar cálculos matemáticos complexos. Antes disso, Charles Babbage já havia proposto, no século XIX, máquinas automáticas de cálculo, como a Máquina Diferencial, tornando-se uma referência histórica para a computação.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E627944-D3F1-3F89-5C7A-416066A6F855}"/>
              </a:ext>
            </a:extLst>
          </p:cNvPr>
          <p:cNvSpPr txBox="1"/>
          <p:nvPr/>
        </p:nvSpPr>
        <p:spPr>
          <a:xfrm>
            <a:off x="425506" y="3059038"/>
            <a:ext cx="10901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 a arquitetura de John von Neumann, o computador passou a armazenar programas e dados em sua memória, permitindo que fosse utilizado não apenas para cálculos, mas também para o processamento de informações. Esse modelo é a base conceitual de grande parte dos computadores atuais.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EE9E2F-4FB8-1E46-F569-A6F3A62D9514}"/>
              </a:ext>
            </a:extLst>
          </p:cNvPr>
          <p:cNvSpPr txBox="1"/>
          <p:nvPr/>
        </p:nvSpPr>
        <p:spPr>
          <a:xfrm>
            <a:off x="1219200" y="5692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1D65C2-AFEA-242D-3D6B-134AA7FA4ACF}"/>
              </a:ext>
            </a:extLst>
          </p:cNvPr>
          <p:cNvSpPr txBox="1"/>
          <p:nvPr/>
        </p:nvSpPr>
        <p:spPr>
          <a:xfrm>
            <a:off x="503511" y="4400215"/>
            <a:ext cx="77499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Em 1957, a IBM introduziu o disco magnético, um dispositivo de armazenamento de acesso direto — posteriormente popularizado como disco rígido ou HD. Ele permitia acessar dados sem a leitura sequencial exigida pelas fitas magnéticas, ampliando significativamente a capacidade de armazenamento e uso dos computadores.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C306D19-CD4D-DAE5-558D-9B4F6F8AF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6597" y="4386606"/>
            <a:ext cx="2678806" cy="150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476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F540994E-4528-B9FA-C23C-6827EAA08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CE36AF2A-D405-06B9-46DC-6C840D06B9C2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C3E4A89D-D34D-0B78-AF81-A6B2226DFD1A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AC889DD1-715D-CD37-8635-4CFA03CCFD51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DE65F65F-2999-9F00-91D0-14F1E0A0127A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01D461FD-FD7E-8025-A371-124AAFD09D42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4DF551C6-273A-D0EE-D08E-EADBAA98F9F8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B4A10C7D-8651-FEEE-D0C1-A84FC079AE4B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A123F097-2ED0-2BFF-8E5C-212FE4941CA9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C0453E4D-1D00-4DEC-D0DF-896BFACBE93C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B592508F-21A9-001E-1794-09A9494889E1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9943BE8A-2586-4D83-ADCC-7A34DBE1BB5B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52DBAC3F-DF4D-A37E-C5F0-EB58B5E12B59}"/>
              </a:ext>
            </a:extLst>
          </p:cNvPr>
          <p:cNvSpPr txBox="1"/>
          <p:nvPr/>
        </p:nvSpPr>
        <p:spPr>
          <a:xfrm>
            <a:off x="228137" y="612396"/>
            <a:ext cx="11296649" cy="12898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Era do processamento de dados por computador</a:t>
            </a:r>
            <a:endParaRPr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D46B03E-B11B-AA58-0380-3627C4F13A8E}"/>
              </a:ext>
            </a:extLst>
          </p:cNvPr>
          <p:cNvSpPr txBox="1"/>
          <p:nvPr/>
        </p:nvSpPr>
        <p:spPr>
          <a:xfrm>
            <a:off x="228137" y="2378513"/>
            <a:ext cx="10901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Com o uso dos discos magnéticos, os dados passaram a ser armazenados externamente aos programas, dando início à era do processamento eletrônico de dados. Nesse contexto, surgiram os Centros de Processamento de Dados (CPDs), responsáveis por concentrar equipamentos, sistemas e equipes que realizavam o processamento das informações de uma organização.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84FB6B-5F09-B782-BA47-40A18808F7F8}"/>
              </a:ext>
            </a:extLst>
          </p:cNvPr>
          <p:cNvSpPr txBox="1"/>
          <p:nvPr/>
        </p:nvSpPr>
        <p:spPr>
          <a:xfrm>
            <a:off x="1219200" y="5692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AAE691-D414-A263-4D48-F8F1DF73816A}"/>
              </a:ext>
            </a:extLst>
          </p:cNvPr>
          <p:cNvSpPr txBox="1"/>
          <p:nvPr/>
        </p:nvSpPr>
        <p:spPr>
          <a:xfrm>
            <a:off x="228137" y="3888976"/>
            <a:ext cx="10901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Os programas, frequentemente escritos em COBOL para aplicações empresariais ou Fortran para aplicações científicas, acessavam arquivos gravados em disco por meio do sistema operacional. Essa organização formava os chamados sistemas de arquivos e representava um avanço importante: os dados deixavam de ficar incorporados ao próprio programa e podiam ser reutilizados e atualizados separadamente.</a:t>
            </a:r>
          </a:p>
        </p:txBody>
      </p:sp>
    </p:spTree>
    <p:extLst>
      <p:ext uri="{BB962C8B-B14F-4D97-AF65-F5344CB8AC3E}">
        <p14:creationId xmlns:p14="http://schemas.microsoft.com/office/powerpoint/2010/main" val="268831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6B3977DA-4529-CC9B-7C1B-0B3BA86E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0C757AD4-0C85-AA96-E194-84288A8FADE0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998DEEDF-F692-4BA7-D9AD-6E69B5BD0682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ADB49060-A2B6-3209-535A-0F3E10CD6A49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27C65770-A517-A7F2-8990-AC579EC96192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BFF47EA5-0426-3D7A-30AD-8900225809AA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90985D82-8C95-0D66-04E1-02090E2173BD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84CBD443-84CC-25A3-EDE6-3DD8680294DE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3F5CE8B5-8A26-626D-A02A-AC398839767A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FF6AEAEB-086A-7E9D-2C9B-C450D30F594B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E042D472-1177-F265-26B0-9431B808A5F2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F65894A5-A73D-1C1B-66BB-6ABFE0A1DF54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92479B39-DF5A-EB44-5E15-CDD31040B950}"/>
              </a:ext>
            </a:extLst>
          </p:cNvPr>
          <p:cNvSpPr txBox="1"/>
          <p:nvPr/>
        </p:nvSpPr>
        <p:spPr>
          <a:xfrm>
            <a:off x="228137" y="612396"/>
            <a:ext cx="11296649" cy="128986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Era do processamento de dados por computador</a:t>
            </a:r>
            <a:endParaRPr sz="24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DC813C-3042-DF21-4401-97FC66EAFC09}"/>
              </a:ext>
            </a:extLst>
          </p:cNvPr>
          <p:cNvSpPr txBox="1"/>
          <p:nvPr/>
        </p:nvSpPr>
        <p:spPr>
          <a:xfrm>
            <a:off x="228135" y="2052993"/>
            <a:ext cx="10901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Um banco de dados é uma coleção organizada de dados relacionados, sendo um elemento central dos sistemas de informação. Embora o conceito exista há muito tempo, a tecnologia usada para implementá-lo evoluiu rapidamente ao longo da história.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BD81A65-F6E3-2F4C-006C-3E61CD00045C}"/>
              </a:ext>
            </a:extLst>
          </p:cNvPr>
          <p:cNvSpPr txBox="1"/>
          <p:nvPr/>
        </p:nvSpPr>
        <p:spPr>
          <a:xfrm>
            <a:off x="1219200" y="5692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6155932-5D0F-440A-466D-27B17BE13563}"/>
              </a:ext>
            </a:extLst>
          </p:cNvPr>
          <p:cNvSpPr txBox="1"/>
          <p:nvPr/>
        </p:nvSpPr>
        <p:spPr>
          <a:xfrm>
            <a:off x="228134" y="3027834"/>
            <a:ext cx="109019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Antes dos computadores, os dados eram registrados em papel, organizados em pastas e armazenados em armários. Esses arquivos eram consultados e atualizados manualmente pelos usuários, desempenhando a mesma função básica dos bancos de dados atuais. Será que ainda existem sistemas de informação desse tipo em pleno século XXI?</a:t>
            </a:r>
          </a:p>
        </p:txBody>
      </p:sp>
      <p:pic>
        <p:nvPicPr>
          <p:cNvPr id="2" name="Imagem 1" descr="Bloco de Registro de Vendas Controle de Vendas a Prazo, Parceladas, Fiado (100 folhas)">
            <a:extLst>
              <a:ext uri="{FF2B5EF4-FFF2-40B4-BE49-F238E27FC236}">
                <a16:creationId xmlns:a16="http://schemas.microsoft.com/office/drawing/2014/main" id="{84C9F454-2E20-7D64-553E-0B47C69681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77" t="12129" r="1398" b="14381"/>
          <a:stretch>
            <a:fillRect/>
          </a:stretch>
        </p:blipFill>
        <p:spPr>
          <a:xfrm>
            <a:off x="862223" y="4228163"/>
            <a:ext cx="2847554" cy="2183837"/>
          </a:xfrm>
          <a:prstGeom prst="rect">
            <a:avLst/>
          </a:prstGeom>
        </p:spPr>
      </p:pic>
      <p:pic>
        <p:nvPicPr>
          <p:cNvPr id="7" name="Imagem 6" descr="Base de Dados no Excel: Como Criar e Organizar (Passo a Passo)">
            <a:extLst>
              <a:ext uri="{FF2B5EF4-FFF2-40B4-BE49-F238E27FC236}">
                <a16:creationId xmlns:a16="http://schemas.microsoft.com/office/drawing/2014/main" id="{594D453E-C483-576E-AAF3-8D1AAF4EB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850" y="4241843"/>
            <a:ext cx="2875300" cy="2156475"/>
          </a:xfrm>
          <a:prstGeom prst="rect">
            <a:avLst/>
          </a:prstGeom>
        </p:spPr>
      </p:pic>
      <p:pic>
        <p:nvPicPr>
          <p:cNvPr id="8" name="Imagem 7" descr="Banco de dados relacional: o que é, e entenda a estrutura! – Insights para  te ajudar na carreira em tecnologia | Blog da Trybe">
            <a:extLst>
              <a:ext uri="{FF2B5EF4-FFF2-40B4-BE49-F238E27FC236}">
                <a16:creationId xmlns:a16="http://schemas.microsoft.com/office/drawing/2014/main" id="{36ED9676-195A-EEB4-F431-F940E5BAB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4316191"/>
            <a:ext cx="3213956" cy="2007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9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45E3C826-057B-2FA0-F48A-C234D4171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D634D3E4-F0DB-753E-242B-81784B514945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2E2F7D66-DA0B-1786-30F5-ED3F0416F7BF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28D057AC-C1DA-50C7-6952-020D967448C3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96D0D3AE-AB77-F30E-B731-4F5A79BD3A0D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65A3A0EF-498A-73C1-7A23-06BB58D3AF32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1A3A6687-EB26-EDCB-FCCA-1CD9404C35AE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7442DE08-D5F7-52D2-0DC9-4609759897BE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B1CC4785-0F84-3158-D76C-81B607C65F85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F59D3BD6-AA81-CF32-DFD5-426F6A378F88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4CE333AC-87C0-5C98-7719-9D2D7BF25E8D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41C1E5CC-A4B5-5D94-8958-779DB0C1BD95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87CA532A-4750-BB75-0178-EF9105F53E29}"/>
              </a:ext>
            </a:extLst>
          </p:cNvPr>
          <p:cNvSpPr txBox="1"/>
          <p:nvPr/>
        </p:nvSpPr>
        <p:spPr>
          <a:xfrm>
            <a:off x="228134" y="789399"/>
            <a:ext cx="11296649" cy="83294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488BE31-4618-CF5B-201A-02B594429349}"/>
              </a:ext>
            </a:extLst>
          </p:cNvPr>
          <p:cNvSpPr txBox="1"/>
          <p:nvPr/>
        </p:nvSpPr>
        <p:spPr>
          <a:xfrm>
            <a:off x="1219200" y="5692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5807855-12DE-C7F8-8667-A6272A7A0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97" y="2044358"/>
            <a:ext cx="10717121" cy="143847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1A25A88-57F5-00A3-42E1-212623D02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981" y="3500040"/>
            <a:ext cx="10326541" cy="619211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977558C-5B04-1A0C-67E2-F16351A26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81" y="4171999"/>
            <a:ext cx="6192114" cy="666843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CF5E26AC-1ECC-5A44-0050-E22F6FDFBF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981" y="4910082"/>
            <a:ext cx="3953427" cy="600159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3A8EA2F3-2FFC-A488-771D-8920ED5C85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646" y="5491190"/>
            <a:ext cx="9088118" cy="619211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52FA11A5-4974-31DE-2C6E-DD40D9FE6E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646" y="6091349"/>
            <a:ext cx="5010849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66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3B45DA5B-40DB-C938-0F48-95B72024C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CCFE5348-EA6D-DB1A-1023-F739E9892857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B9AA6895-2903-5150-C55E-C6E04627CE3A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7E4677F8-7EE7-0BDC-800B-BD37D651EB01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92077CBF-2348-46C9-3B34-781513E4804B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09865E6B-A806-2407-FDBD-D9EFE1F3D731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4D08CCC2-5015-8278-C805-4366B198141A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AAC66A44-C9BA-C108-A035-DBCF4BCFA9DF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AD118AEA-5AA2-D1E0-2FFF-5CCABD45452A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A45B78A7-C133-9D6B-8E6D-D9707698F8C6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962489FF-9EED-A55C-5AE0-37DD7578C6CA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6E556A29-C158-2AE5-33B2-2E236F71BE03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F3EE0112-25DD-92AB-EDDA-1678E1B7A06D}"/>
              </a:ext>
            </a:extLst>
          </p:cNvPr>
          <p:cNvSpPr txBox="1"/>
          <p:nvPr/>
        </p:nvSpPr>
        <p:spPr>
          <a:xfrm>
            <a:off x="228134" y="789399"/>
            <a:ext cx="11296649" cy="83294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 relacional de banco de dados</a:t>
            </a:r>
            <a:endParaRPr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04DA2E6-2DBD-983C-B57D-53E27B3E2B51}"/>
              </a:ext>
            </a:extLst>
          </p:cNvPr>
          <p:cNvSpPr txBox="1"/>
          <p:nvPr/>
        </p:nvSpPr>
        <p:spPr>
          <a:xfrm>
            <a:off x="1219200" y="5692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FEF6649-BD71-D46D-6182-58D740B6BF82}"/>
              </a:ext>
            </a:extLst>
          </p:cNvPr>
          <p:cNvSpPr txBox="1"/>
          <p:nvPr/>
        </p:nvSpPr>
        <p:spPr>
          <a:xfrm>
            <a:off x="445992" y="1887653"/>
            <a:ext cx="11043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grande transformação dos bancos de dados ocorreu entre o fim da década de 1960 e o início da década de 1970. Nesse período, Edgar F. </a:t>
            </a:r>
            <a:r>
              <a:rPr lang="pt-BR" dirty="0" err="1"/>
              <a:t>Codd</a:t>
            </a:r>
            <a:r>
              <a:rPr lang="pt-BR" dirty="0"/>
              <a:t>, pesquisador da IBM, publicou o artigo </a:t>
            </a:r>
            <a:r>
              <a:rPr lang="pt-BR" i="1" dirty="0"/>
              <a:t>A </a:t>
            </a:r>
            <a:r>
              <a:rPr lang="pt-BR" i="1" dirty="0" err="1"/>
              <a:t>Relational</a:t>
            </a:r>
            <a:r>
              <a:rPr lang="pt-BR" i="1" dirty="0"/>
              <a:t> Model </a:t>
            </a:r>
            <a:r>
              <a:rPr lang="pt-BR" i="1" dirty="0" err="1"/>
              <a:t>of</a:t>
            </a:r>
            <a:r>
              <a:rPr lang="pt-BR" i="1" dirty="0"/>
              <a:t> Data for Large </a:t>
            </a:r>
            <a:r>
              <a:rPr lang="pt-BR" i="1" dirty="0" err="1"/>
              <a:t>Shared</a:t>
            </a:r>
            <a:r>
              <a:rPr lang="pt-BR" i="1" dirty="0"/>
              <a:t> Data Banks</a:t>
            </a:r>
            <a:r>
              <a:rPr lang="pt-BR" dirty="0"/>
              <a:t>, apresentando o modelo relacional de banco de dados.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69A13E7-7A5A-F44A-CDE6-5228DB2D6439}"/>
              </a:ext>
            </a:extLst>
          </p:cNvPr>
          <p:cNvSpPr txBox="1"/>
          <p:nvPr/>
        </p:nvSpPr>
        <p:spPr>
          <a:xfrm>
            <a:off x="445992" y="2784139"/>
            <a:ext cx="10953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modelo proposto por </a:t>
            </a:r>
            <a:r>
              <a:rPr lang="pt-BR" dirty="0" err="1"/>
              <a:t>Codd</a:t>
            </a:r>
            <a:r>
              <a:rPr lang="pt-BR" dirty="0"/>
              <a:t> possui uma base matemática, formada pela álgebra e pelo cálculo relacional. Entretanto, sua representação é simples: os dados são organizados em relações, que podem ser entendidas como tabelas compostas por colunas e linhas, com valores armazenados em suas células.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EBBD006-D8AA-911D-4222-4F3C363DCEA8}"/>
              </a:ext>
            </a:extLst>
          </p:cNvPr>
          <p:cNvSpPr txBox="1"/>
          <p:nvPr/>
        </p:nvSpPr>
        <p:spPr>
          <a:xfrm>
            <a:off x="466602" y="3734753"/>
            <a:ext cx="10819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consistência teórica do modelo relacional impulsionou projetos acadêmicos e empresariais. A IBM desenvolveu o System R, enquanto a Universidade da Califórnia em Berkeley iniciou o Ingres, um dos primeiros sistemas de gerenciamento de banco de dados relacionais.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E00871A-9995-1E19-72B8-5743BDA56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4695199"/>
            <a:ext cx="6355097" cy="165184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C1237E53-3F70-C8C1-E478-0E71AA26A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31" y="4658083"/>
            <a:ext cx="1340937" cy="189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91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C4E9817-8191-92E1-CF31-F34A7DD7A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5C0C1F19-18FF-31A5-ADB6-0F07CFA4D19C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75AA06DE-B9FD-A1B8-8B38-1307C69F2751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DD715CF5-546E-9F7D-60A9-5892B2FB1FE1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EEB829E3-2527-4F58-F0BE-A1C30AA76DD1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9F8FD28F-3724-0ED3-F52F-A7527A7F0426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299EE92E-3CFE-59CC-B10C-3071A2A83A4B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B4484432-F081-B200-B942-A0C0C1717D97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D6787AB2-FA7C-1847-004B-0B9005C91374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4C2F758A-BCD4-6C45-841C-9D1DFE786871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02E9BF77-653C-1968-A4CC-59D6D5150B0D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78507770-5CD4-5996-1B67-F6D50C40E96E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E22DF13C-F14F-AF5A-22A0-4C042B267711}"/>
              </a:ext>
            </a:extLst>
          </p:cNvPr>
          <p:cNvSpPr txBox="1"/>
          <p:nvPr/>
        </p:nvSpPr>
        <p:spPr>
          <a:xfrm>
            <a:off x="228134" y="789399"/>
            <a:ext cx="11296649" cy="83294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Principais SGBD relacionais</a:t>
            </a:r>
            <a:endParaRPr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51A6D0B-E9E5-0F4C-3D78-79EEFBEC2DC4}"/>
              </a:ext>
            </a:extLst>
          </p:cNvPr>
          <p:cNvSpPr txBox="1"/>
          <p:nvPr/>
        </p:nvSpPr>
        <p:spPr>
          <a:xfrm>
            <a:off x="1219200" y="5692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A3B104-8B60-AB86-BFBD-4DF310BEB571}"/>
              </a:ext>
            </a:extLst>
          </p:cNvPr>
          <p:cNvSpPr txBox="1"/>
          <p:nvPr/>
        </p:nvSpPr>
        <p:spPr>
          <a:xfrm>
            <a:off x="445992" y="1887653"/>
            <a:ext cx="11043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projeto System R deu origem ao SGBD comercial da IBM, inicialmente denominado </a:t>
            </a:r>
            <a:r>
              <a:rPr lang="pt-BR" dirty="0" err="1"/>
              <a:t>Structured</a:t>
            </a:r>
            <a:r>
              <a:rPr lang="pt-BR" dirty="0"/>
              <a:t> Query</a:t>
            </a:r>
          </a:p>
          <a:p>
            <a:r>
              <a:rPr lang="pt-BR" dirty="0" err="1"/>
              <a:t>Language</a:t>
            </a:r>
            <a:r>
              <a:rPr lang="pt-BR" dirty="0"/>
              <a:t>/Data System (SQL/DS), depois renomeado de DB2, atualmente um dos líderes no mercado de</a:t>
            </a:r>
          </a:p>
          <a:p>
            <a:r>
              <a:rPr lang="pt-BR" dirty="0"/>
              <a:t>bancos de dados corporativos, com versões em diferentes plataformas de hardware/software e na nuvem.</a:t>
            </a:r>
          </a:p>
          <a:p>
            <a:r>
              <a:rPr lang="pt-BR" dirty="0"/>
              <a:t>Confira!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C996985-861A-F0D0-92E3-903C5FB8D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270" y="2998787"/>
            <a:ext cx="6181859" cy="3495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749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>
          <a:extLst>
            <a:ext uri="{FF2B5EF4-FFF2-40B4-BE49-F238E27FC236}">
              <a16:creationId xmlns:a16="http://schemas.microsoft.com/office/drawing/2014/main" id="{A1A2BB4E-F992-706E-1936-4E60BC2DA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>
            <a:extLst>
              <a:ext uri="{FF2B5EF4-FFF2-40B4-BE49-F238E27FC236}">
                <a16:creationId xmlns:a16="http://schemas.microsoft.com/office/drawing/2014/main" id="{9682B8BD-8540-3523-3ED1-688C1A834F4D}"/>
              </a:ext>
            </a:extLst>
          </p:cNvPr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>
            <a:extLst>
              <a:ext uri="{FF2B5EF4-FFF2-40B4-BE49-F238E27FC236}">
                <a16:creationId xmlns:a16="http://schemas.microsoft.com/office/drawing/2014/main" id="{E32918D6-7A62-EA44-8E1D-DEC8D8C4E096}"/>
              </a:ext>
            </a:extLst>
          </p:cNvPr>
          <p:cNvSpPr/>
          <p:nvPr/>
        </p:nvSpPr>
        <p:spPr>
          <a:xfrm>
            <a:off x="381000" y="219419"/>
            <a:ext cx="118110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>
              <a:buClr>
                <a:srgbClr val="FFFFFF"/>
              </a:buClr>
              <a:buSzPts val="1575"/>
            </a:pPr>
            <a:r>
              <a:rPr lang="pt-BR" sz="21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Introdução à Disciplina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>
            <a:extLst>
              <a:ext uri="{FF2B5EF4-FFF2-40B4-BE49-F238E27FC236}">
                <a16:creationId xmlns:a16="http://schemas.microsoft.com/office/drawing/2014/main" id="{8C9BCB68-CAB7-7D94-359B-E2B53DE17031}"/>
              </a:ext>
            </a:extLst>
          </p:cNvPr>
          <p:cNvSpPr/>
          <p:nvPr/>
        </p:nvSpPr>
        <p:spPr>
          <a:xfrm>
            <a:off x="381001" y="1238251"/>
            <a:ext cx="952500" cy="381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extLst>
              <a:ext uri="{FF2B5EF4-FFF2-40B4-BE49-F238E27FC236}">
                <a16:creationId xmlns:a16="http://schemas.microsoft.com/office/drawing/2014/main" id="{C94208EE-ADC9-01FA-6BAA-A9DB75E3D79C}"/>
              </a:ext>
            </a:extLst>
          </p:cNvPr>
          <p:cNvSpPr/>
          <p:nvPr/>
        </p:nvSpPr>
        <p:spPr>
          <a:xfrm>
            <a:off x="0" y="6781800"/>
            <a:ext cx="1524000" cy="762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>
            <a:extLst>
              <a:ext uri="{FF2B5EF4-FFF2-40B4-BE49-F238E27FC236}">
                <a16:creationId xmlns:a16="http://schemas.microsoft.com/office/drawing/2014/main" id="{C9CD89ED-ADB2-076B-ABFB-86989B687E1A}"/>
              </a:ext>
            </a:extLst>
          </p:cNvPr>
          <p:cNvSpPr/>
          <p:nvPr/>
        </p:nvSpPr>
        <p:spPr>
          <a:xfrm>
            <a:off x="1524000" y="6781800"/>
            <a:ext cx="1524000" cy="762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>
            <a:extLst>
              <a:ext uri="{FF2B5EF4-FFF2-40B4-BE49-F238E27FC236}">
                <a16:creationId xmlns:a16="http://schemas.microsoft.com/office/drawing/2014/main" id="{27B02159-CA59-B0AE-D909-0B25FDA9C257}"/>
              </a:ext>
            </a:extLst>
          </p:cNvPr>
          <p:cNvSpPr/>
          <p:nvPr/>
        </p:nvSpPr>
        <p:spPr>
          <a:xfrm>
            <a:off x="3048000" y="6781800"/>
            <a:ext cx="1524000" cy="76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>
            <a:extLst>
              <a:ext uri="{FF2B5EF4-FFF2-40B4-BE49-F238E27FC236}">
                <a16:creationId xmlns:a16="http://schemas.microsoft.com/office/drawing/2014/main" id="{104A19F5-17FC-5145-9905-3AB65AC32DDA}"/>
              </a:ext>
            </a:extLst>
          </p:cNvPr>
          <p:cNvSpPr/>
          <p:nvPr/>
        </p:nvSpPr>
        <p:spPr>
          <a:xfrm>
            <a:off x="4572000" y="6781800"/>
            <a:ext cx="152400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>
            <a:extLst>
              <a:ext uri="{FF2B5EF4-FFF2-40B4-BE49-F238E27FC236}">
                <a16:creationId xmlns:a16="http://schemas.microsoft.com/office/drawing/2014/main" id="{2D387F8B-A041-2C28-9669-6AFB2576723F}"/>
              </a:ext>
            </a:extLst>
          </p:cNvPr>
          <p:cNvSpPr/>
          <p:nvPr/>
        </p:nvSpPr>
        <p:spPr>
          <a:xfrm>
            <a:off x="6096000" y="6781800"/>
            <a:ext cx="1524000" cy="76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>
            <a:extLst>
              <a:ext uri="{FF2B5EF4-FFF2-40B4-BE49-F238E27FC236}">
                <a16:creationId xmlns:a16="http://schemas.microsoft.com/office/drawing/2014/main" id="{77270DDE-2BE8-9435-09B2-F9F78F9B432F}"/>
              </a:ext>
            </a:extLst>
          </p:cNvPr>
          <p:cNvSpPr/>
          <p:nvPr/>
        </p:nvSpPr>
        <p:spPr>
          <a:xfrm>
            <a:off x="7620000" y="6781800"/>
            <a:ext cx="1524000" cy="762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>
            <a:extLst>
              <a:ext uri="{FF2B5EF4-FFF2-40B4-BE49-F238E27FC236}">
                <a16:creationId xmlns:a16="http://schemas.microsoft.com/office/drawing/2014/main" id="{0533469F-A786-2C91-7F19-75659B790CAD}"/>
              </a:ext>
            </a:extLst>
          </p:cNvPr>
          <p:cNvSpPr/>
          <p:nvPr/>
        </p:nvSpPr>
        <p:spPr>
          <a:xfrm>
            <a:off x="9144000" y="6781800"/>
            <a:ext cx="1524000" cy="762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>
            <a:extLst>
              <a:ext uri="{FF2B5EF4-FFF2-40B4-BE49-F238E27FC236}">
                <a16:creationId xmlns:a16="http://schemas.microsoft.com/office/drawing/2014/main" id="{8076D31A-45C9-80D2-222F-D2421A1E0052}"/>
              </a:ext>
            </a:extLst>
          </p:cNvPr>
          <p:cNvSpPr/>
          <p:nvPr/>
        </p:nvSpPr>
        <p:spPr>
          <a:xfrm>
            <a:off x="10668000" y="6781800"/>
            <a:ext cx="1524000" cy="7620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>
            <a:extLst>
              <a:ext uri="{FF2B5EF4-FFF2-40B4-BE49-F238E27FC236}">
                <a16:creationId xmlns:a16="http://schemas.microsoft.com/office/drawing/2014/main" id="{E111960E-D8D6-7457-7968-95836F4F9767}"/>
              </a:ext>
            </a:extLst>
          </p:cNvPr>
          <p:cNvSpPr txBox="1"/>
          <p:nvPr/>
        </p:nvSpPr>
        <p:spPr>
          <a:xfrm>
            <a:off x="228134" y="789399"/>
            <a:ext cx="11296649" cy="83294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>
              <a:buClr>
                <a:srgbClr val="0B87A1"/>
              </a:buClr>
              <a:buSzPts val="3600"/>
            </a:pPr>
            <a:r>
              <a:rPr lang="pt-BR" sz="3733" b="1" u="sng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Principais SGBD relacionais</a:t>
            </a:r>
            <a:endParaRPr sz="24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A727D77-3138-A51F-63A4-BA24021B5B5C}"/>
              </a:ext>
            </a:extLst>
          </p:cNvPr>
          <p:cNvSpPr txBox="1"/>
          <p:nvPr/>
        </p:nvSpPr>
        <p:spPr>
          <a:xfrm>
            <a:off x="1219200" y="569287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0DA3F9D-3862-E119-B134-D81574A6394A}"/>
              </a:ext>
            </a:extLst>
          </p:cNvPr>
          <p:cNvSpPr txBox="1"/>
          <p:nvPr/>
        </p:nvSpPr>
        <p:spPr>
          <a:xfrm>
            <a:off x="445992" y="1887653"/>
            <a:ext cx="110430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linguagem SQL, criada pela IBM como uma linguagem de consulta e manipulação de dados dos bancos de</a:t>
            </a:r>
          </a:p>
          <a:p>
            <a:r>
              <a:rPr lang="pt-BR" dirty="0"/>
              <a:t>dados relacionais, passou a ser conhecida como sinônimo de SGBD relacional, chegando a ser confundida</a:t>
            </a:r>
          </a:p>
          <a:p>
            <a:r>
              <a:rPr lang="pt-BR" dirty="0"/>
              <a:t>com produtos que levam a sigla em seu nome.</a:t>
            </a:r>
          </a:p>
        </p:txBody>
      </p:sp>
      <p:pic>
        <p:nvPicPr>
          <p:cNvPr id="2" name="Imagem 1" descr="SGBDs Mais Usados no Mundo - Top 10 Sistemas Mais Usados!">
            <a:extLst>
              <a:ext uri="{FF2B5EF4-FFF2-40B4-BE49-F238E27FC236}">
                <a16:creationId xmlns:a16="http://schemas.microsoft.com/office/drawing/2014/main" id="{D30E51D6-BDF6-B53C-AF33-46F849F60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069" y="2843254"/>
            <a:ext cx="7741862" cy="37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03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6"/>
          <p:cNvSpPr/>
          <p:nvPr/>
        </p:nvSpPr>
        <p:spPr>
          <a:xfrm rot="2700000">
            <a:off x="656596" y="180347"/>
            <a:ext cx="2020557" cy="2020557"/>
          </a:xfrm>
          <a:prstGeom prst="rect">
            <a:avLst/>
          </a:prstGeom>
          <a:solidFill>
            <a:srgbClr val="993399">
              <a:alpha val="69803"/>
            </a:srgbClr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/>
          <p:nvPr/>
        </p:nvSpPr>
        <p:spPr>
          <a:xfrm rot="2700000">
            <a:off x="10368711" y="-870788"/>
            <a:ext cx="2694077" cy="2694077"/>
          </a:xfrm>
          <a:prstGeom prst="rect">
            <a:avLst/>
          </a:prstGeom>
          <a:solidFill>
            <a:srgbClr val="FFFF00">
              <a:alpha val="69803"/>
            </a:srgbClr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6"/>
          <p:cNvSpPr/>
          <p:nvPr/>
        </p:nvSpPr>
        <p:spPr>
          <a:xfrm rot="2700000">
            <a:off x="9169915" y="406916"/>
            <a:ext cx="2424669" cy="2424669"/>
          </a:xfrm>
          <a:prstGeom prst="rect">
            <a:avLst/>
          </a:prstGeom>
          <a:solidFill>
            <a:srgbClr val="FF9933">
              <a:alpha val="69803"/>
            </a:srgbClr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6"/>
          <p:cNvSpPr/>
          <p:nvPr/>
        </p:nvSpPr>
        <p:spPr>
          <a:xfrm rot="2700000">
            <a:off x="-522473" y="5764027"/>
            <a:ext cx="1616447" cy="1616447"/>
          </a:xfrm>
          <a:prstGeom prst="rect">
            <a:avLst/>
          </a:prstGeom>
          <a:solidFill>
            <a:srgbClr val="33CC33">
              <a:alpha val="69803"/>
            </a:srgbClr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6"/>
          <p:cNvSpPr/>
          <p:nvPr/>
        </p:nvSpPr>
        <p:spPr>
          <a:xfrm rot="2700000">
            <a:off x="9137231" y="4279481"/>
            <a:ext cx="1347039" cy="1347039"/>
          </a:xfrm>
          <a:prstGeom prst="rect">
            <a:avLst/>
          </a:prstGeom>
          <a:solidFill>
            <a:srgbClr val="99CCFF">
              <a:alpha val="69803"/>
            </a:srgbClr>
          </a:solidFill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3203972" y="2746802"/>
            <a:ext cx="578405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rgbClr val="FFFFFF"/>
              </a:buClr>
              <a:buSzPts val="2025"/>
            </a:pPr>
            <a:r>
              <a:rPr lang="pt-BR" sz="2700" b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Bons estudos. Até a próxima aula!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3203972" y="3642925"/>
            <a:ext cx="57840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algn="ctr">
              <a:buClr>
                <a:srgbClr val="FFFFFF"/>
              </a:buClr>
              <a:buSzPts val="1350"/>
            </a:pPr>
            <a:r>
              <a:rPr lang="pt-BR" dirty="0" err="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Prof</a:t>
            </a:r>
            <a:r>
              <a:rPr lang="pt-BR" dirty="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Ms. Dionizio Porfírio de Assis</a:t>
            </a: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1713</Words>
  <Application>Microsoft Office PowerPoint</Application>
  <PresentationFormat>Widescreen</PresentationFormat>
  <Paragraphs>160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Montserrat</vt:lpstr>
      <vt:lpstr>Noto Sans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Nadia Wagih El Kadri</dc:creator>
  <cp:lastModifiedBy>DIONIZIO PORFIRIO DE ASSIS</cp:lastModifiedBy>
  <cp:revision>8</cp:revision>
  <dcterms:created xsi:type="dcterms:W3CDTF">2026-08-03T22:48:27Z</dcterms:created>
  <dcterms:modified xsi:type="dcterms:W3CDTF">2026-08-11T23:19:48Z</dcterms:modified>
</cp:coreProperties>
</file>